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2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0" d="100"/>
          <a:sy n="130" d="100"/>
        </p:scale>
        <p:origin x="130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240760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4" name="Text 2"/>
          <p:cNvSpPr/>
          <p:nvPr/>
        </p:nvSpPr>
        <p:spPr>
          <a:xfrm>
            <a:off x="1097280" y="1280160"/>
            <a:ext cx="9601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Learning for Vessel Segmentation</a:t>
            </a:r>
            <a:endParaRPr lang="en-US" sz="400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Cerebral CTA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1097280" y="3108960"/>
            <a:ext cx="9601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Controlled Ablation of Topology-Aware Loss Functions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1097280" y="420624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Samih Tharwat Amer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097280" y="4754880"/>
            <a:ext cx="7315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Whiting School of Engineering  |  Johns Hopkins University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Midterm Project  |  April 2026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Motivation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548640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6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Cerebrovascular diseases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Leading cause of death and disability worldwide. Accurate vessel segmentation from CTA is essential for diagnosis and surgical planning.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of Willis (CoW)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arterial anastomotic ring at the brain's base. Provides collateral blood flow pathways critical during vascular occlusion.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6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Communicating arteries (Acom, Pcom)</a:t>
            </a:r>
            <a:endParaRPr lang="en-US" sz="16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 (&lt;1 mm diameter) but clinically critical for aneurysm assessment and collateral flow. Most prone to segmentation failure.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583680" y="1371600"/>
            <a:ext cx="5029200" cy="438912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583680" y="2926080"/>
            <a:ext cx="5029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[Circle of Willis</a:t>
            </a:r>
            <a:endParaRPr lang="en-US" sz="1600" dirty="0"/>
          </a:p>
          <a:p>
            <a:pPr marL="0" indent="0" algn="ctr">
              <a:buNone/>
            </a:pPr>
            <a:r>
              <a:rPr lang="en-US" sz="16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Anatomy Diagram]</a:t>
            </a:r>
            <a:endParaRPr lang="en-US" sz="1600" dirty="0"/>
          </a:p>
        </p:txBody>
      </p:sp>
      <p:sp>
        <p:nvSpPr>
          <p:cNvPr id="8" name="Shape 6"/>
          <p:cNvSpPr/>
          <p:nvPr/>
        </p:nvSpPr>
        <p:spPr>
          <a:xfrm>
            <a:off x="548640" y="5669280"/>
            <a:ext cx="11064240" cy="731520"/>
          </a:xfrm>
          <a:prstGeom prst="rect">
            <a:avLst/>
          </a:prstGeom>
          <a:solidFill>
            <a:srgbClr val="1A2340"/>
          </a:solidFill>
          <a:ln/>
        </p:spPr>
      </p:sp>
      <p:sp>
        <p:nvSpPr>
          <p:cNvPr id="9" name="Text 7"/>
          <p:cNvSpPr/>
          <p:nvPr/>
        </p:nvSpPr>
        <p:spPr>
          <a:xfrm>
            <a:off x="731520" y="5715000"/>
            <a:ext cx="10515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arteries: 3-5 mm diameter  |  Communicating arteries: &lt;1 mm diameter  |  Clinical impact: inversely proportional to size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Topological Failures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463040"/>
            <a:ext cx="640080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+ Cross-Entropy loss </a:t>
            </a: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treats all voxels equally — no connectivity incentive</a:t>
            </a:r>
            <a:endParaRPr lang="en-US" sz="1700" dirty="0"/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segmentation can have high Dice (0.87) </a:t>
            </a: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 broken topology — severed vessels, fragments</a:t>
            </a:r>
            <a:endParaRPr lang="en-US" sz="1700" dirty="0"/>
          </a:p>
          <a:p>
            <a:pPr marL="0" indent="0">
              <a:buNone/>
            </a:pPr>
            <a:endParaRPr lang="en-US" sz="1700" dirty="0"/>
          </a:p>
          <a:p>
            <a:pPr marL="0" indent="0">
              <a:buNone/>
            </a:pPr>
            <a:r>
              <a:rPr lang="en-US" sz="17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Aggregate metrics </a:t>
            </a: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hide failures on thin communicating arteries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1097280" y="3931920"/>
            <a:ext cx="9875520" cy="219456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1371600" y="4023360"/>
            <a:ext cx="932688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700" i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"The model missed a significant number of vessels in clinical 3D visualization, despite the validation DSC looking reasonable on paper."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371600" y="5212080"/>
            <a:ext cx="9326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DSC: 0.87   </a:t>
            </a:r>
            <a:r>
              <a:rPr lang="en-US" sz="1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R-Pcom DSC: 0.42   L-ACA DSC: 0.46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TopCoW Challenge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5303520" cy="457200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463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 Overview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22960" y="2103120"/>
            <a:ext cx="4754880" cy="3474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MICCAI 2024 Challenge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Topology-aware anatomical segmentation of the Circle of Willis for CTA and MRA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 CTA + 125 MRA volumes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Expert voxel-level annotations for 13 vessel classes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finding from challenge:</a:t>
            </a:r>
            <a:endParaRPr lang="en-US" sz="1500" dirty="0"/>
          </a:p>
          <a:p>
            <a:pPr marL="0" indent="0">
              <a:buNone/>
            </a:pPr>
            <a:r>
              <a:rPr lang="en-US" sz="14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 top teams achieve good aggregate Dice while producing topologically incorrect segmentations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27298" y="1377462"/>
            <a:ext cx="5303520" cy="457200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510996" y="1463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Protocol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510996" y="2103120"/>
            <a:ext cx="54864" cy="64008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11" name="Text 9"/>
          <p:cNvSpPr/>
          <p:nvPr/>
        </p:nvSpPr>
        <p:spPr>
          <a:xfrm>
            <a:off x="6739596" y="2103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Score (DSC)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739596" y="239572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Voxel overlap between prediction and ground truth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510996" y="3063240"/>
            <a:ext cx="54864" cy="64008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6739596" y="30632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Centerline Dice (clDice)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739596" y="335584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Skeleton-level overlap — topology agreement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492240" y="4023360"/>
            <a:ext cx="54864" cy="64008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6730218" y="40233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HD95 (mm)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730218" y="431596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95th percentile Hausdorff distance — surface accuracy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92240" y="4983480"/>
            <a:ext cx="54864" cy="64008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20" name="Text 18"/>
          <p:cNvSpPr/>
          <p:nvPr/>
        </p:nvSpPr>
        <p:spPr>
          <a:xfrm>
            <a:off x="6720840" y="498348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Betti-0 Error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720840" y="52760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component mismatch — topological correctness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Related Work &amp; State of the Art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3611880" cy="475488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630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Backbone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640080" y="20116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nnU-Net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224942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Isensee et al., Nat. Methods 2021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640080" y="2468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Self-configuring 3D U-Net. Established Dice+CE as standard. Dominant framework.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640080" y="32918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nnU-Net Revisited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640080" y="352958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Isensee et al., MICCAI 2024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40080" y="37490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 for rigorous validation in 3D medical image segmentation.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297680" y="1371600"/>
            <a:ext cx="3611880" cy="475488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4480560" y="14630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Topology-Preserving Losses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480560" y="20116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480560" y="224942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Shit et al., CVPR 2021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480560" y="2468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Differentiable soft-skeletonization. First topology-preserving loss for tubular structures.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480560" y="32918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480560" y="352958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Kirchhoff et al., ECCV 2024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480560" y="37490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CPU-precomputed skeletons. Efficient centerline recall.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4480560" y="45720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CBD-Loss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480560" y="48097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 et al., MICCAI 2024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480560" y="50292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Joint centerline + boundary optimization.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138160" y="1371600"/>
            <a:ext cx="3611880" cy="475488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8321040" y="146304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Other Approaches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8321040" y="201168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Homology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8321040" y="224942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Berger, Stucki (MICCAI/ICML)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8321040" y="2468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Topological loss via persistence barcodes.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8321040" y="32918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NexToU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8321040" y="352958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 et al., 2023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8321040" y="374904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Topology-aware U-Net architecture.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8321040" y="45720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Cascaded U-Net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8321040" y="4809744"/>
            <a:ext cx="3200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Rougé et al., PLOS ONE 2024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8321040" y="502920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Topology-aware multi-task approach.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457200" y="6035040"/>
            <a:ext cx="11247120" cy="548640"/>
          </a:xfrm>
          <a:prstGeom prst="rect">
            <a:avLst/>
          </a:prstGeom>
          <a:solidFill>
            <a:srgbClr val="0D2847"/>
          </a:solidFill>
          <a:ln/>
        </p:spPr>
      </p:sp>
      <p:sp>
        <p:nvSpPr>
          <p:cNvPr id="36" name="Text 34"/>
          <p:cNvSpPr/>
          <p:nvPr/>
        </p:nvSpPr>
        <p:spPr>
          <a:xfrm>
            <a:off x="640080" y="6062472"/>
            <a:ext cx="10972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Existing evaluations confound loss function effects with architectural changes or aggregate-only challenge metrics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&amp; Approach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0972800" cy="1463040"/>
          </a:xfrm>
          <a:prstGeom prst="rect">
            <a:avLst/>
          </a:prstGeom>
          <a:solidFill>
            <a:srgbClr val="003D5B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4173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822960" y="1783080"/>
            <a:ext cx="104241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Topology-aware loss functions will disproportionately improve</a:t>
            </a:r>
            <a:endParaRPr lang="en-US" sz="2000" dirty="0"/>
          </a:p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segmentation of thin communicating arteries (Acom, Pcom)</a:t>
            </a:r>
            <a:endParaRPr lang="en-US" sz="2000" dirty="0"/>
          </a:p>
        </p:txBody>
      </p:sp>
      <p:sp>
        <p:nvSpPr>
          <p:cNvPr id="8" name="Shape 6"/>
          <p:cNvSpPr/>
          <p:nvPr/>
        </p:nvSpPr>
        <p:spPr>
          <a:xfrm>
            <a:off x="548640" y="3291840"/>
            <a:ext cx="3566160" cy="192024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731520" y="3383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31520" y="3703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+ CE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731520" y="4160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— overlap only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nnU-Net default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43400" y="3291840"/>
            <a:ext cx="3566160" cy="192024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26280" y="3383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2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526280" y="3703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+ CE + clDice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4526280" y="4160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Centerline matching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Shit et al., CVPR 2021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138160" y="3291840"/>
            <a:ext cx="3566160" cy="192024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8321040" y="33832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 3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8321040" y="3703320"/>
            <a:ext cx="3200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 + CE + Skeleton Recall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8321040" y="4160520"/>
            <a:ext cx="32004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Centerline recall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Kirchhoff et al., ECCV 2024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548640" y="55778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ablation: same architecture, same data, same hardware — only the loss function changes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303520" cy="475488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463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TopCoW 2024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82296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MICCAI Challenge Dataset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4688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125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2194560" y="24688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 volumes with expert annotations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822960" y="31546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2194560" y="31546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Circle of Willis vessel classes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22960" y="38404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 / 25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2194560" y="38404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/ validation split (80/20)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822960" y="45262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Classes: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2194560" y="45262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BA, ICA, MCA, PCA, ACA, Acom, Pcom, 3rd-A2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22960" y="52120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for: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2194560" y="5212080"/>
            <a:ext cx="3200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From-scratch training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217920" y="1371600"/>
            <a:ext cx="5303520" cy="475488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492240" y="146304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TopBrain 2025</a:t>
            </a:r>
            <a:endParaRPr lang="en-US" sz="2200" dirty="0"/>
          </a:p>
        </p:txBody>
      </p:sp>
      <p:sp>
        <p:nvSpPr>
          <p:cNvPr id="20" name="Text 18"/>
          <p:cNvSpPr/>
          <p:nvPr/>
        </p:nvSpPr>
        <p:spPr>
          <a:xfrm>
            <a:off x="649224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Annotations — Same Scans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6492240" y="24688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7863840" y="24688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CTA volumes (same scans as TopCoW subset)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6492240" y="31546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7863840" y="31546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classes — 3× more coverage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492240" y="38404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New: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7863840" y="38404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distal branches, posterior fossa, small arteries, venous sinuses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6492240" y="45262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Binarized: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7863840" y="45262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GT covers far more vasculature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492240" y="52120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for:</a:t>
            </a:r>
            <a:endParaRPr lang="en-US" sz="1500" dirty="0"/>
          </a:p>
        </p:txBody>
      </p:sp>
      <p:sp>
        <p:nvSpPr>
          <p:cNvPr id="30" name="Text 28"/>
          <p:cNvSpPr/>
          <p:nvPr/>
        </p:nvSpPr>
        <p:spPr>
          <a:xfrm>
            <a:off x="7863840" y="5212080"/>
            <a:ext cx="3291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 &amp; transfer evaluation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3D U-Net</a:t>
            </a:r>
            <a:endParaRPr lang="en-US" sz="3000" dirty="0"/>
          </a:p>
        </p:txBody>
      </p:sp>
      <p:pic>
        <p:nvPicPr>
          <p:cNvPr id="5" name="Image 0" descr="/sessions/sweet-quirky-clarke/mnt/CTA Seg V2/report/figures_v2/unet3d_architectu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188720"/>
            <a:ext cx="6400800" cy="36576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583680" y="1463040"/>
            <a:ext cx="54864" cy="41148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7" name="Text 4"/>
          <p:cNvSpPr/>
          <p:nvPr/>
        </p:nvSpPr>
        <p:spPr>
          <a:xfrm>
            <a:off x="6812280" y="14630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Encoder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8778240" y="14630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stages: 32 → 64 → 128 → 256 → 512 ch</a:t>
            </a:r>
            <a:endParaRPr lang="en-US" sz="1200" dirty="0"/>
          </a:p>
        </p:txBody>
      </p:sp>
      <p:sp>
        <p:nvSpPr>
          <p:cNvPr id="9" name="Shape 6"/>
          <p:cNvSpPr/>
          <p:nvPr/>
        </p:nvSpPr>
        <p:spPr>
          <a:xfrm>
            <a:off x="6583680" y="2103120"/>
            <a:ext cx="54864" cy="41148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10" name="Text 7"/>
          <p:cNvSpPr/>
          <p:nvPr/>
        </p:nvSpPr>
        <p:spPr>
          <a:xfrm>
            <a:off x="6812280" y="21031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Blocks</a:t>
            </a:r>
            <a:endParaRPr lang="en-US" sz="1300" dirty="0"/>
          </a:p>
        </p:txBody>
      </p:sp>
      <p:sp>
        <p:nvSpPr>
          <p:cNvPr id="11" name="Text 8"/>
          <p:cNvSpPr/>
          <p:nvPr/>
        </p:nvSpPr>
        <p:spPr>
          <a:xfrm>
            <a:off x="8778240" y="21031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2× Conv3D(3³) + InstanceNorm + LeakyReLU(α=0.01) + residual</a:t>
            </a:r>
            <a:endParaRPr lang="en-US" sz="1200" dirty="0"/>
          </a:p>
        </p:txBody>
      </p:sp>
      <p:sp>
        <p:nvSpPr>
          <p:cNvPr id="12" name="Shape 9"/>
          <p:cNvSpPr/>
          <p:nvPr/>
        </p:nvSpPr>
        <p:spPr>
          <a:xfrm>
            <a:off x="6583680" y="2743200"/>
            <a:ext cx="54864" cy="41148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13" name="Text 10"/>
          <p:cNvSpPr/>
          <p:nvPr/>
        </p:nvSpPr>
        <p:spPr>
          <a:xfrm>
            <a:off x="6812280" y="274320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Downsampling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8778240" y="274320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Strided 2³ convolutions (learnable, no max-pool)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6583680" y="3383280"/>
            <a:ext cx="54864" cy="41148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16" name="Text 13"/>
          <p:cNvSpPr/>
          <p:nvPr/>
        </p:nvSpPr>
        <p:spPr>
          <a:xfrm>
            <a:off x="6812280" y="338328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Upsampling</a:t>
            </a:r>
            <a:endParaRPr lang="en-US" sz="1300" dirty="0"/>
          </a:p>
        </p:txBody>
      </p:sp>
      <p:sp>
        <p:nvSpPr>
          <p:cNvPr id="17" name="Text 14"/>
          <p:cNvSpPr/>
          <p:nvPr/>
        </p:nvSpPr>
        <p:spPr>
          <a:xfrm>
            <a:off x="8778240" y="338328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Transposed convolutions + skip connections (concat)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6583680" y="4023360"/>
            <a:ext cx="54864" cy="41148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19" name="Text 16"/>
          <p:cNvSpPr/>
          <p:nvPr/>
        </p:nvSpPr>
        <p:spPr>
          <a:xfrm>
            <a:off x="6812280" y="402336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Supervision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8778240" y="402336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1×1 heads at each decoder level, weights: 1.0, 0.5, 0.25, 0.125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583680" y="4663440"/>
            <a:ext cx="54864" cy="41148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22" name="Text 19"/>
          <p:cNvSpPr/>
          <p:nvPr/>
        </p:nvSpPr>
        <p:spPr>
          <a:xfrm>
            <a:off x="6812280" y="466344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Parameters</a:t>
            </a:r>
            <a:endParaRPr lang="en-US" sz="1300" dirty="0"/>
          </a:p>
        </p:txBody>
      </p:sp>
      <p:sp>
        <p:nvSpPr>
          <p:cNvPr id="23" name="Text 20"/>
          <p:cNvSpPr/>
          <p:nvPr/>
        </p:nvSpPr>
        <p:spPr>
          <a:xfrm>
            <a:off x="8778240" y="466344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24.9M (Kaiming normal init)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6583680" y="5303520"/>
            <a:ext cx="54864" cy="41148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25" name="Text 22"/>
          <p:cNvSpPr/>
          <p:nvPr/>
        </p:nvSpPr>
        <p:spPr>
          <a:xfrm>
            <a:off x="6812280" y="5303520"/>
            <a:ext cx="2011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300" dirty="0"/>
          </a:p>
        </p:txBody>
      </p:sp>
      <p:sp>
        <p:nvSpPr>
          <p:cNvPr id="26" name="Text 23"/>
          <p:cNvSpPr/>
          <p:nvPr/>
        </p:nvSpPr>
        <p:spPr>
          <a:xfrm>
            <a:off x="8778240" y="5303520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nnU-Net philosophy (Isensee et al., 2021)</a:t>
            </a:r>
            <a:endParaRPr lang="en-US" sz="1200" dirty="0"/>
          </a:p>
        </p:txBody>
      </p:sp>
      <p:sp>
        <p:nvSpPr>
          <p:cNvPr id="27" name="Shape 24"/>
          <p:cNvSpPr/>
          <p:nvPr/>
        </p:nvSpPr>
        <p:spPr>
          <a:xfrm>
            <a:off x="548640" y="5760720"/>
            <a:ext cx="10972800" cy="640080"/>
          </a:xfrm>
          <a:prstGeom prst="rect">
            <a:avLst/>
          </a:prstGeom>
          <a:solidFill>
            <a:srgbClr val="1A2340"/>
          </a:solidFill>
          <a:ln/>
        </p:spPr>
      </p:sp>
      <p:sp>
        <p:nvSpPr>
          <p:cNvPr id="28" name="Text 25"/>
          <p:cNvSpPr/>
          <p:nvPr/>
        </p:nvSpPr>
        <p:spPr>
          <a:xfrm>
            <a:off x="731520" y="5806440"/>
            <a:ext cx="10607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3D U-Net?  Strongest controlled baseline — any performance difference attributable to the loss function, not the architecture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Functions: Dice + Cross-Entropy (Baseline)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5303520" cy="411480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463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 Dice Loss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914400" y="2011680"/>
            <a:ext cx="4572000" cy="1097280"/>
          </a:xfrm>
          <a:prstGeom prst="rect">
            <a:avLst/>
          </a:prstGeom>
          <a:solidFill>
            <a:srgbClr val="0D1629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2057400"/>
            <a:ext cx="4206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</a:t>
            </a: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1 − 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∑ pᵢ · gᵢ + ε</a:t>
            </a: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</a:t>
            </a: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(∑ pᵢ + ∑ gᵢ + ε)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291840"/>
            <a:ext cx="45720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pᵢ = predicted probability at voxel i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gᵢ = ground truth label at voxel i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10⁻⁵ (numerical stability)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914400" y="448056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Measures region-level overlap. Per-class computation (excluding background), then averaged.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6217920" y="1371600"/>
            <a:ext cx="5303520" cy="411480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92240" y="14630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Cross-Entropy Loss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6583680" y="2011680"/>
            <a:ext cx="4572000" cy="1097280"/>
          </a:xfrm>
          <a:prstGeom prst="rect">
            <a:avLst/>
          </a:prstGeom>
          <a:solidFill>
            <a:srgbClr val="0D1629"/>
          </a:solidFill>
          <a:ln/>
        </p:spPr>
      </p:sp>
      <p:sp>
        <p:nvSpPr>
          <p:cNvPr id="14" name="Text 12"/>
          <p:cNvSpPr/>
          <p:nvPr/>
        </p:nvSpPr>
        <p:spPr>
          <a:xfrm>
            <a:off x="6766560" y="2057400"/>
            <a:ext cx="42062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</a:t>
            </a: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− ∑ gᵢ · log(pᵢ)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583680" y="329184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 per-voxel classification loss. Provides sharp gradients for individual voxel decisions.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583680" y="4114800"/>
            <a:ext cx="4572000" cy="731520"/>
          </a:xfrm>
          <a:prstGeom prst="rect">
            <a:avLst/>
          </a:prstGeom>
          <a:solidFill>
            <a:srgbClr val="0D1629"/>
          </a:solidFill>
          <a:ln/>
        </p:spPr>
      </p:sp>
      <p:sp>
        <p:nvSpPr>
          <p:cNvPr id="17" name="Text 15"/>
          <p:cNvSpPr/>
          <p:nvPr/>
        </p:nvSpPr>
        <p:spPr>
          <a:xfrm>
            <a:off x="6766560" y="4160520"/>
            <a:ext cx="4206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L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</a:t>
            </a:r>
            <a:r>
              <a:rPr lang="en-US" sz="17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L</a:t>
            </a: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</a:t>
            </a:r>
            <a:endParaRPr lang="en-US" sz="1700" dirty="0"/>
          </a:p>
        </p:txBody>
      </p:sp>
      <p:sp>
        <p:nvSpPr>
          <p:cNvPr id="18" name="Shape 16"/>
          <p:cNvSpPr/>
          <p:nvPr/>
        </p:nvSpPr>
        <p:spPr>
          <a:xfrm>
            <a:off x="548640" y="5760720"/>
            <a:ext cx="10972800" cy="731520"/>
          </a:xfrm>
          <a:prstGeom prst="rect">
            <a:avLst/>
          </a:prstGeom>
          <a:solidFill>
            <a:srgbClr val="2D1515"/>
          </a:solidFill>
          <a:ln/>
        </p:spPr>
      </p:sp>
      <p:sp>
        <p:nvSpPr>
          <p:cNvPr id="19" name="Text 17"/>
          <p:cNvSpPr/>
          <p:nvPr/>
        </p:nvSpPr>
        <p:spPr>
          <a:xfrm>
            <a:off x="731520" y="5806440"/>
            <a:ext cx="106070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FF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Limitation: Every voxel receives equal weight. A centerline voxel of a 1mm Pcom gets the same gradient as a surface voxel of the 5mm ICA.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Functions: Soft Centerline Dice (clDice)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6858000" cy="237744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37160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Differentiable Soft-Skeletonization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1874520"/>
            <a:ext cx="6217920" cy="1554480"/>
          </a:xfrm>
          <a:prstGeom prst="rect">
            <a:avLst/>
          </a:prstGeom>
          <a:solidFill>
            <a:srgbClr val="0D1629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1920240"/>
            <a:ext cx="5852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skel(x) = ReLU(x − open(x))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    + Σ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k=1..K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ReLU(erode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(x) − open(erode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(x)))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erode(x) = −MaxPool3D(−x, k=3)    |    dilate(x) = MaxPool3D(x, k=3)</a:t>
            </a:r>
            <a:endParaRPr lang="en-US" sz="1400" dirty="0"/>
          </a:p>
          <a:p>
            <a:pPr marL="0" indent="0">
              <a:buNone/>
            </a:pPr>
            <a:r>
              <a:rPr lang="en-US" sz="11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open(x) = dilate(erode(x))    |    K = 10 iterations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7772400" y="1280160"/>
            <a:ext cx="3931920" cy="237744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8046720" y="137160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 Metrics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7955280" y="1874520"/>
            <a:ext cx="3566160" cy="1554480"/>
          </a:xfrm>
          <a:prstGeom prst="rect">
            <a:avLst/>
          </a:prstGeom>
          <a:solidFill>
            <a:srgbClr val="0D1629"/>
          </a:solidFill>
          <a:ln/>
        </p:spPr>
      </p:sp>
      <p:sp>
        <p:nvSpPr>
          <p:cNvPr id="12" name="Text 10"/>
          <p:cNvSpPr/>
          <p:nvPr/>
        </p:nvSpPr>
        <p:spPr>
          <a:xfrm>
            <a:off x="8138160" y="1920240"/>
            <a:ext cx="320040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|skel(ŷ) · y| / |skel(ŷ)|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|ŷ · skel(y)| / |skel(y)|</a:t>
            </a:r>
            <a:endParaRPr lang="en-US" sz="1500" dirty="0"/>
          </a:p>
          <a:p>
            <a:pPr marL="0" indent="0">
              <a:buNone/>
            </a:pPr>
            <a:endParaRPr lang="en-US" sz="1500" dirty="0"/>
          </a:p>
          <a:p>
            <a:pPr marL="0" indent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 = 2·T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·T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/ (T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+T</a:t>
            </a: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</a:t>
            </a: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548640" y="3931920"/>
            <a:ext cx="10972800" cy="914400"/>
          </a:xfrm>
          <a:prstGeom prst="rect">
            <a:avLst/>
          </a:prstGeom>
          <a:solidFill>
            <a:srgbClr val="0D1629"/>
          </a:solidFill>
          <a:ln/>
        </p:spPr>
      </p:sp>
      <p:sp>
        <p:nvSpPr>
          <p:cNvPr id="14" name="Text 12"/>
          <p:cNvSpPr/>
          <p:nvPr/>
        </p:nvSpPr>
        <p:spPr>
          <a:xfrm>
            <a:off x="731520" y="397764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Combined:   L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</a:t>
            </a: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(1 − α) · L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α · (1 − clDice)        </a:t>
            </a:r>
            <a:r>
              <a:rPr lang="en-US" sz="16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0.5</a:t>
            </a:r>
            <a:endParaRPr lang="en-US" sz="1800" dirty="0"/>
          </a:p>
        </p:txBody>
      </p:sp>
      <p:sp>
        <p:nvSpPr>
          <p:cNvPr id="15" name="Shape 13"/>
          <p:cNvSpPr/>
          <p:nvPr/>
        </p:nvSpPr>
        <p:spPr>
          <a:xfrm>
            <a:off x="548640" y="5120640"/>
            <a:ext cx="10972800" cy="1371600"/>
          </a:xfrm>
          <a:prstGeom prst="rect">
            <a:avLst/>
          </a:prstGeom>
          <a:solidFill>
            <a:srgbClr val="1A2340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5212080"/>
            <a:ext cx="104241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Computes skeletons (centerlines) of both prediction and ground truth, then measures how well they overlap. Directly penalizes topological disconnection — if the prediction's centerline doesn't match the ground truth's centerline, the loss increases. Measures both precision (predicted skeleton inside GT) and sensitivity (GT skeleton covered by prediction).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Functions: Skeleton Recall</a:t>
            </a:r>
            <a:endParaRPr lang="en-US" sz="28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6400800" cy="228600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3716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Loss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914400" y="1874520"/>
            <a:ext cx="5669280" cy="1005840"/>
          </a:xfrm>
          <a:prstGeom prst="rect">
            <a:avLst/>
          </a:prstGeom>
          <a:solidFill>
            <a:srgbClr val="0D1629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1920240"/>
            <a:ext cx="53035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</a:t>
            </a: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(1−α) · L</a:t>
            </a: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</a:t>
            </a: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+ α · (1 − </a:t>
            </a:r>
            <a:r>
              <a:rPr lang="en-US" sz="16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∑ ŷ · skel(y) / ∑ skel(y)</a:t>
            </a:r>
            <a:r>
              <a:rPr lang="en-US" sz="18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)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301752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skel(y) = precomputed binary skeleton (CPU, scikit-image)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ŷ = predicted vessel probability map</a:t>
            </a:r>
            <a:endParaRPr lang="en-US" sz="1200" dirty="0"/>
          </a:p>
          <a:p>
            <a:pPr marL="0" indent="0">
              <a:buNone/>
            </a:pPr>
            <a:r>
              <a:rPr lang="en-US" sz="12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α = 0.5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7315200" y="1280160"/>
            <a:ext cx="4297680" cy="228600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7589520" y="137160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Differences from clDice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7589520" y="192024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 precomputation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89520" y="21031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GPU-intensive iterative operations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7589520" y="23317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 only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7589520" y="25146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not measure prediction skeleton precision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7589520" y="274320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Binary skeleton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7589520" y="29260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morphological thinning, not soft approximation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7589520" y="315468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Computationally efficient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589520" y="333756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~13% overhead vs baseline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548640" y="3840480"/>
            <a:ext cx="10972800" cy="1280160"/>
          </a:xfrm>
          <a:prstGeom prst="rect">
            <a:avLst/>
          </a:prstGeom>
          <a:solidFill>
            <a:srgbClr val="1A2340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3931920"/>
            <a:ext cx="10424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Intuition: </a:t>
            </a: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"Did you find the core of every vessel?" Precomputes a 1-voxel-wide centerline of the ground truth, then asks how much of this skeleton the prediction covers. Focuses all gradient signal on centerline voxels — even at the cost of over-segmentation. The base Dice+CE handles false positives; Skeleton Recall ensures the thinnest structures aren't missed.</a:t>
            </a:r>
            <a:endParaRPr lang="en-US" sz="1500" dirty="0"/>
          </a:p>
        </p:txBody>
      </p:sp>
      <p:sp>
        <p:nvSpPr>
          <p:cNvPr id="22" name="Shape 20"/>
          <p:cNvSpPr/>
          <p:nvPr/>
        </p:nvSpPr>
        <p:spPr>
          <a:xfrm>
            <a:off x="548640" y="5394960"/>
            <a:ext cx="10972800" cy="1097280"/>
          </a:xfrm>
          <a:prstGeom prst="rect">
            <a:avLst/>
          </a:prstGeom>
          <a:solidFill>
            <a:srgbClr val="003D5B"/>
          </a:solidFill>
          <a:ln/>
        </p:spPr>
      </p:sp>
      <p:sp>
        <p:nvSpPr>
          <p:cNvPr id="23" name="Text 21"/>
          <p:cNvSpPr/>
          <p:nvPr/>
        </p:nvSpPr>
        <p:spPr>
          <a:xfrm>
            <a:off x="822960" y="54406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Summary of Loss Functions</a:t>
            </a:r>
            <a:endParaRPr lang="en-US" sz="13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" y="5760720"/>
          <a:ext cx="10424160" cy="640080"/>
        </p:xfrm>
        <a:graphic>
          <a:graphicData uri="http://schemas.openxmlformats.org/drawingml/2006/table">
            <a:tbl>
              <a:tblPr/>
              <a:tblGrid>
                <a:gridCol w="2286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7432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1600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Loss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Topology Signal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Computation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</a:rPr>
                        <a:t>Trade-off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0096C7"/>
                          </a:solidFill>
                        </a:rPr>
                        <a:t>Dice+CE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None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Fastest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8899AA"/>
                          </a:solidFill>
                        </a:rPr>
                        <a:t>No topology awareness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59E0B"/>
                          </a:solidFill>
                        </a:rPr>
                        <a:t>+ clDice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Precision + Recall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GPU-intensive (K=10 iters)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8899AA"/>
                          </a:solidFill>
                        </a:rPr>
                        <a:t>Best aggregate metrics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6002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10B981"/>
                          </a:solidFill>
                        </a:rPr>
                        <a:t>+ Skeleton Recall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Recall only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FFFFFF"/>
                          </a:solidFill>
                        </a:rPr>
                        <a:t>CPU precompute (+13%)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100" dirty="0">
                          <a:solidFill>
                            <a:srgbClr val="8899AA"/>
                          </a:solidFill>
                        </a:rPr>
                        <a:t>Best thin-vessel detection</a:t>
                      </a:r>
                      <a:endParaRPr lang="en-US" sz="11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Setup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490472"/>
            <a:ext cx="54864" cy="32004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4630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Hardware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3200400" y="14630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8× NVIDIA A100-SXM4-40GB (AWS p4d.24xlarge)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039112"/>
            <a:ext cx="54864" cy="32004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0116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200400" y="20116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DDP across all 8 GPUs — identical for all 3 models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731520" y="2587752"/>
            <a:ext cx="54864" cy="32004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25603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Epochs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3200400" y="25603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300 (from-scratch)  |  150 (TopBrain fine-tuning)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731520" y="3136392"/>
            <a:ext cx="54864" cy="32004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31089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Optimizer</a:t>
            </a:r>
            <a:endParaRPr lang="en-US" sz="1500" dirty="0"/>
          </a:p>
        </p:txBody>
      </p:sp>
      <p:sp>
        <p:nvSpPr>
          <p:cNvPr id="16" name="Text 14"/>
          <p:cNvSpPr/>
          <p:nvPr/>
        </p:nvSpPr>
        <p:spPr>
          <a:xfrm>
            <a:off x="3200400" y="31089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AdamW (LR = 10⁻³, weight decay = 10⁻⁵)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731520" y="3685032"/>
            <a:ext cx="54864" cy="32004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365760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LR Schedule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3200400" y="365760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annealing + 10-epoch linear warmup (10⁻⁷ → 10⁻³ → 10⁻⁷)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731520" y="4233672"/>
            <a:ext cx="54864" cy="32004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0624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Patches</a:t>
            </a:r>
            <a:endParaRPr lang="en-US" sz="1500" dirty="0"/>
          </a:p>
        </p:txBody>
      </p:sp>
      <p:sp>
        <p:nvSpPr>
          <p:cNvPr id="22" name="Text 20"/>
          <p:cNvSpPr/>
          <p:nvPr/>
        </p:nvSpPr>
        <p:spPr>
          <a:xfrm>
            <a:off x="3200400" y="420624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128³ voxel crops, 4 per volume, 33% foreground-centered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731520" y="4782312"/>
            <a:ext cx="54864" cy="32004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24" name="Text 22"/>
          <p:cNvSpPr/>
          <p:nvPr/>
        </p:nvSpPr>
        <p:spPr>
          <a:xfrm>
            <a:off x="1005840" y="475488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Size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3200400" y="475488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per GPU (32 effective)  |  Mixed precision (AMP)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731520" y="5330952"/>
            <a:ext cx="54864" cy="32004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27" name="Text 25"/>
          <p:cNvSpPr/>
          <p:nvPr/>
        </p:nvSpPr>
        <p:spPr>
          <a:xfrm>
            <a:off x="1005840" y="530352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</a:t>
            </a:r>
            <a:endParaRPr lang="en-US" sz="1500" dirty="0"/>
          </a:p>
        </p:txBody>
      </p:sp>
      <p:sp>
        <p:nvSpPr>
          <p:cNvPr id="28" name="Text 26"/>
          <p:cNvSpPr/>
          <p:nvPr/>
        </p:nvSpPr>
        <p:spPr>
          <a:xfrm>
            <a:off x="3200400" y="53035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25 epochs  |  Early stopping patience = 5 cycles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731520" y="5879592"/>
            <a:ext cx="54864" cy="32004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0" name="Text 28"/>
          <p:cNvSpPr/>
          <p:nvPr/>
        </p:nvSpPr>
        <p:spPr>
          <a:xfrm>
            <a:off x="1005840" y="5852160"/>
            <a:ext cx="2286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Fine-tuning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3200400" y="585216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checkpoint, fresh optimizer, LR = 10⁻⁴, 5-epoch warmup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1371600" y="6400800"/>
            <a:ext cx="9144000" cy="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3" name="Shape 31"/>
          <p:cNvSpPr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solidFill>
            <a:srgbClr val="003D5B"/>
          </a:solidFill>
          <a:ln/>
        </p:spPr>
      </p:sp>
      <p:sp>
        <p:nvSpPr>
          <p:cNvPr id="34" name="Text 32"/>
          <p:cNvSpPr/>
          <p:nvPr/>
        </p:nvSpPr>
        <p:spPr>
          <a:xfrm>
            <a:off x="731520" y="6236208"/>
            <a:ext cx="10607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training configuration identical across runs — controlled single-variable comparison</a:t>
            </a:r>
            <a:endParaRPr lang="en-US" sz="14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Dynamics</a:t>
            </a:r>
            <a:endParaRPr lang="en-US" sz="3000" dirty="0"/>
          </a:p>
        </p:txBody>
      </p:sp>
      <p:pic>
        <p:nvPicPr>
          <p:cNvPr id="5" name="Image 0" descr="/sessions/sweet-quirky-clarke/mnt/CTA Seg V2/report/figures_v2/learning_curv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1188720"/>
            <a:ext cx="7315200" cy="50292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412480" y="1371600"/>
            <a:ext cx="3291840" cy="457200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595360" y="1554480"/>
            <a:ext cx="2926080" cy="4114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models converge to similar regions: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loss: ~0.10–0.13</a:t>
            </a: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Dice: ~0.84–0.86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 and Dice+CE are nearly identical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runs at slightly higher loss — expected from additional centerline penalty</a:t>
            </a:r>
            <a:endParaRPr lang="en-US" sz="1400" dirty="0"/>
          </a:p>
          <a:p>
            <a:pPr marL="0" indent="0">
              <a:buNone/>
            </a:pPr>
            <a:endParaRPr lang="en-US" sz="1400" dirty="0"/>
          </a:p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Stable convergence across all configurations. No NaN batches.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Global Results — From Scratch</a:t>
            </a:r>
            <a:endParaRPr lang="en-US" sz="3000" dirty="0"/>
          </a:p>
        </p:txBody>
      </p:sp>
      <p:pic>
        <p:nvPicPr>
          <p:cNvPr id="5" name="Image 0" descr="/sessions/sweet-quirky-clarke/mnt/CTA Seg V2/report/figures_v2/global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188720"/>
            <a:ext cx="11430000" cy="384048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48640" y="5212080"/>
            <a:ext cx="3474720" cy="137160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731520" y="530352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 wins aggregate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0.864 | clDice 0.916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Betti-0 error: 3.72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4297680" y="5212080"/>
            <a:ext cx="3474720" cy="137160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Text 6"/>
          <p:cNvSpPr/>
          <p:nvPr/>
        </p:nvSpPr>
        <p:spPr>
          <a:xfrm>
            <a:off x="4480560" y="530352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close behind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0.858 | clDice 0.907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Betti-0 error: 5.76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8046720" y="5212080"/>
            <a:ext cx="3474720" cy="137160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1" name="Text 8"/>
          <p:cNvSpPr/>
          <p:nvPr/>
        </p:nvSpPr>
        <p:spPr>
          <a:xfrm>
            <a:off x="8229600" y="5303520"/>
            <a:ext cx="31089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Lower aggregate (DSC 0.845)</a:t>
            </a:r>
            <a:endParaRPr lang="en-US" sz="1500" dirty="0"/>
          </a:p>
          <a:p>
            <a:pPr marL="0" indent="0">
              <a:buNone/>
            </a:pPr>
            <a:r>
              <a:rPr lang="en-US" sz="1300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 B0 error: 26.84 (over-segments)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Stratified Results — The Vessel Gap</a:t>
            </a:r>
            <a:endParaRPr lang="en-US" sz="3000" dirty="0"/>
          </a:p>
        </p:txBody>
      </p:sp>
      <p:pic>
        <p:nvPicPr>
          <p:cNvPr id="5" name="Image 0" descr="/sessions/sweet-quirky-clarke/mnt/CTA Seg V2/report/figures_v2/vessel_ga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4320" y="1188720"/>
            <a:ext cx="5943600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6583680" y="1188720"/>
            <a:ext cx="5029200" cy="502920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6858000" y="128016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→ Pcom Improvement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6858000" y="1828800"/>
            <a:ext cx="45720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R-Pcom: </a:t>
            </a: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0.511</a:t>
            </a: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0.459 baseline  (+5 pts)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L-Pcom: </a:t>
            </a: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0.479</a:t>
            </a: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vs 0.410 baseline  (+7 pts)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8580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Vessel Gap Analysis</a:t>
            </a:r>
            <a:endParaRPr lang="en-US" sz="15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0" y="3383280"/>
          <a:ext cx="4572000" cy="1371600"/>
        </p:xfrm>
        <a:graphic>
          <a:graphicData uri="http://schemas.openxmlformats.org/drawingml/2006/table">
            <a:tbl>
              <a:tblPr/>
              <a:tblGrid>
                <a:gridCol w="13716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9144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Model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Large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Comm.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5B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</a:rPr>
                        <a:t>Δ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3D5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0096C7"/>
                          </a:solidFill>
                        </a:rPr>
                        <a:t>Dice+CE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0.795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0.433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8899AA"/>
                          </a:solidFill>
                        </a:rPr>
                        <a:t>0.363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59E0B"/>
                          </a:solidFill>
                        </a:rPr>
                        <a:t>+ clDice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0.797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0.435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8899AA"/>
                          </a:solidFill>
                        </a:rPr>
                        <a:t>0.363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429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10B981"/>
                          </a:solidFill>
                        </a:rPr>
                        <a:t>+ Skeleton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dirty="0">
                          <a:solidFill>
                            <a:srgbClr val="FFFFFF"/>
                          </a:solidFill>
                        </a:rPr>
                        <a:t>0.798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</a:rPr>
                        <a:t>0.466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00" b="1" dirty="0">
                          <a:solidFill>
                            <a:srgbClr val="10B981"/>
                          </a:solidFill>
                        </a:rPr>
                        <a:t>0.332</a:t>
                      </a:r>
                      <a:endParaRPr lang="en-US" sz="1200" dirty="0"/>
                    </a:p>
                  </a:txBody>
                  <a:tcPr>
                    <a:lnL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2A355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1" name="Text 7"/>
          <p:cNvSpPr/>
          <p:nvPr/>
        </p:nvSpPr>
        <p:spPr>
          <a:xfrm>
            <a:off x="6858000" y="5029200"/>
            <a:ext cx="4572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partially supported: modest but targeted improvement on communicating arteries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TopBrain Fine-Tuning — The Big Result</a:t>
            </a:r>
            <a:endParaRPr lang="en-US" sz="3000" dirty="0"/>
          </a:p>
        </p:txBody>
      </p:sp>
      <p:pic>
        <p:nvPicPr>
          <p:cNvPr id="5" name="Image 0" descr="/sessions/sweet-quirky-clarke/mnt/CTA Seg V2/report/figures_v2/topbrain_comparis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1097280"/>
            <a:ext cx="7772400" cy="411480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8046720" y="1188720"/>
            <a:ext cx="3840480" cy="2286000"/>
          </a:xfrm>
          <a:prstGeom prst="rect">
            <a:avLst/>
          </a:prstGeom>
          <a:solidFill>
            <a:srgbClr val="1A0A0A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7" name="Text 4"/>
          <p:cNvSpPr/>
          <p:nvPr/>
        </p:nvSpPr>
        <p:spPr>
          <a:xfrm>
            <a:off x="8229600" y="12344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ARTERIES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229600" y="150876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(Ophthalmic, Ant. Choroidal)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8229600" y="18288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6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0.589</a:t>
            </a:r>
            <a:endParaRPr lang="en-US" sz="3600" dirty="0"/>
          </a:p>
        </p:txBody>
      </p:sp>
      <p:sp>
        <p:nvSpPr>
          <p:cNvPr id="10" name="Text 7"/>
          <p:cNvSpPr/>
          <p:nvPr/>
        </p:nvSpPr>
        <p:spPr>
          <a:xfrm>
            <a:off x="8229600" y="2423160"/>
            <a:ext cx="3474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8229600" y="2743200"/>
            <a:ext cx="3474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  Dice+CE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0.000  clDice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8046720" y="3657600"/>
            <a:ext cx="3840480" cy="256032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229600" y="3749040"/>
            <a:ext cx="347472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Posterior fossa: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0.626 vs 0.565 (Dice+CE)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Venous sinuses: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0.613 vs 0.416 (Dice+CE)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Distal branches: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0.752 vs 0.687 (Dice+CE)</a:t>
            </a:r>
            <a:endParaRPr lang="en-US" sz="1300" dirty="0"/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CoW: </a:t>
            </a: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~0.82 (comparable)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548640" y="5486400"/>
            <a:ext cx="7315200" cy="640080"/>
          </a:xfrm>
          <a:prstGeom prst="rect">
            <a:avLst/>
          </a:prstGeom>
          <a:solidFill>
            <a:srgbClr val="003D5B"/>
          </a:solidFill>
          <a:ln/>
        </p:spPr>
      </p:sp>
      <p:sp>
        <p:nvSpPr>
          <p:cNvPr id="15" name="Text 12"/>
          <p:cNvSpPr/>
          <p:nvPr/>
        </p:nvSpPr>
        <p:spPr>
          <a:xfrm>
            <a:off x="731520" y="5532120"/>
            <a:ext cx="6949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finds vessels the others cannot — a qualitative, not merely quantitative, difference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Qualitative Comparison — 3D Renderings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457200" y="1280160"/>
            <a:ext cx="5486400" cy="411480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457200" y="29260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[SurgicalAR Screenshot]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457200" y="5486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Dice+CE + TopBrain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309360" y="1280160"/>
            <a:ext cx="5486400" cy="411480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6309360" y="2926080"/>
            <a:ext cx="5486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8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[SurgicalAR Screenshot]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6309360" y="54864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7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+ TopBrain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7200" y="612648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 patient  |  Same viewing angle  |  Same fine-tuning protocol  |  Different loss during pretraining</a:t>
            </a:r>
            <a:endParaRPr lang="en-US" sz="13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Discussion — What We Learned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548640" y="1280160"/>
            <a:ext cx="5486400" cy="274320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822960" y="13716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822960" y="1783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Aggregate Model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22960" y="2194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0.864 | Betti-0 error 3.72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6060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Improves topological precision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3017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Fewer disconnected fragments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822960" y="3429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overall segmentation quality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6400800" y="1280160"/>
            <a:ext cx="5486400" cy="2743200"/>
          </a:xfrm>
          <a:prstGeom prst="rect">
            <a:avLst/>
          </a:prstGeom>
          <a:solidFill>
            <a:srgbClr val="1A2340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675120" y="1371600"/>
            <a:ext cx="4937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6675120" y="17830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Thin-Vessel Transfer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675120" y="2194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Pcom: +5–7 pts | Small arteries: 0.589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675120" y="26060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Improves topological recall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675120" y="3017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Over-segments (B0 error 26.84)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6675120" y="34290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for: finding every vessel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297680"/>
            <a:ext cx="10972800" cy="2103120"/>
          </a:xfrm>
          <a:prstGeom prst="rect">
            <a:avLst/>
          </a:prstGeom>
          <a:solidFill>
            <a:srgbClr val="003D5B"/>
          </a:solidFill>
          <a:ln/>
          <a:effectLst>
            <a:outerShdw blurRad="50800" dist="25400" dir="8100000" algn="bl" rotWithShape="0">
              <a:srgbClr val="000000">
                <a:alpha val="20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822960" y="4389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FD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INSIGHT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822960" y="4754880"/>
            <a:ext cx="104241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TopBrain fine-tuning drives comprehensive vessel coverage for all models.</a:t>
            </a:r>
            <a:endParaRPr lang="en-US" sz="1600" dirty="0"/>
          </a:p>
          <a:p>
            <a:pPr marL="0" indent="0">
              <a:buNone/>
            </a:pPr>
            <a:endParaRPr lang="en-US" sz="1600" dirty="0"/>
          </a:p>
          <a:p>
            <a:pPr marL="0" indent="0">
              <a:buNone/>
            </a:pPr>
            <a:r>
              <a:rPr lang="en-US" sz="1400" dirty="0">
                <a:solidFill>
                  <a:srgbClr val="E8EDF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loss function used during pretraining shapes the quality of that transfer to the thinnest structures. Skeleton Recall's centerline-focused gradient signal creates feature representations that encode thin tubular geometry — a representational advantage that transfers when exposed to richer annotations.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 &amp; Future Work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548640" y="1371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Limitations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731520" y="1856232"/>
            <a:ext cx="54864" cy="3200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7" name="Text 5"/>
          <p:cNvSpPr/>
          <p:nvPr/>
        </p:nvSpPr>
        <p:spPr>
          <a:xfrm>
            <a:off x="1005840" y="182880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Large-small vessel gap persists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210312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&gt;0.33 DSC across all models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731520" y="2496312"/>
            <a:ext cx="54864" cy="3200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0" name="Text 8"/>
          <p:cNvSpPr/>
          <p:nvPr/>
        </p:nvSpPr>
        <p:spPr>
          <a:xfrm>
            <a:off x="1005840" y="2468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over-fragments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005840" y="27432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Betti-0 error 26.84 needs post-processing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731520" y="3136392"/>
            <a:ext cx="54864" cy="32004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3" name="Text 11"/>
          <p:cNvSpPr/>
          <p:nvPr/>
        </p:nvSpPr>
        <p:spPr>
          <a:xfrm>
            <a:off x="1005840" y="310896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 window [0, 600]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1005840" y="33832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Clips bone to same range as vessels → false positives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6217920" y="137160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0" y="1856232"/>
            <a:ext cx="54864" cy="320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7" name="Text 15"/>
          <p:cNvSpPr/>
          <p:nvPr/>
        </p:nvSpPr>
        <p:spPr>
          <a:xfrm>
            <a:off x="6675120" y="18288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Wider HU window [0, 1500]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675120" y="210312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Separate bone from vessels — highest-impact fix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6400800" y="2496312"/>
            <a:ext cx="54864" cy="320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0" name="Text 18"/>
          <p:cNvSpPr/>
          <p:nvPr/>
        </p:nvSpPr>
        <p:spPr>
          <a:xfrm>
            <a:off x="6675120" y="246888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Class-balanced sampling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675120" y="274320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Focus on under-represented thin vessels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0" y="3136392"/>
            <a:ext cx="54864" cy="320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3" name="Text 21"/>
          <p:cNvSpPr/>
          <p:nvPr/>
        </p:nvSpPr>
        <p:spPr>
          <a:xfrm>
            <a:off x="6675120" y="310896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Connected component filtering</a:t>
            </a:r>
            <a:endParaRPr lang="en-US" sz="1500" dirty="0"/>
          </a:p>
        </p:txBody>
      </p:sp>
      <p:sp>
        <p:nvSpPr>
          <p:cNvPr id="24" name="Text 22"/>
          <p:cNvSpPr/>
          <p:nvPr/>
        </p:nvSpPr>
        <p:spPr>
          <a:xfrm>
            <a:off x="6675120" y="338328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Remove small disconnected false positives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6400800" y="3776472"/>
            <a:ext cx="54864" cy="32004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26" name="Text 24"/>
          <p:cNvSpPr/>
          <p:nvPr/>
        </p:nvSpPr>
        <p:spPr>
          <a:xfrm>
            <a:off x="6675120" y="3749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 on corrected labels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6675120" y="4023360"/>
            <a:ext cx="5029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 model-assisted labeled CTAs on RedBrick AI</a:t>
            </a:r>
            <a:endParaRPr lang="en-US" sz="12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548640" y="54864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731520" y="1417320"/>
            <a:ext cx="54864" cy="36576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137160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Controlled ablation on identical hardware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280160" y="178308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loss functions, same 3D U-Net, same 8× A100 configuration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731520" y="2377440"/>
            <a:ext cx="54864" cy="36576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9" name="Text 7"/>
          <p:cNvSpPr/>
          <p:nvPr/>
        </p:nvSpPr>
        <p:spPr>
          <a:xfrm>
            <a:off x="1005840" y="23317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clDice = best aggregate model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280160" y="274320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DSC 0.864, lowest Betti-0 error 3.72, best topological precision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731520" y="3337560"/>
            <a:ext cx="54864" cy="365760"/>
          </a:xfrm>
          <a:prstGeom prst="rect">
            <a:avLst/>
          </a:prstGeom>
          <a:solidFill>
            <a:srgbClr val="10B981"/>
          </a:solidFill>
          <a:ln/>
        </p:spPr>
      </p:sp>
      <p:sp>
        <p:nvSpPr>
          <p:cNvPr id="12" name="Text 10"/>
          <p:cNvSpPr/>
          <p:nvPr/>
        </p:nvSpPr>
        <p:spPr>
          <a:xfrm>
            <a:off x="1005840" y="329184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Skeleton Recall = best thin-vessel transfer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280160" y="370332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+5–7 pts on Pcom, 0.589 on small arteries vs zero for alternatives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731520" y="4297680"/>
            <a:ext cx="54864" cy="365760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15" name="Text 13"/>
          <p:cNvSpPr/>
          <p:nvPr/>
        </p:nvSpPr>
        <p:spPr>
          <a:xfrm>
            <a:off x="1005840" y="425196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Topology-aware pretraining creates better representations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280160" y="466344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Loss function during pretraining shapes how well coverage transfers to thinnest structures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31520" y="5257800"/>
            <a:ext cx="54864" cy="365760"/>
          </a:xfrm>
          <a:prstGeom prst="rect">
            <a:avLst/>
          </a:prstGeom>
          <a:solidFill>
            <a:srgbClr val="FFD700"/>
          </a:solidFill>
          <a:ln/>
        </p:spPr>
      </p:sp>
      <p:sp>
        <p:nvSpPr>
          <p:cNvPr id="18" name="Text 16"/>
          <p:cNvSpPr/>
          <p:nvPr/>
        </p:nvSpPr>
        <p:spPr>
          <a:xfrm>
            <a:off x="1005840" y="52120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 partially supported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280160" y="5623560"/>
            <a:ext cx="10241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Modest CoW improvement; dramatic effect on truly small vessels after transfer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48640" y="6217920"/>
            <a:ext cx="10972800" cy="457200"/>
          </a:xfrm>
          <a:prstGeom prst="rect">
            <a:avLst/>
          </a:prstGeom>
          <a:solidFill>
            <a:srgbClr val="1A2340"/>
          </a:solidFill>
          <a:ln/>
        </p:spPr>
      </p:sp>
      <p:sp>
        <p:nvSpPr>
          <p:cNvPr id="21" name="Text 19"/>
          <p:cNvSpPr/>
          <p:nvPr/>
        </p:nvSpPr>
        <p:spPr>
          <a:xfrm>
            <a:off x="731520" y="6236208"/>
            <a:ext cx="10607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400" i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large-vs-small vessel gap remains the central challenge — the arteries that matter most clinically are the hardest to find.</a:t>
            </a:r>
            <a:endParaRPr lang="en-US" sz="14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131B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0096C7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210312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</a:t>
            </a:r>
            <a:endParaRPr lang="en-US" sz="4800" dirty="0"/>
          </a:p>
        </p:txBody>
      </p:sp>
      <p:sp>
        <p:nvSpPr>
          <p:cNvPr id="5" name="Text 3"/>
          <p:cNvSpPr/>
          <p:nvPr/>
        </p:nvSpPr>
        <p:spPr>
          <a:xfrm>
            <a:off x="914400" y="3474720"/>
            <a:ext cx="10360152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800" dirty="0">
                <a:solidFill>
                  <a:srgbClr val="0096C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4754880"/>
            <a:ext cx="10360152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Samih Tharwat Amer</a:t>
            </a:r>
            <a:endParaRPr lang="en-US" sz="1500" dirty="0"/>
          </a:p>
          <a:p>
            <a:pPr marL="0" indent="0" algn="ctr">
              <a:buNone/>
            </a:pPr>
            <a:r>
              <a:rPr lang="en-US" sz="1500" dirty="0">
                <a:solidFill>
                  <a:srgbClr val="8899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Whiting School of Engineering  |  Johns Hopkins University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280</TotalTime>
  <Words>2070</Words>
  <Application>Microsoft Office PowerPoint</Application>
  <PresentationFormat>Widescreen</PresentationFormat>
  <Paragraphs>370</Paragraphs>
  <Slides>21</Slides>
  <Notes>21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4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Deep Learning for Vessel Segmentation in Cerebral CTA</dc:title>
  <dc:subject>PptxGenJS Presentation</dc:subject>
  <dc:creator>Samih Tharwat Amer</dc:creator>
  <cp:lastModifiedBy>Samih Amer</cp:lastModifiedBy>
  <cp:revision>2</cp:revision>
  <dcterms:created xsi:type="dcterms:W3CDTF">2026-04-09T18:14:20Z</dcterms:created>
  <dcterms:modified xsi:type="dcterms:W3CDTF">2026-04-09T22:58:44Z</dcterms:modified>
</cp:coreProperties>
</file>