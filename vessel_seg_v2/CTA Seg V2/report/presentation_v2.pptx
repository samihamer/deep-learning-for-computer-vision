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28016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Vessel Segmentation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Cerebral CTA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97280" y="31089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Controlled Ablation of Topology-Aware Loss Functions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4206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Samih Tharwat Amer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4754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Whiting School of Engineering  |  Johns Hopkins University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Project  |  April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Motivation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Cerebrovascular diseases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cause of death and disability worldwide. Accurate vessel segmentation from CTA is essential for diagnosis and surgical planning.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of Willis (CoW)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arterial anastomotic ring at the brain's base. Provides collateral blood flow pathways critical during vascular occlusion.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Communicating arteries (Acom, Pcom)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(&lt;1 mm diameter) but clinically critical for aneurysm assessment and collateral flow. Most prone to segmentation failure.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0" y="1371600"/>
            <a:ext cx="5029200" cy="438912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0" y="29260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[Circle of Willis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Diagram]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715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arteries: 3-5 mm diameter  |  Communicating arteries: &lt;1 mm diameter  |  Clinical impact: inversely proportional to size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Topological Failures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400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+ Cross-Entropy loss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all voxels equally — no connectivity incentive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segmentation can have high Dice (0.87)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broken topology — severed vessels, fragments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metrics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failures on thin communicating arteries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097280" y="3931920"/>
            <a:ext cx="9875520" cy="219456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4023360"/>
            <a:ext cx="9326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model missed a significant number of vessels in clinical 3D visualization, despite the validation DSC looking reasonable on paper."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521208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DSC: 0.87   </a:t>
            </a:r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R-Pcom DSC: 0.42   </a:t>
            </a:r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L-ACA DSC: 0.46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TopCoW Challenge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03520" cy="457200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Overview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MICCAI 2024 Challenge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Topology-aware anatomical segmentation of the Circle of Willis for CTA and MRA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CTA + 125 MRA volumes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voxel-level annotations for 13 vessel classes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from challenge: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top teams achieve good aggregate Dice while producing topologically incorrect segmentations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03520" cy="457200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Protocol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92240" y="2103120"/>
            <a:ext cx="54864" cy="64008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Score (DSC)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20840" y="23957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Voxel overlap between prediction and ground truth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306324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Centerline Dice (clDice)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20840" y="33558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Skeleton-level overlap — topology agreement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4023360"/>
            <a:ext cx="54864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HD95 (mm)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20840" y="43159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95th percentile Hausdorff distance — surface accuracy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92240" y="498348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4983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Betti-0 Error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20840" y="52760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component mismatch — topological correctness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&amp; State of the Art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11880" cy="475488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Backbone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nnU-Net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2494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Isensee et al., Nat. Methods 2021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Self-configuring 3D U-Net. Established Dice+CE as standard. Dominant framework.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nnU-Net Revisited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5295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Isensee et al., MICCAI 2024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for rigorous validation in 3D medical image segmentation.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371600"/>
            <a:ext cx="3611880" cy="475488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8056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Topology-Preserving Losses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0560" y="2011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clDice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0" y="22494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Shit et al., CVPR 2021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2468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Differentiable soft-skeletonization. First topology-preserving loss for tubular structures.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3291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Recall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80560" y="35295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Kirchhoff et al., ECCV 2024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80560" y="3749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CPU-precomputed skeletons. Efficient centerline recall.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0" y="4572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CBD-Loss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80560" y="48097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 et al., MICCAI 2024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80560" y="5029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centerline + boundary optimization.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1371600"/>
            <a:ext cx="3611880" cy="475488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2104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Approaches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21040" y="2011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Homology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21040" y="22494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Berger, Stucki (MICCAI/ICML)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21040" y="2468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Topological loss via persistence barcodes.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21040" y="3291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NexToU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21040" y="35295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 et al., 2023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21040" y="3749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Topology-aware U-Net architecture.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21040" y="4572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Cascaded U-Net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21040" y="48097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Rougé et al., PLOS ONE 2024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21040" y="5029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Topology-aware multi-task approach.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solidFill>
            <a:srgbClr val="0D2847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606247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Existing evaluations confound loss function effects with architectural changes or aggregate-only challenge metrics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&amp; Approach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0972800" cy="1463040"/>
          </a:xfrm>
          <a:prstGeom prst="rect">
            <a:avLst/>
          </a:prstGeom>
          <a:solidFill>
            <a:srgbClr val="003D5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Topology-aware loss functions will disproportionately improve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of thin communicating arteries (Acom, Pcom)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3566160" cy="192024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+ 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overlap only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nnU-Net default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3291840"/>
            <a:ext cx="3566160" cy="192024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2628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3703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+ CE + clDice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26280" y="4160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Centerline matching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Shit et al., CVPR 2021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3291840"/>
            <a:ext cx="3566160" cy="192024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210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1040" y="3703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+ CE + Skeleton Recall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21040" y="4160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Centerline recall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Kirchhoff et al., ECCV 2024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ablation: same architecture, same data, same hardware — only the loss function changes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03520" cy="475488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TopCoW 2024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MICCAI Challenge Dataset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194560" y="2468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volumes with expert annotations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194560" y="3154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of Willis vessel classes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/ 25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194560" y="3840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split (80/20)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526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194560" y="4526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BA, ICA, MCA, PCA, ACA, Acom, Pcom, 3rd-A2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212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194560" y="5212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From-scratch training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1371600"/>
            <a:ext cx="5303520" cy="475488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9224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TopBrain 2025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9224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Annotations — Same Scans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2468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863840" y="2468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volumes (same scans as TopCoW subset)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863840" y="3154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classes — 3× more coverage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863840" y="3840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distal branches, posterior fossa, small arteries, venous sinuses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92240" y="4526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Binarized: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863840" y="4526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covers far more vasculature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92240" y="5212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863840" y="5212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&amp; transfer evaluation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3D U-Net</a:t>
            </a:r>
            <a:endParaRPr lang="en-US" sz="3000" dirty="0"/>
          </a:p>
        </p:txBody>
      </p:sp>
      <p:pic>
        <p:nvPicPr>
          <p:cNvPr id="5" name="Image 0" descr="/sessions/sweet-quirky-clarke/mnt/CTA Seg V2/report/figures_v2/unet3d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188720"/>
            <a:ext cx="640080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0" y="1463040"/>
            <a:ext cx="54864" cy="41148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7" name="Text 4"/>
          <p:cNvSpPr/>
          <p:nvPr/>
        </p:nvSpPr>
        <p:spPr>
          <a:xfrm>
            <a:off x="6812280" y="1463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778240" y="1463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stages: 32 → 64 → 128 → 256 → 512 ch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83680" y="2103120"/>
            <a:ext cx="54864" cy="41148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0" name="Text 7"/>
          <p:cNvSpPr/>
          <p:nvPr/>
        </p:nvSpPr>
        <p:spPr>
          <a:xfrm>
            <a:off x="6812280" y="2103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778240" y="2103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Conv3D(3³) + InstanceNorm + LeakyReLU(α=0.01) + residual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83680" y="2743200"/>
            <a:ext cx="54864" cy="41148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3" name="Text 10"/>
          <p:cNvSpPr/>
          <p:nvPr/>
        </p:nvSpPr>
        <p:spPr>
          <a:xfrm>
            <a:off x="6812280" y="2743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778240" y="2743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Strided 2³ convolutions (learnable, no max-pool)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583680" y="3383280"/>
            <a:ext cx="54864" cy="41148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6" name="Text 13"/>
          <p:cNvSpPr/>
          <p:nvPr/>
        </p:nvSpPr>
        <p:spPr>
          <a:xfrm>
            <a:off x="6812280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Upsampling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778240" y="3383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Transposed convolutions + skip connections (concat)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583680" y="4023360"/>
            <a:ext cx="54864" cy="41148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9" name="Text 16"/>
          <p:cNvSpPr/>
          <p:nvPr/>
        </p:nvSpPr>
        <p:spPr>
          <a:xfrm>
            <a:off x="6812280" y="4023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Supervision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778240" y="4023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 heads at each decoder level, weights: 1.0, 0.5, 0.25, 0.125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583680" y="4663440"/>
            <a:ext cx="54864" cy="41148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22" name="Text 19"/>
          <p:cNvSpPr/>
          <p:nvPr/>
        </p:nvSpPr>
        <p:spPr>
          <a:xfrm>
            <a:off x="6812280" y="4663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778240" y="46634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24.9M (Kaiming normal init)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583680" y="5303520"/>
            <a:ext cx="54864" cy="41148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25" name="Text 22"/>
          <p:cNvSpPr/>
          <p:nvPr/>
        </p:nvSpPr>
        <p:spPr>
          <a:xfrm>
            <a:off x="6812280" y="5303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778240" y="53035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nnU-Net philosophy (Isensee et al., 2021)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48640" y="5760720"/>
            <a:ext cx="10972800" cy="64008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58064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3D U-Net?  Strongest controlled baseline — any performance difference attributable to the loss function, not the architecture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Functions: Dice + Cross-Entropy (Baseline)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03520" cy="411480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Dice Loss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011680"/>
            <a:ext cx="4572000" cy="1097280"/>
          </a:xfrm>
          <a:prstGeom prst="rect">
            <a:avLst/>
          </a:prstGeom>
          <a:solidFill>
            <a:srgbClr val="0D1629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05740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1 − 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∑ pᵢ · gᵢ + ε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(∑ pᵢ + ∑ gᵢ + ε)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pᵢ = predicted probability at voxel 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gᵢ = ground truth label at voxel 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= 10⁻⁵ (numerical stability)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4805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region-level overlap. Per-class computation (excluding background), then averaged.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303520" cy="411480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Loss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83680" y="2011680"/>
            <a:ext cx="4572000" cy="1097280"/>
          </a:xfrm>
          <a:prstGeom prst="rect">
            <a:avLst/>
          </a:prstGeom>
          <a:solidFill>
            <a:srgbClr val="0D1629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205740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− ∑ gᵢ · log(pᵢ)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32918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per-voxel classification loss. Provides sharp gradients for individual voxel decisions.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4114800"/>
            <a:ext cx="4572000" cy="731520"/>
          </a:xfrm>
          <a:prstGeom prst="rect">
            <a:avLst/>
          </a:prstGeom>
          <a:solidFill>
            <a:srgbClr val="0D1629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41605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L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</a:t>
            </a:r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L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5760720"/>
            <a:ext cx="10972800" cy="731520"/>
          </a:xfrm>
          <a:prstGeom prst="rect">
            <a:avLst/>
          </a:prstGeom>
          <a:solidFill>
            <a:srgbClr val="2D1515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80644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Every voxel receives equal weight. A centerline voxel of a 1mm Pcom gets the same gradient as a surface voxel of the 5mm ICA.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Functions: Soft Centerline Dice (clDice)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6858000" cy="237744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Differentiable Soft-Skeletonization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1874520"/>
            <a:ext cx="6217920" cy="1554480"/>
          </a:xfrm>
          <a:prstGeom prst="rect">
            <a:avLst/>
          </a:prstGeom>
          <a:solidFill>
            <a:srgbClr val="0D1629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92024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skel(x) = ReLU(x − open(x))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+ Σ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k=1..K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ReLU(erode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(x) − open(erode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(x)))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erode(x) = −MaxPool3D(−x, k=3)    |    dilate(x) = MaxPool3D(x, k=3)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open(x) = dilate(erode(x))    |    K = 10 iterations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0" y="1280160"/>
            <a:ext cx="3931920" cy="237744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4672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Metrics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55280" y="1874520"/>
            <a:ext cx="3566160" cy="1554480"/>
          </a:xfrm>
          <a:prstGeom prst="rect">
            <a:avLst/>
          </a:prstGeom>
          <a:solidFill>
            <a:srgbClr val="0D1629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0" y="19202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|skel(ŷ) · y| / |skel(ŷ)|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|ŷ · skel(y)| / |skel(y)|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clDice = 2·T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(T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10972800" cy="914400"/>
          </a:xfrm>
          <a:prstGeom prst="rect">
            <a:avLst/>
          </a:prstGeom>
          <a:solidFill>
            <a:srgbClr val="0D162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97764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Combined:   L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clDice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(1 − α) · L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α · (1 − clDice)        </a:t>
            </a:r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0.5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10972800" cy="137160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21208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skeletons (centerlines) of both prediction and ground truth, then measures how well they overlap. Directly penalizes topological disconnection — if the prediction's centerline doesn't match the ground truth's centerline, the loss increases. Measures both precision (predicted skeleton inside GT) and sensitivity (GT skeleton covered by prediction).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Functions: Skeleton Recall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6400800" cy="228600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Recall Loss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1874520"/>
            <a:ext cx="5669280" cy="1005840"/>
          </a:xfrm>
          <a:prstGeom prst="rect">
            <a:avLst/>
          </a:prstGeom>
          <a:solidFill>
            <a:srgbClr val="0D1629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9202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(1−α) · L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α · (1 − </a:t>
            </a:r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∑ ŷ · skel(y) / ∑ skel(y)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skel(y) = precomputed binary skeleton (CPU, scikit-image)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predicted vessel probability map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4297680" cy="228600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895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Differences from clDice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89520" y="1920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precomputation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89520" y="2103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GPU-intensive iterative operations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89520" y="2331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89520" y="2514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measure prediction skeleton precision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589520" y="2743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skeleton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89520" y="2926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morphological thinning, not soft approximation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589520" y="3154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efficient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89520" y="33375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~13% overhead vs baseline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10972800" cy="128016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93192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"Did you find the core of every vessel?" Precomputes a 1-voxel-wide centerline of the ground truth, then asks how much of this skeleton the prediction covers. Focuses all gradient signal on centerline voxels — even at the cost of over-segmentation. The base Dice+CE handles false positives; Skeleton Recall ensures the thinnest structures aren't missed.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5394960"/>
            <a:ext cx="10972800" cy="1097280"/>
          </a:xfrm>
          <a:prstGeom prst="rect">
            <a:avLst/>
          </a:prstGeom>
          <a:solidFill>
            <a:srgbClr val="003D5B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440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Loss Functions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5760720"/>
          <a:ext cx="10424160" cy="64008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2743200"/>
                <a:gridCol w="2743200"/>
              </a:tblGrid>
              <a:tr h="160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Loss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Topology Signal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Computation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Trade-off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5B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96C7"/>
                          </a:solidFill>
                        </a:rPr>
                        <a:t>Dice+CE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Fastest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899AA"/>
                          </a:solidFill>
                        </a:rPr>
                        <a:t>No topology awareness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+ clDice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Precision + Recall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GPU-intensive (K=10 iters)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899AA"/>
                          </a:solidFill>
                        </a:rPr>
                        <a:t>Best aggregate metrics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</a:rPr>
                        <a:t>+ Skeleton Recall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Recall only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CPU precompute (+13%)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899AA"/>
                          </a:solidFill>
                        </a:rPr>
                        <a:t>Best thin-vessel detection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490472"/>
            <a:ext cx="54864" cy="32004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0" y="1463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 NVIDIA A100-SXM4-40GB (AWS p4d.24xlarge)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039112"/>
            <a:ext cx="54864" cy="32004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0" y="2011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 across all 8 GPUs — identical for all 3 models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587752"/>
            <a:ext cx="54864" cy="32004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560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00400" y="2560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(from-scratch)  |  150 (TopBrain fine-tuning)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136392"/>
            <a:ext cx="54864" cy="32004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108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00400" y="3108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(LR = 10⁻³, weight decay = 10⁻⁵)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3685032"/>
            <a:ext cx="54864" cy="32004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004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annealing + 10-epoch linear warmup (10⁻⁷ → 10⁻³ → 10⁻⁷)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4233672"/>
            <a:ext cx="54864" cy="32004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06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004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128³ voxel crops, 4 per volume, 33% foreground-centered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4782312"/>
            <a:ext cx="54864" cy="32004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754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200400" y="4754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per GPU (32 effective)  |  Mixed precision (AMP)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1520" y="5330952"/>
            <a:ext cx="54864" cy="32004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5303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200400" y="5303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25 epochs  |  Early stopping patience = 5 cycles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31520" y="5879592"/>
            <a:ext cx="54864" cy="32004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5852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200400" y="5852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checkpoint, fresh optimizer, LR = 10⁻⁴, 5-epoch warmup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371600" y="6400800"/>
            <a:ext cx="9144000" cy="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solidFill>
            <a:srgbClr val="003D5B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6236208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training configuration identical across runs — controlled single-variable comparison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Dynamics</a:t>
            </a:r>
            <a:endParaRPr lang="en-US" sz="3000" dirty="0"/>
          </a:p>
        </p:txBody>
      </p:sp>
      <p:pic>
        <p:nvPicPr>
          <p:cNvPr id="5" name="Image 0" descr="/sessions/sweet-quirky-clarke/mnt/CTA Seg V2/report/figures_v2/learning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7315200" cy="5029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0" y="1371600"/>
            <a:ext cx="3291840" cy="457200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595360" y="1554480"/>
            <a:ext cx="29260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converge to similar regions: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loss: ~0.10–0.13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Dice: ~0.84–0.86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clDice and Dice+CE are nearly identical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Recall runs at slightly higher loss — expected from additional centerline penalty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convergence across all configurations. No NaN batches.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Results — From Scratch</a:t>
            </a:r>
            <a:endParaRPr lang="en-US" sz="3000" dirty="0"/>
          </a:p>
        </p:txBody>
      </p:sp>
      <p:pic>
        <p:nvPicPr>
          <p:cNvPr id="5" name="Image 0" descr="/sessions/sweet-quirky-clarke/mnt/CTA Seg V2/report/figures_v2/globa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1143000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212080"/>
            <a:ext cx="3474720" cy="137160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53035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clDice wins aggregate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0.864 | clDice 0.916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Betti-0 error: 3.72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97680" y="5212080"/>
            <a:ext cx="3474720" cy="137160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480560" y="53035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close behind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0.858 | clDice 0.907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Betti-0 error: 5.76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046720" y="5212080"/>
            <a:ext cx="3474720" cy="137160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0" y="53035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Recall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aggregate (DSC 0.845)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B0 error: 26.84 (over-segments)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Results — The Vessel Gap</a:t>
            </a:r>
            <a:endParaRPr lang="en-US" sz="3000" dirty="0"/>
          </a:p>
        </p:txBody>
      </p:sp>
      <p:pic>
        <p:nvPicPr>
          <p:cNvPr id="5" name="Image 0" descr="/sessions/sweet-quirky-clarke/mnt/CTA Seg V2/report/figures_v2/vessel_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594360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0" y="1188720"/>
            <a:ext cx="5029200" cy="502920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0" y="1280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Recall → Pcom Improvement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0" y="18288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R-Pcom: </a:t>
            </a:r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0.511</a:t>
            </a:r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0.459 baseline  (+5 pts)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L-Pcom: </a:t>
            </a:r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0.479</a:t>
            </a:r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0.410 baseline  (+7 pts)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Gap Analysis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3383280"/>
          <a:ext cx="4572000" cy="13716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914400"/>
                <a:gridCol w="91440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Large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Comm.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Δ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5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96C7"/>
                          </a:solidFill>
                        </a:rPr>
                        <a:t>Dice+CE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0.795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0.433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</a:rPr>
                        <a:t>0.363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</a:rPr>
                        <a:t>+ clDice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0.797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0.435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</a:rPr>
                        <a:t>0.363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+ Skeleton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0.798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0.466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0.332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858000" y="50292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partially supported: modest but targeted improvement on communicating arteries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TopBrain Fine-Tuning — The Big Result</a:t>
            </a:r>
            <a:endParaRPr lang="en-US" sz="3000" dirty="0"/>
          </a:p>
        </p:txBody>
      </p:sp>
      <p:pic>
        <p:nvPicPr>
          <p:cNvPr id="5" name="Image 0" descr="/sessions/sweet-quirky-clarke/mnt/CTA Seg V2/report/figures_v2/topbrain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97280"/>
            <a:ext cx="777240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46720" y="1188720"/>
            <a:ext cx="3840480" cy="2286000"/>
          </a:xfrm>
          <a:prstGeom prst="rect">
            <a:avLst/>
          </a:prstGeom>
          <a:solidFill>
            <a:srgbClr val="1A0A0A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ARTERIES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0" y="1508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(Ophthalmic, Ant. Choroidal)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0" y="1828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0.589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229600" y="2423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Recall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0" y="27432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  Dice+CE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  clDice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46720" y="3657600"/>
            <a:ext cx="3840480" cy="256032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229600" y="374904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fossa: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0.626 vs 0.565 (Dice+CE)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Venous sinuses: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0.613 vs 0.416 (Dice+CE)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Distal branches: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0.752 vs 0.687 (Dice+CE)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CoW: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~0.82 (comparable)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5486400"/>
            <a:ext cx="7315200" cy="640080"/>
          </a:xfrm>
          <a:prstGeom prst="rect">
            <a:avLst/>
          </a:prstGeom>
          <a:solidFill>
            <a:srgbClr val="003D5B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553212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Recall finds vessels the others cannot — a qualitative, not merely quantitative, difference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Comparison — 3D Renderings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486400" cy="411480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9260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[SurgicalAR Screenshot]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5486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Dice+CE + TopBrain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09360" y="1280160"/>
            <a:ext cx="5486400" cy="411480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09360" y="29260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[SurgicalAR Screenshot]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09360" y="5486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Recall + TopBrain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patient  |  Same viewing angle  |  Same fine-tuning protocol  |  Different loss during pretraining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— What We Learned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86400" cy="274320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371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clDice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Aggregate 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0.864 | Betti-0 error 3.72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topological precision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disconnected fragments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429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overall segmentation quality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1280160"/>
            <a:ext cx="5486400" cy="274320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1371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Recall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75120" y="1783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Thin-Vessel Transfer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2194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Pcom: +5–7 pts | Small arteries: 0.589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0" y="2606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topological recall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3017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Over-segments (B0 error 26.84)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3429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finding every vessel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10972800" cy="2103120"/>
          </a:xfrm>
          <a:prstGeom prst="rect">
            <a:avLst/>
          </a:prstGeom>
          <a:solidFill>
            <a:srgbClr val="003D5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4754880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TopBrain fine-tuning drives comprehensive vessel coverage for all models.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 function used during pretraining shapes the quality of that transfer to the thinnest structures. Skeleton Recall's centerline-focused gradient signal creates feature representations that encode thin tubular geometry — a representational advantage that transfers when exposed to richer annotations.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856232"/>
            <a:ext cx="54864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28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Large-small vessel gap persists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&gt;0.33 DSC across all models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496312"/>
            <a:ext cx="54864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468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Recall over-fragments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Betti-0 error 26.84 needs post-processing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136392"/>
            <a:ext cx="54864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108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 window [0, 600]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Clips bone to same range as vessels → false positives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0" y="1856232"/>
            <a:ext cx="54864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HU window [0, 1500]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75120" y="2103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bone from vessels — highest-impact fix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2496312"/>
            <a:ext cx="54864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Class-balanced sampling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75120" y="2743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under-represented thin vessels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3136392"/>
            <a:ext cx="54864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component filtering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3383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small disconnected false positives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3776472"/>
            <a:ext cx="54864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on corrected labels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75120" y="4023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model-assisted labeled CTAs on RedBrick AI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54864" cy="36576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71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ablation on identical hardware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7830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loss functions, same 3D U-Net, same 8× A100 configuration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54864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3317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clDice = best aggregate model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743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0.864, lowest Betti-0 error 3.72, best topological precision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337560"/>
            <a:ext cx="54864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2918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Recall = best thin-vessel transfer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7033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+5–7 pts on Pcom, 0.589 on small arteries vs zero for alternatives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297680"/>
            <a:ext cx="54864" cy="36576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519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Topology-aware pretraining creates better representations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46634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 during pretraining shapes how well coverage transfers to thinnest structures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5257800"/>
            <a:ext cx="54864" cy="3657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52120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partially supported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56235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CoW improvement; dramatic effect on truly small vessels after transfer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6236208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large-vs-small vessel gap remains the central challenge — the arteries that matter most clinically are the hardest to find.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Samih Tharwat Amer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Whiting School of Engineering  |  Johns Hopkins University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for Vessel Segmentation in Cerebral CTA</dc:title>
  <dc:subject>PptxGenJS Presentation</dc:subject>
  <dc:creator>Samih Tharwat Amer</dc:creator>
  <cp:lastModifiedBy>Samih Tharwat Amer</cp:lastModifiedBy>
  <cp:revision>1</cp:revision>
  <dcterms:created xsi:type="dcterms:W3CDTF">2026-04-09T18:14:20Z</dcterms:created>
  <dcterms:modified xsi:type="dcterms:W3CDTF">2026-04-09T18:14:20Z</dcterms:modified>
</cp:coreProperties>
</file>