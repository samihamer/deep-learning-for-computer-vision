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18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97280" y="12801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Vessel Segmentation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Cerebral CTA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Ablation of Topology-Aware Loss Functions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Project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Cerebrovascular diseases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death and disability worldwide. Accurate vessel segmentation from CTA is essential for diagnosis and surgical planning.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(CoW)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arterial anastomotic ring at the brain's base. Provides collateral blood flow pathways critical during vascular occlusion.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arteries (Acom, Pcom)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(&lt;1 mm diameter) but clinically critical for aneurysm assessment and collateral flow. Most prone to segmentation failure.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29200" cy="438912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[Circle of Willis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Diagram]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arteries: 3-5 mm diameter  |  Communicating arteries: &lt;1 mm diameter  |  Clinical impact: inversely proportional to size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Topological Failures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Cross-Entropy loss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all voxels equally — no connectivity incentive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segmentation can have high Dice (0.87)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broken topology — severed vessels, fragments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metrics 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failures on thin communicating arteries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3931920"/>
            <a:ext cx="9875520" cy="2194560"/>
          </a:xfrm>
          <a:prstGeom prst="rect">
            <a:avLst/>
          </a:prstGeom>
          <a:solidFill>
            <a:srgbClr val="DBEAFE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4023360"/>
            <a:ext cx="9326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model missed a significant number of vessels in clinical 3D visualization, despite the validation DSC looking reasonable on paper."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DSC: 0.87   </a:t>
            </a: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 DSC: 0.42   L-ACA DSC: 0.46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TopCoW Challenge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2024 Challenge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anatomical segmentation of the Circle of Willis for CTA and MRA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CTA + 125 MRA volumes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voxel-level annotations for 13 vessel classes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from challenge: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top teams achieve good aggregate Dice while producing topologically incorrect segmentations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0352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54864" cy="6400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7208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Score (DSC)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395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overlap between prediction and ground truth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3063240"/>
            <a:ext cx="54864" cy="64008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208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Dice (clDice)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20840" y="3355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Skeleton-level overlap — topology agreement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023360"/>
            <a:ext cx="54864" cy="6400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2084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HD95 (mm)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208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Hausdorff distance — surface accuracy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4983480"/>
            <a:ext cx="54864" cy="6400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20840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5276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mismatch — topological correctness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State of the 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Backbone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Nat. Methods 2021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Self-configuring 3D U-Net. Established Dice+CE as standard. Dominant framework.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Revisited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MICCAI 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rigorous validation in 3D medical image segmentation.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8056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Topology-Preserving Losses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soft-skeletonization. First topology-preserving loss for tubular structures.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CPU-precomputed skeletons. Efficient centerline recall.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CBD-Loss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MICCAI 2024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centerline + boundary optimization.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371600"/>
            <a:ext cx="361188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321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Approaches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Homology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Berger, Stucki (MICCAI/ICML)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loss via persistence barcodes.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NexToU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2023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U-Net architecture.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U-Net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Rougé et al., PLOS ONE 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multi-task approach.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0080" y="60624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Existing evaluations confound loss function effects with architectural changes or aggregate-only challenge metrics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loss functions will disproportionately improve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of thin communicating arteries (Acom, Pcom)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overlap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default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2628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clDice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matching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91840"/>
            <a:ext cx="3566160" cy="19202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210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Skeleton Recall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recall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ablation: same architecture, same data, same hardware — only the loss function changes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TopCoW 2024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Challenge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94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with expert annotations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vessel classes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 (80/20)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4526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BA, ICA, MCA, PCA, ACA, Acom, Pcom, 3rd-A2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945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2025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Annotations — Same Scans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638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(same scans as TopCoW subset)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classes — 3× more coverage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6384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branches, posterior fossa, small arteries, venous sinuses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Binarized: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covers far more vasculature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9224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5212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transfer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3D U-Net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unet3d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188720"/>
            <a:ext cx="64008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1228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stages: 32 → 64 → 128 → 256 → 512 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210312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8122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Conv3D(3³) + InstanceNorm + LeakyReLU(α=0.01) + residual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274320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81228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Strided 2³ convolutions (learnable, no max-pool)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338328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8122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778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+ skip connections (concat)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0" y="402336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812280" y="4023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Supervision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7782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heads at each decoder level, weights: 1.0, 0.5, 0.25, 0.125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0" y="466344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1228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24.9M (Kaiming normal init)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303520"/>
            <a:ext cx="54864" cy="41148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12280" y="5303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77824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philosophy (Isensee et al., 2021)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31520" y="58064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3D U-Net?  Strongest controlled baseline — any performance difference attributable to the loss function, not the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Dice + Cross-Entropy (Baseline)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Dice Loss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1 −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∑ pᵢ · gᵢ + ε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(∑ pᵢ + ∑ gᵢ + ε)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= predicted probability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gᵢ = ground truth label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10⁻⁵ (numerical stability)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region-level overlap. Per-class computation (excluding background), then averaged.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0352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0" y="2011680"/>
            <a:ext cx="4572000" cy="10972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 ∑ gᵢ · log(pᵢ)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per-voxel classification loss. Provides sharp gradients for individual voxel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4114800"/>
            <a:ext cx="4572000" cy="73152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6656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L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solidFill>
            <a:srgbClr val="FE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Every voxel receives equal weight. A centerline voxel of a 1mm Pcom gets the same gradient as a surface voxel of the 5mm 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Soft Centerline Dice (clDice)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858000" cy="23774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6217920" cy="15544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skel(x) = ReLU(x − open(x))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Σ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k=1..K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ReLU(erode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 − open(erode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(x)))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erode(x) = −MaxPool3D(−x, k=3)    |    dilate(x) = MaxPool3D(x, k=3)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open(x) = dilate(erode(x))    |    K = 10 iterations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280160"/>
            <a:ext cx="3931920" cy="237744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Metrics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55280" y="1874520"/>
            <a:ext cx="3566160" cy="155448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1381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|skel(ŷ) · y| / |skel(ŷ)|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|ŷ · skel(y)| / |skel(y)|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2·T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(T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+T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Combined:  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(1 − α) ·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clDice)        </a:t>
            </a: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skeletons (centerlines) of both prediction and ground truth, then measures how well they overlap. Directly penalizes topological disconnection — if the prediction's centerline doesn't match the ground truth's centerline, the loss increases. Measures both precision (predicted skeleton inside GT) and sensitivity (GT skeleton covered by prediction).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Skeleton Recall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00" cy="2286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Loss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669280" cy="1005840"/>
          </a:xfrm>
          <a:prstGeom prst="rect">
            <a:avLst/>
          </a:prstGeom>
          <a:solidFill>
            <a:srgbClr val="E8EF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9728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(1−α) · L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</a:t>
            </a:r>
            <a:r>
              <a:rPr lang="en-US" sz="1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ŷ · skel(y) / ∑ skel(y)</a:t>
            </a: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skel(y) = precomputed binary skeleton (CPU, scikit-image)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predicted vessel probability map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4297680" cy="2286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clDice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precomputation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GPU-intensive iterative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measure prediction skeleton precision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skeleton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0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morphological thinning, not soft approximation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efficient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3337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~13% overhead vs baseline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3931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you find the core of every vessel?" Precomputes a 1-voxel-wide centerline of the ground truth, then asks how much of this skeleton the prediction covers. Focuses all gradient signal on centerline voxels — even at the cost of over-segmentation. The base Dice+CE handles false positives; Skeleton Recall ensures the thinnest structures aren't missed.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Loss Functions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760720"/>
          <a:ext cx="10424160" cy="640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Topology Signal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77B6"/>
                          </a:solidFill>
                        </a:rPr>
                        <a:t>Dice+CE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Fastest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No topology awareness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</a:rPr>
                        <a:t>+ clDice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Precision +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GPU-intensive (K=10 iters)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Best aggregate metrics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59669"/>
                          </a:solidFill>
                        </a:rPr>
                        <a:t>+ Skeleton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Recall only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CPU precompute (+13%)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Best thin-vessel detection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5A7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9047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NVIDIA A100-SXM4-40GB (AWS p4d.24xlarge)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3911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across all 8 GPUs — identical for all 3 models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(from-scratch)  |  150 (TopBrain fine-tuning)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 = 10⁻³, weight decay = 10⁻⁵)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8503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annealing + 10-epoch linear warmup (10⁻⁷ → 10⁻³ → 10⁻⁷)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23367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004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128³ voxel crops, 4 per volume, 33% foreground-centered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78231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0584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 GPU (32 effective)  |  Mixed precision (AMP)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20" y="533095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5303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epochs  |  Early stopping patience = 5 cycles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879592"/>
            <a:ext cx="54864" cy="32004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05840" y="5852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00400" y="5852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checkpoint, fresh optimizer, LR = 10⁻⁴, 5-epoch warmup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DBEA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training configuration identical across runs — controlled single-variable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731520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371600"/>
            <a:ext cx="3291840" cy="45720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0" y="1554480"/>
            <a:ext cx="2926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converge to similar regions: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loss: ~0.10–0.13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Dice: ~0.84–0.86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and Dice+CE are nearly identical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runs at slightly higher loss — expected from additional centerline penalty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convergence across all configurations. No NaN batches.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Results — From Scratch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glob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4300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wins aggregate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clDice 0.916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Betti-0 error: 3.72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48056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close behind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0.858 | clDice 0.907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error: 5.76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5212080"/>
            <a:ext cx="3474720" cy="13716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2960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aggregate (DSC 0.845)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B0 error: 26.84 (over-segments)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Results — The Vessel Gap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vesse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5029200" cy="5029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→ Pcom Improvement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R-Pcom: 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0.459 baseline  (+5 pts)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L-Pcom: 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0.479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0.410 baseline  (+7 pts)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Gap Analysis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383280"/>
          <a:ext cx="4572000" cy="1371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77B6"/>
                          </a:solidFill>
                        </a:rPr>
                        <a:t>Dice+CE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0.433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+ clDice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0.435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+ Skeleton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</a:rPr>
                        <a:t>0.798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</a:rPr>
                        <a:t>0.466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supported: modest but targeted improvement on communicating arteries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— The Big Result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3/topbra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0"/>
            <a:ext cx="77724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188720"/>
            <a:ext cx="3840480" cy="2286000"/>
          </a:xfrm>
          <a:prstGeom prst="rect">
            <a:avLst/>
          </a:prstGeom>
          <a:solidFill>
            <a:srgbClr val="FEF2F2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ARTERIES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1508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(Ophthalmic, Ant. Choroidal)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22960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27432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Dice+CE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clDice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3657600"/>
            <a:ext cx="3840480" cy="256032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229600" y="37490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fossa: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0.626 vs 0.565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sinuses: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 vs 0.416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 vs 0.687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CoW: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~0.82 (comparable)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7315200" cy="64008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553212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finds vessels the others cannot — a qualitative, not merely quantitative, difference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Comparison — 3D Renderings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Dice+CE + TopBrain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86400" cy="41148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0936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936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+ TopBrain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  |  Same viewing angle  |  Same fine-tuning protocol  |  Different loss during pretraining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— What We Learned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Aggregate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Betti-0 error 3.72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disconnected fragments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overall segmentation quality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5486400" cy="2743200"/>
          </a:xfrm>
          <a:prstGeom prst="rect">
            <a:avLst/>
          </a:prstGeom>
          <a:solidFill>
            <a:srgbClr val="EDF2F7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67512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Thin-Vessel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Pcom: +5–7 pts | Small arteries: 0.589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recall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Over-segments (B0 error 26.84)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finding every vessel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0972800" cy="2103120"/>
          </a:xfrm>
          <a:prstGeom prst="rect">
            <a:avLst/>
          </a:prstGeom>
          <a:solidFill>
            <a:srgbClr val="1E3A5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drives comprehensive vessel coverage for all models.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function used during pretraining shapes the quality of that transfer to the thinnest structures. Skeleton Recall's centerline-focused gradient signal creates feature representations that encode thin tubular geometry — a representational advantage that transfers when exposed to richer annotations.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Large-small vessel gap persists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&gt;0.33 DSC across all models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9631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over-fragments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 26.84 needs post-processing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window [0, 600]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bone to same range as vessels → false positives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85623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HU window [0, 1500]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bone from vessels — highest-impact fix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49631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under-represented thin vessels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13639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751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filtering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small disconnected false positives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776472"/>
            <a:ext cx="54864" cy="320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corrected labels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model-assisted labeled CTAs on RedBrick 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4864" cy="3657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 on identical 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loss functions, same 3D U-Net, same 8× A100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4864" cy="3657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best aggregate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0.864, lowest Betti-0 error 3.72, best topological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4864" cy="3657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05840" y="3291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= best thin-vessel transfer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033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+5–7 pts on Pcom, 0.589 on small arteries vs zero for alternatives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" y="4251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pretraining creates better representations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during pretraining shapes how well coverage transfers to thinnest structures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57800"/>
            <a:ext cx="54864" cy="365760"/>
          </a:xfrm>
          <a:prstGeom prst="rect">
            <a:avLst/>
          </a:prstGeom>
          <a:solidFill>
            <a:srgbClr val="B886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0584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CoW improvement; dramatic effect on truly small vessels after transfer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FFFB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large-vs-small vessel gap remains the central challenge — the arteries that matter most clinically are the hardest to find.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77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2070</Words>
  <Application>Microsoft Macintosh PowerPoint</Application>
  <PresentationFormat>Widescreen</PresentationFormat>
  <Paragraphs>370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for Vessel Segmentation in Cerebral CTA</dc:title>
  <dc:subject>PptxGenJS Presentation</dc:subject>
  <dc:creator>Samih Tharwat Amer</dc:creator>
  <cp:lastModifiedBy>Samih Amer</cp:lastModifiedBy>
  <cp:revision>1</cp:revision>
  <dcterms:created xsi:type="dcterms:W3CDTF">2026-04-09T20:10:58Z</dcterms:created>
  <dcterms:modified xsi:type="dcterms:W3CDTF">2026-04-09T20:19:50Z</dcterms:modified>
</cp:coreProperties>
</file>