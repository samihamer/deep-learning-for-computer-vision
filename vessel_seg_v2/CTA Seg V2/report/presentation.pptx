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4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7A3485-432A-4383-968A-04B2E7E9766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20C21D-FBA7-47BA-8A88-1ADA05E36BB4}">
      <dgm:prSet/>
      <dgm:spPr/>
      <dgm:t>
        <a:bodyPr/>
        <a:lstStyle/>
        <a:p>
          <a:r>
            <a:rPr lang="en-US" b="1"/>
            <a:t>Cerebrovascular diseases</a:t>
          </a:r>
          <a:r>
            <a:rPr lang="en-US"/>
            <a:t> are a leading cause of death and disability worldwide</a:t>
          </a:r>
        </a:p>
      </dgm:t>
    </dgm:pt>
    <dgm:pt modelId="{9D49B223-2450-469E-98C1-F86DC73A48F5}" type="parTrans" cxnId="{2FFAFB65-C7B9-40CE-8468-4D9A681789B8}">
      <dgm:prSet/>
      <dgm:spPr/>
      <dgm:t>
        <a:bodyPr/>
        <a:lstStyle/>
        <a:p>
          <a:endParaRPr lang="en-US"/>
        </a:p>
      </dgm:t>
    </dgm:pt>
    <dgm:pt modelId="{93A68F4D-2DFA-4C7C-9217-77E504A55F08}" type="sibTrans" cxnId="{2FFAFB65-C7B9-40CE-8468-4D9A681789B8}">
      <dgm:prSet/>
      <dgm:spPr/>
      <dgm:t>
        <a:bodyPr/>
        <a:lstStyle/>
        <a:p>
          <a:endParaRPr lang="en-US"/>
        </a:p>
      </dgm:t>
    </dgm:pt>
    <dgm:pt modelId="{E5ACB788-4DB9-4E4B-A87C-46149D60D9A0}">
      <dgm:prSet/>
      <dgm:spPr/>
      <dgm:t>
        <a:bodyPr/>
        <a:lstStyle/>
        <a:p>
          <a:r>
            <a:rPr lang="en-US" b="1"/>
            <a:t>Vessel segmentation</a:t>
          </a:r>
          <a:r>
            <a:rPr lang="en-US"/>
            <a:t> from CTA is essential for diagnosis, surgical navigation, and treatment planning</a:t>
          </a:r>
        </a:p>
      </dgm:t>
    </dgm:pt>
    <dgm:pt modelId="{49AF79A2-95F6-4C86-9AEB-6618371D5C6F}" type="parTrans" cxnId="{8EE3D787-E0CE-4588-A477-645790D18275}">
      <dgm:prSet/>
      <dgm:spPr/>
      <dgm:t>
        <a:bodyPr/>
        <a:lstStyle/>
        <a:p>
          <a:endParaRPr lang="en-US"/>
        </a:p>
      </dgm:t>
    </dgm:pt>
    <dgm:pt modelId="{2DA3E2FD-72FD-47CE-AA13-3D8F4660D880}" type="sibTrans" cxnId="{8EE3D787-E0CE-4588-A477-645790D18275}">
      <dgm:prSet/>
      <dgm:spPr/>
      <dgm:t>
        <a:bodyPr/>
        <a:lstStyle/>
        <a:p>
          <a:endParaRPr lang="en-US"/>
        </a:p>
      </dgm:t>
    </dgm:pt>
    <dgm:pt modelId="{8053AA59-7FEE-40AF-A898-7725317A33EA}">
      <dgm:prSet/>
      <dgm:spPr/>
      <dgm:t>
        <a:bodyPr/>
        <a:lstStyle/>
        <a:p>
          <a:r>
            <a:rPr lang="en-US" b="1"/>
            <a:t>Circle of Willis (CoW)</a:t>
          </a:r>
          <a:r>
            <a:rPr lang="en-US"/>
            <a:t> — the arterial ring at the brain's base — provides collateral blood flow</a:t>
          </a:r>
        </a:p>
      </dgm:t>
    </dgm:pt>
    <dgm:pt modelId="{55263F3B-C416-4D8F-A643-C6486004D8EF}" type="parTrans" cxnId="{D8E89FE8-038C-4741-B0F1-35DC29A51994}">
      <dgm:prSet/>
      <dgm:spPr/>
      <dgm:t>
        <a:bodyPr/>
        <a:lstStyle/>
        <a:p>
          <a:endParaRPr lang="en-US"/>
        </a:p>
      </dgm:t>
    </dgm:pt>
    <dgm:pt modelId="{895150FE-14C4-4B33-92A7-2510E8638D18}" type="sibTrans" cxnId="{D8E89FE8-038C-4741-B0F1-35DC29A51994}">
      <dgm:prSet/>
      <dgm:spPr/>
      <dgm:t>
        <a:bodyPr/>
        <a:lstStyle/>
        <a:p>
          <a:endParaRPr lang="en-US"/>
        </a:p>
      </dgm:t>
    </dgm:pt>
    <dgm:pt modelId="{1DE497E4-7420-4506-9C78-9EE617CAA70E}">
      <dgm:prSet/>
      <dgm:spPr/>
      <dgm:t>
        <a:bodyPr/>
        <a:lstStyle/>
        <a:p>
          <a:r>
            <a:rPr lang="en-US" b="1"/>
            <a:t>Communicating arteries</a:t>
          </a:r>
          <a:r>
            <a:rPr lang="en-US"/>
            <a:t> (Acom, Pcom) are thin but clinically critical for aneurysm assessment</a:t>
          </a:r>
        </a:p>
      </dgm:t>
    </dgm:pt>
    <dgm:pt modelId="{24FF8B57-4BDD-44C8-967D-930E8CDA172F}" type="parTrans" cxnId="{9975D7ED-BFEB-4364-999F-C01F30B03A9C}">
      <dgm:prSet/>
      <dgm:spPr/>
      <dgm:t>
        <a:bodyPr/>
        <a:lstStyle/>
        <a:p>
          <a:endParaRPr lang="en-US"/>
        </a:p>
      </dgm:t>
    </dgm:pt>
    <dgm:pt modelId="{D5BD0E5B-69B0-4A20-9BC4-9AE0375DDC8E}" type="sibTrans" cxnId="{9975D7ED-BFEB-4364-999F-C01F30B03A9C}">
      <dgm:prSet/>
      <dgm:spPr/>
      <dgm:t>
        <a:bodyPr/>
        <a:lstStyle/>
        <a:p>
          <a:endParaRPr lang="en-US"/>
        </a:p>
      </dgm:t>
    </dgm:pt>
    <dgm:pt modelId="{ACCF0CF2-FB82-4333-9D87-9F6A7136C33D}" type="pres">
      <dgm:prSet presAssocID="{E87A3485-432A-4383-968A-04B2E7E9766E}" presName="outerComposite" presStyleCnt="0">
        <dgm:presLayoutVars>
          <dgm:chMax val="5"/>
          <dgm:dir/>
          <dgm:resizeHandles val="exact"/>
        </dgm:presLayoutVars>
      </dgm:prSet>
      <dgm:spPr/>
    </dgm:pt>
    <dgm:pt modelId="{1D0D14BA-82B1-4C63-A79B-B0FD6D49CE03}" type="pres">
      <dgm:prSet presAssocID="{E87A3485-432A-4383-968A-04B2E7E9766E}" presName="dummyMaxCanvas" presStyleCnt="0">
        <dgm:presLayoutVars/>
      </dgm:prSet>
      <dgm:spPr/>
    </dgm:pt>
    <dgm:pt modelId="{43D44C16-B84E-474D-A080-71D60D0FD2E4}" type="pres">
      <dgm:prSet presAssocID="{E87A3485-432A-4383-968A-04B2E7E9766E}" presName="FourNodes_1" presStyleLbl="node1" presStyleIdx="0" presStyleCnt="4">
        <dgm:presLayoutVars>
          <dgm:bulletEnabled val="1"/>
        </dgm:presLayoutVars>
      </dgm:prSet>
      <dgm:spPr/>
    </dgm:pt>
    <dgm:pt modelId="{48AEA2A1-E7E4-4BB5-9B6C-729A9AEDC39D}" type="pres">
      <dgm:prSet presAssocID="{E87A3485-432A-4383-968A-04B2E7E9766E}" presName="FourNodes_2" presStyleLbl="node1" presStyleIdx="1" presStyleCnt="4">
        <dgm:presLayoutVars>
          <dgm:bulletEnabled val="1"/>
        </dgm:presLayoutVars>
      </dgm:prSet>
      <dgm:spPr/>
    </dgm:pt>
    <dgm:pt modelId="{BDC9DE78-F275-4B4A-BD1C-CAB591F0339B}" type="pres">
      <dgm:prSet presAssocID="{E87A3485-432A-4383-968A-04B2E7E9766E}" presName="FourNodes_3" presStyleLbl="node1" presStyleIdx="2" presStyleCnt="4">
        <dgm:presLayoutVars>
          <dgm:bulletEnabled val="1"/>
        </dgm:presLayoutVars>
      </dgm:prSet>
      <dgm:spPr/>
    </dgm:pt>
    <dgm:pt modelId="{C77CC356-279A-42AF-801C-85178DF00C10}" type="pres">
      <dgm:prSet presAssocID="{E87A3485-432A-4383-968A-04B2E7E9766E}" presName="FourNodes_4" presStyleLbl="node1" presStyleIdx="3" presStyleCnt="4">
        <dgm:presLayoutVars>
          <dgm:bulletEnabled val="1"/>
        </dgm:presLayoutVars>
      </dgm:prSet>
      <dgm:spPr/>
    </dgm:pt>
    <dgm:pt modelId="{66488A6E-9A29-4EF7-900F-6520F586EE18}" type="pres">
      <dgm:prSet presAssocID="{E87A3485-432A-4383-968A-04B2E7E9766E}" presName="FourConn_1-2" presStyleLbl="fgAccFollowNode1" presStyleIdx="0" presStyleCnt="3">
        <dgm:presLayoutVars>
          <dgm:bulletEnabled val="1"/>
        </dgm:presLayoutVars>
      </dgm:prSet>
      <dgm:spPr/>
    </dgm:pt>
    <dgm:pt modelId="{5A6E8F07-DBEA-473B-A92E-8BC8AD2A4A5D}" type="pres">
      <dgm:prSet presAssocID="{E87A3485-432A-4383-968A-04B2E7E9766E}" presName="FourConn_2-3" presStyleLbl="fgAccFollowNode1" presStyleIdx="1" presStyleCnt="3">
        <dgm:presLayoutVars>
          <dgm:bulletEnabled val="1"/>
        </dgm:presLayoutVars>
      </dgm:prSet>
      <dgm:spPr/>
    </dgm:pt>
    <dgm:pt modelId="{DE1D47FA-9008-4D1A-A430-93535C979A47}" type="pres">
      <dgm:prSet presAssocID="{E87A3485-432A-4383-968A-04B2E7E9766E}" presName="FourConn_3-4" presStyleLbl="fgAccFollowNode1" presStyleIdx="2" presStyleCnt="3">
        <dgm:presLayoutVars>
          <dgm:bulletEnabled val="1"/>
        </dgm:presLayoutVars>
      </dgm:prSet>
      <dgm:spPr/>
    </dgm:pt>
    <dgm:pt modelId="{47940283-A777-4671-A1BE-0D39795BB851}" type="pres">
      <dgm:prSet presAssocID="{E87A3485-432A-4383-968A-04B2E7E9766E}" presName="FourNodes_1_text" presStyleLbl="node1" presStyleIdx="3" presStyleCnt="4">
        <dgm:presLayoutVars>
          <dgm:bulletEnabled val="1"/>
        </dgm:presLayoutVars>
      </dgm:prSet>
      <dgm:spPr/>
    </dgm:pt>
    <dgm:pt modelId="{3F2C2BE3-AB64-4B3F-9D4D-1C04503CD3D0}" type="pres">
      <dgm:prSet presAssocID="{E87A3485-432A-4383-968A-04B2E7E9766E}" presName="FourNodes_2_text" presStyleLbl="node1" presStyleIdx="3" presStyleCnt="4">
        <dgm:presLayoutVars>
          <dgm:bulletEnabled val="1"/>
        </dgm:presLayoutVars>
      </dgm:prSet>
      <dgm:spPr/>
    </dgm:pt>
    <dgm:pt modelId="{7EFBC88B-B297-47C5-87D2-E2245772F830}" type="pres">
      <dgm:prSet presAssocID="{E87A3485-432A-4383-968A-04B2E7E9766E}" presName="FourNodes_3_text" presStyleLbl="node1" presStyleIdx="3" presStyleCnt="4">
        <dgm:presLayoutVars>
          <dgm:bulletEnabled val="1"/>
        </dgm:presLayoutVars>
      </dgm:prSet>
      <dgm:spPr/>
    </dgm:pt>
    <dgm:pt modelId="{7F586EB6-DC92-491F-AB18-BCF310EC0300}" type="pres">
      <dgm:prSet presAssocID="{E87A3485-432A-4383-968A-04B2E7E9766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152B617-C431-4E31-95AB-1642D1C18F57}" type="presOf" srcId="{3720C21D-FBA7-47BA-8A88-1ADA05E36BB4}" destId="{47940283-A777-4671-A1BE-0D39795BB851}" srcOrd="1" destOrd="0" presId="urn:microsoft.com/office/officeart/2005/8/layout/vProcess5"/>
    <dgm:cxn modelId="{3DFAF52F-FDE6-4D72-9016-47BB9105D610}" type="presOf" srcId="{1DE497E4-7420-4506-9C78-9EE617CAA70E}" destId="{C77CC356-279A-42AF-801C-85178DF00C10}" srcOrd="0" destOrd="0" presId="urn:microsoft.com/office/officeart/2005/8/layout/vProcess5"/>
    <dgm:cxn modelId="{76CC5F60-7138-4B1A-B5B6-455B7686F3CF}" type="presOf" srcId="{E5ACB788-4DB9-4E4B-A87C-46149D60D9A0}" destId="{3F2C2BE3-AB64-4B3F-9D4D-1C04503CD3D0}" srcOrd="1" destOrd="0" presId="urn:microsoft.com/office/officeart/2005/8/layout/vProcess5"/>
    <dgm:cxn modelId="{103E7B61-97F9-451C-BD1A-20FDB0CD34E2}" type="presOf" srcId="{1DE497E4-7420-4506-9C78-9EE617CAA70E}" destId="{7F586EB6-DC92-491F-AB18-BCF310EC0300}" srcOrd="1" destOrd="0" presId="urn:microsoft.com/office/officeart/2005/8/layout/vProcess5"/>
    <dgm:cxn modelId="{2FFAFB65-C7B9-40CE-8468-4D9A681789B8}" srcId="{E87A3485-432A-4383-968A-04B2E7E9766E}" destId="{3720C21D-FBA7-47BA-8A88-1ADA05E36BB4}" srcOrd="0" destOrd="0" parTransId="{9D49B223-2450-469E-98C1-F86DC73A48F5}" sibTransId="{93A68F4D-2DFA-4C7C-9217-77E504A55F08}"/>
    <dgm:cxn modelId="{40FD6D68-6D66-4A1D-B06A-824A400AC0F1}" type="presOf" srcId="{E5ACB788-4DB9-4E4B-A87C-46149D60D9A0}" destId="{48AEA2A1-E7E4-4BB5-9B6C-729A9AEDC39D}" srcOrd="0" destOrd="0" presId="urn:microsoft.com/office/officeart/2005/8/layout/vProcess5"/>
    <dgm:cxn modelId="{B8F17E7D-9B80-44FF-A65F-3201DF5CF94D}" type="presOf" srcId="{8053AA59-7FEE-40AF-A898-7725317A33EA}" destId="{7EFBC88B-B297-47C5-87D2-E2245772F830}" srcOrd="1" destOrd="0" presId="urn:microsoft.com/office/officeart/2005/8/layout/vProcess5"/>
    <dgm:cxn modelId="{8EE3D787-E0CE-4588-A477-645790D18275}" srcId="{E87A3485-432A-4383-968A-04B2E7E9766E}" destId="{E5ACB788-4DB9-4E4B-A87C-46149D60D9A0}" srcOrd="1" destOrd="0" parTransId="{49AF79A2-95F6-4C86-9AEB-6618371D5C6F}" sibTransId="{2DA3E2FD-72FD-47CE-AA13-3D8F4660D880}"/>
    <dgm:cxn modelId="{7DD3BEA3-1823-4CD3-804B-7D14AB56083C}" type="presOf" srcId="{93A68F4D-2DFA-4C7C-9217-77E504A55F08}" destId="{66488A6E-9A29-4EF7-900F-6520F586EE18}" srcOrd="0" destOrd="0" presId="urn:microsoft.com/office/officeart/2005/8/layout/vProcess5"/>
    <dgm:cxn modelId="{A73D2CB3-FD40-4EBB-A1EB-F361810BA8DB}" type="presOf" srcId="{3720C21D-FBA7-47BA-8A88-1ADA05E36BB4}" destId="{43D44C16-B84E-474D-A080-71D60D0FD2E4}" srcOrd="0" destOrd="0" presId="urn:microsoft.com/office/officeart/2005/8/layout/vProcess5"/>
    <dgm:cxn modelId="{FD553AC1-B375-4AE6-9A20-A1ED3127C955}" type="presOf" srcId="{895150FE-14C4-4B33-92A7-2510E8638D18}" destId="{DE1D47FA-9008-4D1A-A430-93535C979A47}" srcOrd="0" destOrd="0" presId="urn:microsoft.com/office/officeart/2005/8/layout/vProcess5"/>
    <dgm:cxn modelId="{7EEDE8D3-A6F6-4919-9843-E50BEC48E476}" type="presOf" srcId="{8053AA59-7FEE-40AF-A898-7725317A33EA}" destId="{BDC9DE78-F275-4B4A-BD1C-CAB591F0339B}" srcOrd="0" destOrd="0" presId="urn:microsoft.com/office/officeart/2005/8/layout/vProcess5"/>
    <dgm:cxn modelId="{820493D6-3AFF-4850-9B3E-F95C259343D6}" type="presOf" srcId="{E87A3485-432A-4383-968A-04B2E7E9766E}" destId="{ACCF0CF2-FB82-4333-9D87-9F6A7136C33D}" srcOrd="0" destOrd="0" presId="urn:microsoft.com/office/officeart/2005/8/layout/vProcess5"/>
    <dgm:cxn modelId="{D8E89FE8-038C-4741-B0F1-35DC29A51994}" srcId="{E87A3485-432A-4383-968A-04B2E7E9766E}" destId="{8053AA59-7FEE-40AF-A898-7725317A33EA}" srcOrd="2" destOrd="0" parTransId="{55263F3B-C416-4D8F-A643-C6486004D8EF}" sibTransId="{895150FE-14C4-4B33-92A7-2510E8638D18}"/>
    <dgm:cxn modelId="{9975D7ED-BFEB-4364-999F-C01F30B03A9C}" srcId="{E87A3485-432A-4383-968A-04B2E7E9766E}" destId="{1DE497E4-7420-4506-9C78-9EE617CAA70E}" srcOrd="3" destOrd="0" parTransId="{24FF8B57-4BDD-44C8-967D-930E8CDA172F}" sibTransId="{D5BD0E5B-69B0-4A20-9BC4-9AE0375DDC8E}"/>
    <dgm:cxn modelId="{9CD10BFA-39C0-4467-940A-6512BF675C8D}" type="presOf" srcId="{2DA3E2FD-72FD-47CE-AA13-3D8F4660D880}" destId="{5A6E8F07-DBEA-473B-A92E-8BC8AD2A4A5D}" srcOrd="0" destOrd="0" presId="urn:microsoft.com/office/officeart/2005/8/layout/vProcess5"/>
    <dgm:cxn modelId="{F0B3FCA5-5420-4C29-B11A-E098407704DB}" type="presParOf" srcId="{ACCF0CF2-FB82-4333-9D87-9F6A7136C33D}" destId="{1D0D14BA-82B1-4C63-A79B-B0FD6D49CE03}" srcOrd="0" destOrd="0" presId="urn:microsoft.com/office/officeart/2005/8/layout/vProcess5"/>
    <dgm:cxn modelId="{8A9ED9A7-F815-4242-8FD4-234FC500E8D6}" type="presParOf" srcId="{ACCF0CF2-FB82-4333-9D87-9F6A7136C33D}" destId="{43D44C16-B84E-474D-A080-71D60D0FD2E4}" srcOrd="1" destOrd="0" presId="urn:microsoft.com/office/officeart/2005/8/layout/vProcess5"/>
    <dgm:cxn modelId="{AFCB4FF9-E702-4B8F-ABFB-4040512EB73A}" type="presParOf" srcId="{ACCF0CF2-FB82-4333-9D87-9F6A7136C33D}" destId="{48AEA2A1-E7E4-4BB5-9B6C-729A9AEDC39D}" srcOrd="2" destOrd="0" presId="urn:microsoft.com/office/officeart/2005/8/layout/vProcess5"/>
    <dgm:cxn modelId="{46214147-18F9-4407-A8B6-554E28773E8F}" type="presParOf" srcId="{ACCF0CF2-FB82-4333-9D87-9F6A7136C33D}" destId="{BDC9DE78-F275-4B4A-BD1C-CAB591F0339B}" srcOrd="3" destOrd="0" presId="urn:microsoft.com/office/officeart/2005/8/layout/vProcess5"/>
    <dgm:cxn modelId="{1A54C036-0436-410B-A16D-A03CCB1C2662}" type="presParOf" srcId="{ACCF0CF2-FB82-4333-9D87-9F6A7136C33D}" destId="{C77CC356-279A-42AF-801C-85178DF00C10}" srcOrd="4" destOrd="0" presId="urn:microsoft.com/office/officeart/2005/8/layout/vProcess5"/>
    <dgm:cxn modelId="{2C64C749-A79D-4E4F-96DC-8374CC17ABE6}" type="presParOf" srcId="{ACCF0CF2-FB82-4333-9D87-9F6A7136C33D}" destId="{66488A6E-9A29-4EF7-900F-6520F586EE18}" srcOrd="5" destOrd="0" presId="urn:microsoft.com/office/officeart/2005/8/layout/vProcess5"/>
    <dgm:cxn modelId="{272695BD-D7C0-44FE-BB39-2633043D221C}" type="presParOf" srcId="{ACCF0CF2-FB82-4333-9D87-9F6A7136C33D}" destId="{5A6E8F07-DBEA-473B-A92E-8BC8AD2A4A5D}" srcOrd="6" destOrd="0" presId="urn:microsoft.com/office/officeart/2005/8/layout/vProcess5"/>
    <dgm:cxn modelId="{9D639CBA-2807-4B24-BA7F-F55424A37B10}" type="presParOf" srcId="{ACCF0CF2-FB82-4333-9D87-9F6A7136C33D}" destId="{DE1D47FA-9008-4D1A-A430-93535C979A47}" srcOrd="7" destOrd="0" presId="urn:microsoft.com/office/officeart/2005/8/layout/vProcess5"/>
    <dgm:cxn modelId="{DFB6B564-FA04-48DF-AD3A-9EF6B3350A3C}" type="presParOf" srcId="{ACCF0CF2-FB82-4333-9D87-9F6A7136C33D}" destId="{47940283-A777-4671-A1BE-0D39795BB851}" srcOrd="8" destOrd="0" presId="urn:microsoft.com/office/officeart/2005/8/layout/vProcess5"/>
    <dgm:cxn modelId="{A441BFDB-DCFF-4B79-9588-7AB663BE0890}" type="presParOf" srcId="{ACCF0CF2-FB82-4333-9D87-9F6A7136C33D}" destId="{3F2C2BE3-AB64-4B3F-9D4D-1C04503CD3D0}" srcOrd="9" destOrd="0" presId="urn:microsoft.com/office/officeart/2005/8/layout/vProcess5"/>
    <dgm:cxn modelId="{0D5EEE7D-FFD9-400E-8E76-8BE1237D530A}" type="presParOf" srcId="{ACCF0CF2-FB82-4333-9D87-9F6A7136C33D}" destId="{7EFBC88B-B297-47C5-87D2-E2245772F830}" srcOrd="10" destOrd="0" presId="urn:microsoft.com/office/officeart/2005/8/layout/vProcess5"/>
    <dgm:cxn modelId="{073F076A-492F-42B9-932A-665EC2229358}" type="presParOf" srcId="{ACCF0CF2-FB82-4333-9D87-9F6A7136C33D}" destId="{7F586EB6-DC92-491F-AB18-BCF310EC030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44C16-B84E-474D-A080-71D60D0FD2E4}">
      <dsp:nvSpPr>
        <dsp:cNvPr id="0" name=""/>
        <dsp:cNvSpPr/>
      </dsp:nvSpPr>
      <dsp:spPr>
        <a:xfrm>
          <a:off x="0" y="0"/>
          <a:ext cx="4023360" cy="905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Cerebrovascular diseases</a:t>
          </a:r>
          <a:r>
            <a:rPr lang="en-US" sz="1600" kern="1200"/>
            <a:t> are a leading cause of death and disability worldwide</a:t>
          </a:r>
        </a:p>
      </dsp:txBody>
      <dsp:txXfrm>
        <a:off x="26514" y="26514"/>
        <a:ext cx="2970024" cy="852228"/>
      </dsp:txXfrm>
    </dsp:sp>
    <dsp:sp modelId="{48AEA2A1-E7E4-4BB5-9B6C-729A9AEDC39D}">
      <dsp:nvSpPr>
        <dsp:cNvPr id="0" name=""/>
        <dsp:cNvSpPr/>
      </dsp:nvSpPr>
      <dsp:spPr>
        <a:xfrm>
          <a:off x="336956" y="1069848"/>
          <a:ext cx="4023360" cy="905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Vessel segmentation</a:t>
          </a:r>
          <a:r>
            <a:rPr lang="en-US" sz="1600" kern="1200"/>
            <a:t> from CTA is essential for diagnosis, surgical navigation, and treatment planning</a:t>
          </a:r>
        </a:p>
      </dsp:txBody>
      <dsp:txXfrm>
        <a:off x="363470" y="1096362"/>
        <a:ext cx="3044959" cy="852228"/>
      </dsp:txXfrm>
    </dsp:sp>
    <dsp:sp modelId="{BDC9DE78-F275-4B4A-BD1C-CAB591F0339B}">
      <dsp:nvSpPr>
        <dsp:cNvPr id="0" name=""/>
        <dsp:cNvSpPr/>
      </dsp:nvSpPr>
      <dsp:spPr>
        <a:xfrm>
          <a:off x="668883" y="2139696"/>
          <a:ext cx="4023360" cy="905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Circle of Willis (CoW)</a:t>
          </a:r>
          <a:r>
            <a:rPr lang="en-US" sz="1600" kern="1200"/>
            <a:t> — the arterial ring at the brain's base — provides collateral blood flow</a:t>
          </a:r>
        </a:p>
      </dsp:txBody>
      <dsp:txXfrm>
        <a:off x="695397" y="2166210"/>
        <a:ext cx="3049988" cy="852228"/>
      </dsp:txXfrm>
    </dsp:sp>
    <dsp:sp modelId="{C77CC356-279A-42AF-801C-85178DF00C10}">
      <dsp:nvSpPr>
        <dsp:cNvPr id="0" name=""/>
        <dsp:cNvSpPr/>
      </dsp:nvSpPr>
      <dsp:spPr>
        <a:xfrm>
          <a:off x="1005840" y="3209544"/>
          <a:ext cx="4023360" cy="905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Communicating arteries</a:t>
          </a:r>
          <a:r>
            <a:rPr lang="en-US" sz="1600" kern="1200"/>
            <a:t> (Acom, Pcom) are thin but clinically critical for aneurysm assessment</a:t>
          </a:r>
        </a:p>
      </dsp:txBody>
      <dsp:txXfrm>
        <a:off x="1032354" y="3236058"/>
        <a:ext cx="3044959" cy="852228"/>
      </dsp:txXfrm>
    </dsp:sp>
    <dsp:sp modelId="{66488A6E-9A29-4EF7-900F-6520F586EE18}">
      <dsp:nvSpPr>
        <dsp:cNvPr id="0" name=""/>
        <dsp:cNvSpPr/>
      </dsp:nvSpPr>
      <dsp:spPr>
        <a:xfrm>
          <a:off x="3434943" y="693343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567337" y="693343"/>
        <a:ext cx="323628" cy="442783"/>
      </dsp:txXfrm>
    </dsp:sp>
    <dsp:sp modelId="{5A6E8F07-DBEA-473B-A92E-8BC8AD2A4A5D}">
      <dsp:nvSpPr>
        <dsp:cNvPr id="0" name=""/>
        <dsp:cNvSpPr/>
      </dsp:nvSpPr>
      <dsp:spPr>
        <a:xfrm>
          <a:off x="3771899" y="1763191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904293" y="1763191"/>
        <a:ext cx="323628" cy="442783"/>
      </dsp:txXfrm>
    </dsp:sp>
    <dsp:sp modelId="{DE1D47FA-9008-4D1A-A430-93535C979A47}">
      <dsp:nvSpPr>
        <dsp:cNvPr id="0" name=""/>
        <dsp:cNvSpPr/>
      </dsp:nvSpPr>
      <dsp:spPr>
        <a:xfrm>
          <a:off x="4103827" y="2833039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236221" y="2833039"/>
        <a:ext cx="323628" cy="442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Deep Learning for Vessel Segmentation</a:t>
            </a:r>
            <a:br/>
            <a:r>
              <a:t>in Cerebral 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C7"/>
                </a:solidFill>
                <a:latin typeface="Calibri"/>
              </a:defRPr>
            </a:pPr>
            <a:r>
              <a:t>A Controlled Ablation of Topology-Aware Loss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Samih Tharwat 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A0"/>
                </a:solidFill>
                <a:latin typeface="Calibri"/>
              </a:defRPr>
            </a:pPr>
            <a:r>
              <a:t>Whiting School of Engineering  |  Johns Hopkins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Midterm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Clinical Motivation</a:t>
            </a:r>
          </a:p>
        </p:txBody>
      </p:sp>
      <p:pic>
        <p:nvPicPr>
          <p:cNvPr id="6" name="Picture 5" descr="Screenshot 2026-04-08 221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3306425"/>
          </a:xfrm>
          <a:prstGeom prst="rect">
            <a:avLst/>
          </a:prstGeom>
        </p:spPr>
      </p:pic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BC0F9879-E8E1-0143-64E1-C40C846F6B82}"/>
              </a:ext>
            </a:extLst>
          </p:cNvPr>
          <p:cNvGraphicFramePr/>
          <p:nvPr/>
        </p:nvGraphicFramePr>
        <p:xfrm>
          <a:off x="640080" y="1554480"/>
          <a:ext cx="5029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Topological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96C7"/>
                </a:solidFill>
                <a:latin typeface="Calibri"/>
              </a:rPr>
              <a:t>Dice + Cross-Entropy loss</a:t>
            </a:r>
            <a:r>
              <a:rPr sz="1800">
                <a:solidFill>
                  <a:srgbClr val="FFFFFF"/>
                </a:solidFill>
                <a:latin typeface="Calibri"/>
              </a:rPr>
              <a:t> treats all voxels equally — no connectivity incentive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096C7"/>
                </a:solidFill>
                <a:latin typeface="Calibri"/>
              </a:rPr>
              <a:t>A segmentation</a:t>
            </a:r>
            <a:r>
              <a:rPr sz="1800">
                <a:solidFill>
                  <a:srgbClr val="FFFFFF"/>
                </a:solidFill>
                <a:latin typeface="Calibri"/>
              </a:rPr>
              <a:t> can have high Dice (0.87) but broken topology — severed vessels, fragments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096C7"/>
                </a:solidFill>
                <a:latin typeface="Calibri"/>
              </a:rPr>
              <a:t>Aggregate metrics</a:t>
            </a:r>
            <a:r>
              <a:rPr sz="1800">
                <a:solidFill>
                  <a:srgbClr val="FFFFFF"/>
                </a:solidFill>
                <a:latin typeface="Calibri"/>
              </a:rPr>
              <a:t> hide failures on thin communicating arteries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9144000" cy="2011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  <a:latin typeface="Calibri"/>
              </a:defRPr>
            </a:pPr>
            <a:r>
              <a:t>"The model missed a significant number of vessels in clinical use,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  <a:latin typeface="Calibri"/>
              </a:defRPr>
            </a:pPr>
            <a:r>
              <a:t>despite the validation DSC looking reasonable on paper."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40"/>
                </a:solidFill>
                <a:latin typeface="Calibri"/>
              </a:defRPr>
            </a:pPr>
            <a:r>
              <a:t>Global DSC 0.87  —  but R-Pcom DSC 0.42, L-ACA DSC 0.46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Hypothesis &amp;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515600" cy="1371600"/>
          </a:xfrm>
          <a:prstGeom prst="rect">
            <a:avLst/>
          </a:prstGeom>
          <a:solidFill>
            <a:srgbClr val="00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Topology-aware loss functions will disproportionately improve</a:t>
            </a:r>
            <a:br/>
            <a:r>
              <a:t>segmentation of thin communicating arteries (Acom, Pcom)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347472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0A0"/>
                </a:solidFill>
                <a:latin typeface="Calibri"/>
              </a:defRPr>
            </a:pPr>
            <a:r>
              <a:t>Config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Calibri"/>
              </a:defRPr>
            </a:pPr>
            <a:r>
              <a:t>Dice + 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Baseline — overlap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474720"/>
            <a:ext cx="347472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0A0"/>
                </a:solidFill>
                <a:latin typeface="Calibri"/>
              </a:defRPr>
            </a:pPr>
            <a:r>
              <a:t>Config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86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6C00"/>
                </a:solidFill>
                <a:latin typeface="Calibri"/>
              </a:defRPr>
            </a:pPr>
            <a:r>
              <a:t>Dice + CE + clDice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34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Centerline matching (CVPR 2021)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3474720"/>
            <a:ext cx="347472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39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0A0"/>
                </a:solidFill>
                <a:latin typeface="Calibri"/>
              </a:defRPr>
            </a:pPr>
            <a:r>
              <a:t>Config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3886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B060"/>
                </a:solidFill>
                <a:latin typeface="Calibri"/>
              </a:defRPr>
            </a:pPr>
            <a:r>
              <a:t>Dice + CE + Skeleton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4434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Centerline recall (ECCV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0A0"/>
                </a:solidFill>
                <a:latin typeface="Calibri"/>
              </a:defRPr>
            </a:pPr>
            <a:r>
              <a:t>Controlled ablation: same architecture, same data, same hardware — only the loss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43891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TopCoW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MICCAI Challenge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125 CTA volumes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13</a:t>
            </a:r>
            <a:r>
              <a:rPr sz="1500">
                <a:solidFill>
                  <a:srgbClr val="FFFFFF"/>
                </a:solidFill>
                <a:latin typeface="Calibri"/>
              </a:rPr>
              <a:t> Circle of Willis vessel classes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Classes</a:t>
            </a:r>
            <a:r>
              <a:rPr sz="1500">
                <a:solidFill>
                  <a:srgbClr val="FFFFFF"/>
                </a:solidFill>
                <a:latin typeface="Calibri"/>
              </a:rPr>
              <a:t>: BA, ICA, MCA, PCA, ACA, Acom, Pcom, 3rd-A2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100</a:t>
            </a:r>
            <a:r>
              <a:rPr sz="1500">
                <a:solidFill>
                  <a:srgbClr val="FFFFFF"/>
                </a:solidFill>
                <a:latin typeface="Calibri"/>
              </a:rPr>
              <a:t> train / 25 validation (80/20 split)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Used</a:t>
            </a:r>
            <a:r>
              <a:rPr sz="1500">
                <a:solidFill>
                  <a:srgbClr val="FFFFFF"/>
                </a:solidFill>
                <a:latin typeface="Calibri"/>
              </a:rPr>
              <a:t> for from-scratch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03520" cy="43891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6C00"/>
                </a:solidFill>
                <a:latin typeface="Calibri"/>
              </a:defRPr>
            </a:pPr>
            <a:r>
              <a:t>TopBrain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Calibri"/>
              </a:defRPr>
            </a:pPr>
            <a:r>
              <a:t>Extended Annotations — Same Scans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25 CTA volumes</a:t>
            </a:r>
            <a:r>
              <a:rPr sz="1500">
                <a:solidFill>
                  <a:srgbClr val="FFFFFF"/>
                </a:solidFill>
                <a:latin typeface="Calibri"/>
              </a:rPr>
              <a:t> (same 25 CT scans as TopCoW subset)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40</a:t>
            </a:r>
            <a:r>
              <a:rPr sz="1500">
                <a:solidFill>
                  <a:srgbClr val="FFFFFF"/>
                </a:solidFill>
                <a:latin typeface="Calibri"/>
              </a:rPr>
              <a:t> vessel classes — 3x more coverage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New</a:t>
            </a:r>
            <a:r>
              <a:rPr sz="1500">
                <a:solidFill>
                  <a:srgbClr val="FFFFFF"/>
                </a:solidFill>
                <a:latin typeface="Calibri"/>
              </a:rPr>
              <a:t>: + distal branches, posterior fossa, small arteries, venous sinuses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Binarized</a:t>
            </a:r>
            <a:r>
              <a:rPr sz="1500">
                <a:solidFill>
                  <a:srgbClr val="FFFFFF"/>
                </a:solidFill>
                <a:latin typeface="Calibri"/>
              </a:rPr>
              <a:t> ground truth covers far more vasculature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96C7"/>
                </a:solidFill>
                <a:latin typeface="Calibri"/>
              </a:rPr>
              <a:t>Used</a:t>
            </a:r>
            <a:r>
              <a:rPr sz="1500">
                <a:solidFill>
                  <a:srgbClr val="FFFFFF"/>
                </a:solidFill>
                <a:latin typeface="Calibri"/>
              </a:rPr>
              <a:t> for fine-tuning &amp; transfer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Architecture: 3D U-Net</a:t>
            </a:r>
          </a:p>
        </p:txBody>
      </p:sp>
      <p:pic>
        <p:nvPicPr>
          <p:cNvPr id="5" name="Picture 4" descr="unet3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23" y="1600200"/>
            <a:ext cx="4839478" cy="3456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 stages: 32 → 64 → 128 → 256 → 512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2× Conv3D + InstanceNorm + LeakyReLU + residual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Strided 2×2×2 convolutions (no max-pool)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Transposed convolutions + skip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Deep supervision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1×1 heads at each decoder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24.9M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nnU-Net philosophy (Isensee et al.)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Calibri"/>
              </a:defRPr>
            </a:pPr>
            <a:r>
              <a:t>Dice + Cross-Entropy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828800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Measures voxel overlap.</a:t>
            </a:r>
            <a:br/>
            <a:r>
              <a:t>No connectivity incentive.</a:t>
            </a:r>
            <a:br/>
            <a:r>
              <a:t>Standard nnU-Net default.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3200400" cy="64008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90A0"/>
                </a:solidFill>
                <a:latin typeface="Calibri"/>
              </a:defRPr>
            </a:pPr>
            <a:r>
              <a:t>L = L_CE + L_Dice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6C00"/>
                </a:solidFill>
                <a:latin typeface="Calibri"/>
              </a:defRPr>
            </a:pPr>
            <a:r>
              <a:t>+ Soft clDice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48840"/>
            <a:ext cx="1828800" cy="27432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Computes Dice on skeletons of</a:t>
            </a:r>
            <a:br/>
            <a:r>
              <a:t>prediction and ground truth.</a:t>
            </a:r>
            <a:br/>
            <a:r>
              <a:t>Differentiable soft-skeletonization</a:t>
            </a:r>
            <a:br/>
            <a:r>
              <a:t>(10 iterations of morphological ops).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480560"/>
            <a:ext cx="3200400" cy="64008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90A0"/>
                </a:solidFill>
                <a:latin typeface="Calibri"/>
              </a:defRPr>
            </a:pPr>
            <a:r>
              <a:t>L = (1-α)·L_base + α·(1 - clDice)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56616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B060"/>
                </a:solidFill>
                <a:latin typeface="Calibri"/>
              </a:defRPr>
            </a:pPr>
            <a:r>
              <a:t>+ Skeleton 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148840"/>
            <a:ext cx="1828800" cy="27432"/>
          </a:xfrm>
          <a:prstGeom prst="rect">
            <a:avLst/>
          </a:prstGeom>
          <a:solidFill>
            <a:srgbClr val="4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Precomputes GT skeleton on CPU.</a:t>
            </a:r>
            <a:br/>
            <a:r>
              <a:t>Weighted CE on centerline voxels.</a:t>
            </a:r>
            <a:br/>
            <a:r>
              <a:t>"Did you find the core of</a:t>
            </a:r>
            <a:br/>
            <a:r>
              <a:t>every vessel?"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480560"/>
            <a:ext cx="3200400" cy="64008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526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90A0"/>
                </a:solidFill>
                <a:latin typeface="Calibri"/>
              </a:defRPr>
            </a:pPr>
            <a:r>
              <a:t>L = (1-α)·L_base + α·(1 - recall)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All combined with base Dice+CE.  Topology weight α = 0.5.  Deep supervision wrapper at all decoder scales.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8× NVIDIA A100-SXM4-40GB (AWS p4d.24xlarge)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DDP across all 8 GPUs — identical for all 3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Epochs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300 (from-scratch)  |  150 (TopBrain fine-tuning)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AdamW (LR=1e-3, weight decay=1e-5)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Cosine annealing + 10-epoch linear warmup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Patches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160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128³ voxel crops, 4 per volume, 33% foreground-centered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Batch 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663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4 per GPU  |  Mixed precision (AMP)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6636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66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Every 25 epochs  |  Early stopping patience =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66928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Fine-tuning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669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LR=1e-4, fresh optimizer, 5-epoch warmup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6035040"/>
            <a:ext cx="8229600" cy="548640"/>
          </a:xfrm>
          <a:prstGeom prst="rect">
            <a:avLst/>
          </a:prstGeom>
          <a:solidFill>
            <a:srgbClr val="00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03120" y="60533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C7"/>
                </a:solidFill>
                <a:latin typeface="Calibri"/>
              </a:defRPr>
            </a:pPr>
            <a:r>
              <a:t>All training configuration is identical across the three runs — controlled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Dynamics</a:t>
            </a:r>
          </a:p>
        </p:txBody>
      </p:sp>
      <p:pic>
        <p:nvPicPr>
          <p:cNvPr id="5" name="Picture 4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4368269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All three models converge to</a:t>
            </a:r>
            <a:br/>
            <a:r>
              <a:t>similar training loss (~0.10-0.13)</a:t>
            </a:r>
            <a:br/>
            <a:r>
              <a:t>and validation Dice (~0.84-0.86).</a:t>
            </a:r>
            <a:br/>
            <a:br/>
            <a:r>
              <a:t>clDice and Dice+CE curves</a:t>
            </a:r>
            <a:br/>
            <a:r>
              <a:t>are nearly identical.</a:t>
            </a:r>
            <a:br/>
            <a:br/>
            <a:r>
              <a:t>Skeleton Recall runs at slightly</a:t>
            </a:r>
            <a:br/>
            <a:r>
              <a:t>higher loss — expected from</a:t>
            </a:r>
            <a:br/>
            <a:r>
              <a:t>the additional centerline penalty.</a:t>
            </a:r>
            <a:br/>
            <a:br/>
            <a:r>
              <a:t>Stable convergence, no NaN</a:t>
            </a:r>
            <a:br/>
            <a:r>
              <a:t>batches across all configurations.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Global Results — From Scratch</a:t>
            </a:r>
          </a:p>
        </p:txBody>
      </p:sp>
      <p:pic>
        <p:nvPicPr>
          <p:cNvPr id="5" name="Picture 4" descr="glob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3863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clDice wins aggregate: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DSC 0.864  |  clDice 0.916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Lowest Betti-0 error: 3.72</a:t>
            </a:r>
          </a:p>
          <a:p>
            <a:pPr>
              <a:spcAft>
                <a:spcPts val="600"/>
              </a:spcAft>
            </a:pPr>
            <a:endParaRPr sz="15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Baseline close behind: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DSC 0.858  |  clDice 0.907</a:t>
            </a:r>
          </a:p>
          <a:p>
            <a:pPr>
              <a:spcAft>
                <a:spcPts val="600"/>
              </a:spcAft>
            </a:pPr>
            <a:endParaRPr sz="15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Skeleton Recall: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Lower aggregate (DSC 0.845)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High Betti-0 error: 26.84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But watch what happens next...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Stratified Results — The Vessel Gap</a:t>
            </a:r>
          </a:p>
        </p:txBody>
      </p:sp>
      <p:pic>
        <p:nvPicPr>
          <p:cNvPr id="5" name="Picture 4" descr="vessel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35210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Skeleton Recall improves Pcom: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R-Pcom: 0.511 vs 0.459 baseline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L-Pcom: 0.479 vs 0.410 baseline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(+5 to 7 points on thinnest vessels)</a:t>
            </a:r>
          </a:p>
          <a:p>
            <a:pPr>
              <a:spcAft>
                <a:spcPts val="600"/>
              </a:spcAft>
            </a:pPr>
            <a:endParaRPr sz="15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Smallest gap: 0.332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(vs 0.363 for both others)</a:t>
            </a:r>
          </a:p>
          <a:p>
            <a:pPr>
              <a:spcAft>
                <a:spcPts val="600"/>
              </a:spcAft>
            </a:pPr>
            <a:endParaRPr sz="15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Hypothesis partially supported: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Modest but targeted improvement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on communicating arteries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TopBrain Fine-Tuning — The Big Result</a:t>
            </a:r>
          </a:p>
        </p:txBody>
      </p:sp>
      <p:pic>
        <p:nvPicPr>
          <p:cNvPr id="5" name="Picture 4" descr="topbrai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48033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463040"/>
            <a:ext cx="4389120" cy="2286000"/>
          </a:xfrm>
          <a:prstGeom prst="rect">
            <a:avLst/>
          </a:prstGeom>
          <a:solidFill>
            <a:srgbClr val="00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554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4040"/>
                </a:solidFill>
                <a:latin typeface="Calibri"/>
              </a:defRPr>
            </a:pPr>
            <a:r>
              <a:t>SMALL ARTERIES (OA, AChA)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0B060"/>
                </a:solidFill>
                <a:latin typeface="Calibri"/>
              </a:defRPr>
            </a:pPr>
            <a:r>
              <a:t>Skeleton:  0.589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560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40"/>
                </a:solidFill>
                <a:latin typeface="Calibri"/>
              </a:defRPr>
            </a:pPr>
            <a:r>
              <a:t>Dice+CE:  0.000</a:t>
            </a:r>
            <a:br/>
            <a:r>
              <a:t>clDice:      0.000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931920"/>
            <a:ext cx="438912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4023360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96C7"/>
                </a:solidFill>
                <a:latin typeface="Calibri"/>
              </a:rPr>
              <a:t>0.626 vs 0.565</a:t>
            </a:r>
            <a:r>
              <a:rPr sz="1400">
                <a:solidFill>
                  <a:srgbClr val="FFFFFF"/>
                </a:solidFill>
                <a:latin typeface="Calibri"/>
              </a:rPr>
              <a:t>Posterior fossa: 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96C7"/>
                </a:solidFill>
                <a:latin typeface="Calibri"/>
              </a:rPr>
              <a:t>0.613 vs 0.416</a:t>
            </a:r>
            <a:r>
              <a:rPr sz="1400">
                <a:solidFill>
                  <a:srgbClr val="FFFFFF"/>
                </a:solidFill>
                <a:latin typeface="Calibri"/>
              </a:rPr>
              <a:t>Venous sinuses: 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96C7"/>
                </a:solidFill>
                <a:latin typeface="Calibri"/>
              </a:rPr>
              <a:t>0.752 vs 0.687</a:t>
            </a:r>
            <a:r>
              <a:rPr sz="1400">
                <a:solidFill>
                  <a:srgbClr val="FFFFFF"/>
                </a:solidFill>
                <a:latin typeface="Calibri"/>
              </a:rPr>
              <a:t>Distal branches: 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96C7"/>
                </a:solidFill>
                <a:latin typeface="Calibri"/>
              </a:rPr>
              <a:t>all ~0.82 (comparable)</a:t>
            </a:r>
            <a:r>
              <a:rPr sz="1400">
                <a:solidFill>
                  <a:srgbClr val="FFFFFF"/>
                </a:solidFill>
                <a:latin typeface="Calibri"/>
              </a:rPr>
              <a:t>Large CoW: </a:t>
            </a:r>
          </a:p>
          <a:p>
            <a:pPr>
              <a:spcAft>
                <a:spcPts val="600"/>
              </a:spcAft>
            </a:pPr>
            <a:endParaRPr sz="140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Skeleton Recall finds vessels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the others cannot.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Qualitative Comparison — 3D Renderings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035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90A0"/>
                </a:solidFill>
                <a:latin typeface="Calibri"/>
              </a:defRPr>
            </a:pPr>
            <a:r>
              <a:t>[SurgicalAR Screenshot]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Calibri"/>
              </a:defRPr>
            </a:pPr>
            <a:r>
              <a:t>Dice+CE + TopBrain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2926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90A0"/>
                </a:solidFill>
                <a:latin typeface="Calibri"/>
              </a:defRPr>
            </a:pPr>
            <a:r>
              <a:t>[SurgicalAR Screenshot]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0B060"/>
                </a:solidFill>
                <a:latin typeface="Calibri"/>
              </a:defRPr>
            </a:pPr>
            <a:r>
              <a:t>Skeleton Recall + TopBrain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90A0"/>
                </a:solidFill>
                <a:latin typeface="Calibri"/>
              </a:defRPr>
            </a:pPr>
            <a:r>
              <a:t>Same patient  |  Same viewing angle  |  Same fine-tuning protocol  |  Different loss during pretraining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Discussion — 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2926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clDice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828800" cy="2743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Best aggregate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DSC 0.864 | B0 error 3.72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Improves topological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Fewer disconnected fragments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303520" cy="2926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B060"/>
                </a:solidFill>
                <a:latin typeface="Calibri"/>
              </a:defRPr>
            </a:pPr>
            <a:r>
              <a:t>Skeleton 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103120"/>
            <a:ext cx="1828800" cy="27432"/>
          </a:xfrm>
          <a:prstGeom prst="rect">
            <a:avLst/>
          </a:prstGeom>
          <a:solidFill>
            <a:srgbClr val="40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Best thin-vessel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Pcom +5-7 pts | Small arteries 0.589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Improves topological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Over-segments (B0 error 26.84)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54880"/>
            <a:ext cx="10881360" cy="1645920"/>
          </a:xfrm>
          <a:prstGeom prst="rect">
            <a:avLst/>
          </a:prstGeom>
          <a:solidFill>
            <a:srgbClr val="00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600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TopBrain fine-tuning drives comprehensive vessel coverage.</a:t>
            </a:r>
            <a:br/>
            <a:r>
              <a:t>The loss function during pretraining shapes how well that coverage transfers to the thinnest structures.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040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96C7"/>
                </a:solidFill>
                <a:latin typeface="Calibri"/>
              </a:rPr>
              <a:t>Large-small vessel gap</a:t>
            </a:r>
            <a:r>
              <a:rPr sz="1600">
                <a:solidFill>
                  <a:srgbClr val="FFFFFF"/>
                </a:solidFill>
                <a:latin typeface="Calibri"/>
              </a:rPr>
              <a:t> persists (&gt;0.33 DSC across all models)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6C7"/>
                </a:solidFill>
                <a:latin typeface="Calibri"/>
              </a:rPr>
              <a:t>Skeleton Recall over-fragments</a:t>
            </a:r>
            <a:r>
              <a:rPr sz="1600">
                <a:solidFill>
                  <a:srgbClr val="FFFFFF"/>
                </a:solidFill>
                <a:latin typeface="Calibri"/>
              </a:rPr>
              <a:t> — Betti-0 error of 26.84 needs post-processing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6C7"/>
                </a:solidFill>
                <a:latin typeface="Calibri"/>
              </a:rPr>
              <a:t>HU window [0, 600]</a:t>
            </a:r>
            <a:r>
              <a:rPr sz="1600">
                <a:solidFill>
                  <a:srgbClr val="FFFFFF"/>
                </a:solidFill>
                <a:latin typeface="Calibri"/>
              </a:rPr>
              <a:t> clips bone (800-2000 HU) to same range as vessels (200-400 HU)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B060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96C7"/>
                </a:solidFill>
                <a:latin typeface="Calibri"/>
              </a:rPr>
              <a:t>Wider HU window [0, 1500]</a:t>
            </a:r>
            <a:r>
              <a:rPr sz="1600">
                <a:solidFill>
                  <a:srgbClr val="FFFFFF"/>
                </a:solidFill>
                <a:latin typeface="Calibri"/>
              </a:rPr>
              <a:t> to separate bone from vessels — expected highest-impact fix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6C7"/>
                </a:solidFill>
                <a:latin typeface="Calibri"/>
              </a:rPr>
              <a:t>Class-balanced sampling</a:t>
            </a:r>
            <a:r>
              <a:rPr sz="1600">
                <a:solidFill>
                  <a:srgbClr val="FFFFFF"/>
                </a:solidFill>
                <a:latin typeface="Calibri"/>
              </a:rPr>
              <a:t> to focus on under-represented thin vessels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6C7"/>
                </a:solidFill>
                <a:latin typeface="Calibri"/>
              </a:rPr>
              <a:t>Connected component</a:t>
            </a:r>
            <a:r>
              <a:rPr sz="1600">
                <a:solidFill>
                  <a:srgbClr val="FFFFFF"/>
                </a:solidFill>
                <a:latin typeface="Calibri"/>
              </a:rPr>
              <a:t> filtering to remove small disconnected false positives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096C7"/>
                </a:solidFill>
                <a:latin typeface="Calibri"/>
              </a:rPr>
              <a:t>Retraining on corrected labels</a:t>
            </a:r>
            <a:r>
              <a:rPr sz="1600">
                <a:solidFill>
                  <a:srgbClr val="FFFFFF"/>
                </a:solidFill>
                <a:latin typeface="Calibri"/>
              </a:rPr>
              <a:t> from 50 model-assisted labeled CTA volumes (uploaded to RedBrick AI)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Controlled ablation on identical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— 3 loss functions, same 3D U-Net, same 8× A100 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clDice = best aggregate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— DSC 0.864, lowest Betti-0 error, best topological 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Skeleton Recall = best thin-vessel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— +5-7 pts on Pcom, 0.589 on small arteries vs zero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3484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TopBrain fine-tuning drives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— loss function shapes transfer quality to thinnest structures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49240"/>
            <a:ext cx="73152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Hypothesis partially supported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A0"/>
                </a:solidFill>
                <a:latin typeface="Calibri"/>
              </a:defRPr>
            </a:pPr>
            <a:r>
              <a:t>— modest CoW improvement, dramatic effect on truly small vessels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286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C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0A0"/>
                </a:solidFill>
                <a:latin typeface="Calibri"/>
              </a:defRPr>
            </a:pPr>
            <a:r>
              <a:t>Samih Tharwat Amer</a:t>
            </a:r>
            <a:br/>
            <a:r>
              <a:t>Whiting School of Engineering  |  Johns Hopkins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1208</Words>
  <Application>Microsoft Office PowerPoint</Application>
  <PresentationFormat>Widescreen</PresentationFormat>
  <Paragraphs>186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Samih Amer</cp:lastModifiedBy>
  <cp:revision>2</cp:revision>
  <dcterms:created xsi:type="dcterms:W3CDTF">2013-01-27T09:14:16Z</dcterms:created>
  <dcterms:modified xsi:type="dcterms:W3CDTF">2026-04-09T05:30:26Z</dcterms:modified>
  <cp:category/>
</cp:coreProperties>
</file>