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76" r:id="rId3"/>
    <p:sldId id="257" r:id="rId4"/>
    <p:sldId id="260" r:id="rId5"/>
    <p:sldId id="261" r:id="rId6"/>
    <p:sldId id="262" r:id="rId7"/>
    <p:sldId id="263" r:id="rId8"/>
    <p:sldId id="264" r:id="rId9"/>
    <p:sldId id="265" r:id="rId10"/>
    <p:sldId id="266" r:id="rId11"/>
    <p:sldId id="267" r:id="rId12"/>
    <p:sldId id="269" r:id="rId13"/>
    <p:sldId id="270" r:id="rId14"/>
    <p:sldId id="268" r:id="rId15"/>
    <p:sldId id="271" r:id="rId16"/>
    <p:sldId id="272" r:id="rId17"/>
    <p:sldId id="273" r:id="rId18"/>
    <p:sldId id="274" r:id="rId19"/>
    <p:sldId id="275"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36FF80-5C5B-4026-8A68-6206879A740B}">
          <p14:sldIdLst>
            <p14:sldId id="256"/>
            <p14:sldId id="276"/>
            <p14:sldId id="257"/>
            <p14:sldId id="260"/>
            <p14:sldId id="261"/>
            <p14:sldId id="262"/>
            <p14:sldId id="263"/>
          </p14:sldIdLst>
        </p14:section>
        <p14:section name="Untitled Section" id="{11FAF5B1-0E1D-4FF4-ADDC-BAC7CABF72D2}">
          <p14:sldIdLst>
            <p14:sldId id="264"/>
            <p14:sldId id="265"/>
            <p14:sldId id="266"/>
            <p14:sldId id="267"/>
            <p14:sldId id="269"/>
            <p14:sldId id="270"/>
            <p14:sldId id="268"/>
            <p14:sldId id="271"/>
            <p14:sldId id="272"/>
            <p14:sldId id="273"/>
            <p14:sldId id="274"/>
            <p14:sldId id="275"/>
            <p14:sldId id="277"/>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5D7E46-C739-48A3-962F-A79CCF7E6448}" v="613" dt="2026-04-10T00:51:46.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74357" autoAdjust="0"/>
  </p:normalViewPr>
  <p:slideViewPr>
    <p:cSldViewPr snapToGrid="0">
      <p:cViewPr varScale="1">
        <p:scale>
          <a:sx n="96" d="100"/>
          <a:sy n="96" d="100"/>
        </p:scale>
        <p:origin x="1358" y="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BAE65F-EBF3-4193-BB7D-C68DDF5F479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7E22EF5-9512-489B-B2DD-08759A971937}">
      <dgm:prSet/>
      <dgm:spPr/>
      <dgm:t>
        <a:bodyPr/>
        <a:lstStyle/>
        <a:p>
          <a:r>
            <a:rPr lang="en-US" b="1" dirty="0"/>
            <a:t>Computed Tomography (CT): </a:t>
          </a:r>
          <a:r>
            <a:rPr lang="en-US" dirty="0"/>
            <a:t>X-ray based imaging that produces cross-sectional 3D volumes of the body </a:t>
          </a:r>
        </a:p>
      </dgm:t>
    </dgm:pt>
    <dgm:pt modelId="{76ED51FA-8416-464A-ACDB-FEBA0526C6B6}" type="parTrans" cxnId="{9727D72E-467F-47C0-B595-1694BD1A42E5}">
      <dgm:prSet/>
      <dgm:spPr/>
      <dgm:t>
        <a:bodyPr/>
        <a:lstStyle/>
        <a:p>
          <a:endParaRPr lang="en-US"/>
        </a:p>
      </dgm:t>
    </dgm:pt>
    <dgm:pt modelId="{58410198-F13B-47B5-823C-788E9901B474}" type="sibTrans" cxnId="{9727D72E-467F-47C0-B595-1694BD1A42E5}">
      <dgm:prSet/>
      <dgm:spPr/>
      <dgm:t>
        <a:bodyPr/>
        <a:lstStyle/>
        <a:p>
          <a:endParaRPr lang="en-US"/>
        </a:p>
      </dgm:t>
    </dgm:pt>
    <dgm:pt modelId="{28B90642-52A0-40EF-A691-E4C47C7B6B68}">
      <dgm:prSet/>
      <dgm:spPr/>
      <dgm:t>
        <a:bodyPr/>
        <a:lstStyle/>
        <a:p>
          <a:r>
            <a:rPr lang="en-US" b="1"/>
            <a:t>CT Angiography (CTA): </a:t>
          </a:r>
          <a:r>
            <a:rPr lang="en-US"/>
            <a:t>A CT Scan where a patient is injected with a contrast dye that highlights blood vessels </a:t>
          </a:r>
        </a:p>
      </dgm:t>
    </dgm:pt>
    <dgm:pt modelId="{32BF128F-66F2-4226-BA6E-A32555A67326}" type="parTrans" cxnId="{57BC0FB2-533E-4DF1-8077-65BD6482F10F}">
      <dgm:prSet/>
      <dgm:spPr/>
      <dgm:t>
        <a:bodyPr/>
        <a:lstStyle/>
        <a:p>
          <a:endParaRPr lang="en-US"/>
        </a:p>
      </dgm:t>
    </dgm:pt>
    <dgm:pt modelId="{9346952E-89B6-42B5-BADE-DD0A12006F0D}" type="sibTrans" cxnId="{57BC0FB2-533E-4DF1-8077-65BD6482F10F}">
      <dgm:prSet/>
      <dgm:spPr/>
      <dgm:t>
        <a:bodyPr/>
        <a:lstStyle/>
        <a:p>
          <a:endParaRPr lang="en-US"/>
        </a:p>
      </dgm:t>
    </dgm:pt>
    <dgm:pt modelId="{E9B341A1-3106-4E5F-A934-3742029A59A8}">
      <dgm:prSet/>
      <dgm:spPr/>
      <dgm:t>
        <a:bodyPr/>
        <a:lstStyle/>
        <a:p>
          <a:r>
            <a:rPr lang="en-US" b="1"/>
            <a:t>Regular CT: Shows bone and soft tissue – vessels are nearly invisible </a:t>
          </a:r>
          <a:endParaRPr lang="en-US"/>
        </a:p>
      </dgm:t>
    </dgm:pt>
    <dgm:pt modelId="{A5331EE9-B3A3-4F0C-8B97-9160D026DFF3}" type="parTrans" cxnId="{3DFA668A-53C6-46AF-BE30-87AB3C859528}">
      <dgm:prSet/>
      <dgm:spPr/>
      <dgm:t>
        <a:bodyPr/>
        <a:lstStyle/>
        <a:p>
          <a:endParaRPr lang="en-US"/>
        </a:p>
      </dgm:t>
    </dgm:pt>
    <dgm:pt modelId="{C1247724-C899-4E69-B525-E39ACECAE0CB}" type="sibTrans" cxnId="{3DFA668A-53C6-46AF-BE30-87AB3C859528}">
      <dgm:prSet/>
      <dgm:spPr/>
      <dgm:t>
        <a:bodyPr/>
        <a:lstStyle/>
        <a:p>
          <a:endParaRPr lang="en-US"/>
        </a:p>
      </dgm:t>
    </dgm:pt>
    <dgm:pt modelId="{8A6252D6-933F-42F2-9106-B723FFDF61C2}">
      <dgm:prSet/>
      <dgm:spPr/>
      <dgm:t>
        <a:bodyPr/>
        <a:lstStyle/>
        <a:p>
          <a:r>
            <a:rPr lang="en-US" b="1" dirty="0"/>
            <a:t>CTA: Contrast fills the vasculature, making arteries brighter </a:t>
          </a:r>
          <a:endParaRPr lang="en-US" dirty="0"/>
        </a:p>
      </dgm:t>
    </dgm:pt>
    <dgm:pt modelId="{6A95449C-B7E2-4E78-B115-45B5A066BAB5}" type="parTrans" cxnId="{52861C60-9AB9-4577-801F-73BD26CF3C1A}">
      <dgm:prSet/>
      <dgm:spPr/>
      <dgm:t>
        <a:bodyPr/>
        <a:lstStyle/>
        <a:p>
          <a:endParaRPr lang="en-US"/>
        </a:p>
      </dgm:t>
    </dgm:pt>
    <dgm:pt modelId="{38DB33D9-25F4-43EC-8F87-7AF73C91028D}" type="sibTrans" cxnId="{52861C60-9AB9-4577-801F-73BD26CF3C1A}">
      <dgm:prSet/>
      <dgm:spPr/>
      <dgm:t>
        <a:bodyPr/>
        <a:lstStyle/>
        <a:p>
          <a:endParaRPr lang="en-US"/>
        </a:p>
      </dgm:t>
    </dgm:pt>
    <dgm:pt modelId="{DAEE39EE-D67A-4F8F-9695-9CB9FF0ED068}">
      <dgm:prSet custT="1"/>
      <dgm:spPr/>
      <dgm:t>
        <a:bodyPr/>
        <a:lstStyle/>
        <a:p>
          <a:r>
            <a:rPr lang="en-US" sz="1600" b="1" dirty="0"/>
            <a:t>This is the imaging modality of choice for stroke triage and aneurysm detection </a:t>
          </a:r>
        </a:p>
      </dgm:t>
    </dgm:pt>
    <dgm:pt modelId="{692C04DA-EBFC-4B3D-ABA5-C56BFFB0D0D8}" type="parTrans" cxnId="{2A114029-6447-4895-B6E7-FF92A5E3CE7D}">
      <dgm:prSet/>
      <dgm:spPr/>
      <dgm:t>
        <a:bodyPr/>
        <a:lstStyle/>
        <a:p>
          <a:endParaRPr lang="en-US"/>
        </a:p>
      </dgm:t>
    </dgm:pt>
    <dgm:pt modelId="{AEB9C384-746C-4691-910A-2D0955642CA9}" type="sibTrans" cxnId="{2A114029-6447-4895-B6E7-FF92A5E3CE7D}">
      <dgm:prSet/>
      <dgm:spPr/>
      <dgm:t>
        <a:bodyPr/>
        <a:lstStyle/>
        <a:p>
          <a:endParaRPr lang="en-US"/>
        </a:p>
      </dgm:t>
    </dgm:pt>
    <dgm:pt modelId="{37234515-4569-467C-B278-E2C0C0FD19A2}" type="pres">
      <dgm:prSet presAssocID="{B1BAE65F-EBF3-4193-BB7D-C68DDF5F4795}" presName="linear" presStyleCnt="0">
        <dgm:presLayoutVars>
          <dgm:animLvl val="lvl"/>
          <dgm:resizeHandles val="exact"/>
        </dgm:presLayoutVars>
      </dgm:prSet>
      <dgm:spPr/>
    </dgm:pt>
    <dgm:pt modelId="{144AA47B-624A-4273-8FC7-330566C7F7EF}" type="pres">
      <dgm:prSet presAssocID="{A7E22EF5-9512-489B-B2DD-08759A971937}" presName="parentText" presStyleLbl="node1" presStyleIdx="0" presStyleCnt="4">
        <dgm:presLayoutVars>
          <dgm:chMax val="0"/>
          <dgm:bulletEnabled val="1"/>
        </dgm:presLayoutVars>
      </dgm:prSet>
      <dgm:spPr/>
    </dgm:pt>
    <dgm:pt modelId="{4A6A598D-F92E-484C-A488-F4CCC7B1882E}" type="pres">
      <dgm:prSet presAssocID="{58410198-F13B-47B5-823C-788E9901B474}" presName="spacer" presStyleCnt="0"/>
      <dgm:spPr/>
    </dgm:pt>
    <dgm:pt modelId="{CABCF0B0-2DC3-4C3A-8B96-057AF8016068}" type="pres">
      <dgm:prSet presAssocID="{28B90642-52A0-40EF-A691-E4C47C7B6B68}" presName="parentText" presStyleLbl="node1" presStyleIdx="1" presStyleCnt="4">
        <dgm:presLayoutVars>
          <dgm:chMax val="0"/>
          <dgm:bulletEnabled val="1"/>
        </dgm:presLayoutVars>
      </dgm:prSet>
      <dgm:spPr/>
    </dgm:pt>
    <dgm:pt modelId="{786CA652-177D-4C6E-9F8E-9C2E11534768}" type="pres">
      <dgm:prSet presAssocID="{9346952E-89B6-42B5-BADE-DD0A12006F0D}" presName="spacer" presStyleCnt="0"/>
      <dgm:spPr/>
    </dgm:pt>
    <dgm:pt modelId="{E577AE05-77F9-492B-AD11-8E0AE5897177}" type="pres">
      <dgm:prSet presAssocID="{E9B341A1-3106-4E5F-A934-3742029A59A8}" presName="parentText" presStyleLbl="node1" presStyleIdx="2" presStyleCnt="4">
        <dgm:presLayoutVars>
          <dgm:chMax val="0"/>
          <dgm:bulletEnabled val="1"/>
        </dgm:presLayoutVars>
      </dgm:prSet>
      <dgm:spPr/>
    </dgm:pt>
    <dgm:pt modelId="{41AD1EA4-9994-46E3-824F-11FC30A99A77}" type="pres">
      <dgm:prSet presAssocID="{C1247724-C899-4E69-B525-E39ACECAE0CB}" presName="spacer" presStyleCnt="0"/>
      <dgm:spPr/>
    </dgm:pt>
    <dgm:pt modelId="{DEC27D21-2A5A-4B52-9C76-8D5688DEFA9A}" type="pres">
      <dgm:prSet presAssocID="{8A6252D6-933F-42F2-9106-B723FFDF61C2}" presName="parentText" presStyleLbl="node1" presStyleIdx="3" presStyleCnt="4">
        <dgm:presLayoutVars>
          <dgm:chMax val="0"/>
          <dgm:bulletEnabled val="1"/>
        </dgm:presLayoutVars>
      </dgm:prSet>
      <dgm:spPr/>
    </dgm:pt>
    <dgm:pt modelId="{69F57E92-E75A-4A54-9B81-F0E5708F2135}" type="pres">
      <dgm:prSet presAssocID="{8A6252D6-933F-42F2-9106-B723FFDF61C2}" presName="childText" presStyleLbl="revTx" presStyleIdx="0" presStyleCnt="1">
        <dgm:presLayoutVars>
          <dgm:bulletEnabled val="1"/>
        </dgm:presLayoutVars>
      </dgm:prSet>
      <dgm:spPr/>
    </dgm:pt>
  </dgm:ptLst>
  <dgm:cxnLst>
    <dgm:cxn modelId="{2A114029-6447-4895-B6E7-FF92A5E3CE7D}" srcId="{8A6252D6-933F-42F2-9106-B723FFDF61C2}" destId="{DAEE39EE-D67A-4F8F-9695-9CB9FF0ED068}" srcOrd="0" destOrd="0" parTransId="{692C04DA-EBFC-4B3D-ABA5-C56BFFB0D0D8}" sibTransId="{AEB9C384-746C-4691-910A-2D0955642CA9}"/>
    <dgm:cxn modelId="{9727D72E-467F-47C0-B595-1694BD1A42E5}" srcId="{B1BAE65F-EBF3-4193-BB7D-C68DDF5F4795}" destId="{A7E22EF5-9512-489B-B2DD-08759A971937}" srcOrd="0" destOrd="0" parTransId="{76ED51FA-8416-464A-ACDB-FEBA0526C6B6}" sibTransId="{58410198-F13B-47B5-823C-788E9901B474}"/>
    <dgm:cxn modelId="{52861C60-9AB9-4577-801F-73BD26CF3C1A}" srcId="{B1BAE65F-EBF3-4193-BB7D-C68DDF5F4795}" destId="{8A6252D6-933F-42F2-9106-B723FFDF61C2}" srcOrd="3" destOrd="0" parTransId="{6A95449C-B7E2-4E78-B115-45B5A066BAB5}" sibTransId="{38DB33D9-25F4-43EC-8F87-7AF73C91028D}"/>
    <dgm:cxn modelId="{A5E99262-2F59-414B-81E0-883552A330D4}" type="presOf" srcId="{28B90642-52A0-40EF-A691-E4C47C7B6B68}" destId="{CABCF0B0-2DC3-4C3A-8B96-057AF8016068}" srcOrd="0" destOrd="0" presId="urn:microsoft.com/office/officeart/2005/8/layout/vList2"/>
    <dgm:cxn modelId="{53D9C779-7BBD-4AA5-9ABD-D2D03C600D05}" type="presOf" srcId="{E9B341A1-3106-4E5F-A934-3742029A59A8}" destId="{E577AE05-77F9-492B-AD11-8E0AE5897177}" srcOrd="0" destOrd="0" presId="urn:microsoft.com/office/officeart/2005/8/layout/vList2"/>
    <dgm:cxn modelId="{3DFA668A-53C6-46AF-BE30-87AB3C859528}" srcId="{B1BAE65F-EBF3-4193-BB7D-C68DDF5F4795}" destId="{E9B341A1-3106-4E5F-A934-3742029A59A8}" srcOrd="2" destOrd="0" parTransId="{A5331EE9-B3A3-4F0C-8B97-9160D026DFF3}" sibTransId="{C1247724-C899-4E69-B525-E39ACECAE0CB}"/>
    <dgm:cxn modelId="{837A97AF-ECB1-4D0C-BC3F-F6C58086447D}" type="presOf" srcId="{A7E22EF5-9512-489B-B2DD-08759A971937}" destId="{144AA47B-624A-4273-8FC7-330566C7F7EF}" srcOrd="0" destOrd="0" presId="urn:microsoft.com/office/officeart/2005/8/layout/vList2"/>
    <dgm:cxn modelId="{57BC0FB2-533E-4DF1-8077-65BD6482F10F}" srcId="{B1BAE65F-EBF3-4193-BB7D-C68DDF5F4795}" destId="{28B90642-52A0-40EF-A691-E4C47C7B6B68}" srcOrd="1" destOrd="0" parTransId="{32BF128F-66F2-4226-BA6E-A32555A67326}" sibTransId="{9346952E-89B6-42B5-BADE-DD0A12006F0D}"/>
    <dgm:cxn modelId="{5094FEBE-53BC-46D6-B1EB-5D2EF4F4C460}" type="presOf" srcId="{DAEE39EE-D67A-4F8F-9695-9CB9FF0ED068}" destId="{69F57E92-E75A-4A54-9B81-F0E5708F2135}" srcOrd="0" destOrd="0" presId="urn:microsoft.com/office/officeart/2005/8/layout/vList2"/>
    <dgm:cxn modelId="{F14AA0ED-C4C8-4B6B-80DF-69B947EA15B6}" type="presOf" srcId="{B1BAE65F-EBF3-4193-BB7D-C68DDF5F4795}" destId="{37234515-4569-467C-B278-E2C0C0FD19A2}" srcOrd="0" destOrd="0" presId="urn:microsoft.com/office/officeart/2005/8/layout/vList2"/>
    <dgm:cxn modelId="{416BA8F5-3A4D-4540-A487-C485EBDF67C7}" type="presOf" srcId="{8A6252D6-933F-42F2-9106-B723FFDF61C2}" destId="{DEC27D21-2A5A-4B52-9C76-8D5688DEFA9A}" srcOrd="0" destOrd="0" presId="urn:microsoft.com/office/officeart/2005/8/layout/vList2"/>
    <dgm:cxn modelId="{633381BE-219A-4DF6-8ED4-B3C7A461009B}" type="presParOf" srcId="{37234515-4569-467C-B278-E2C0C0FD19A2}" destId="{144AA47B-624A-4273-8FC7-330566C7F7EF}" srcOrd="0" destOrd="0" presId="urn:microsoft.com/office/officeart/2005/8/layout/vList2"/>
    <dgm:cxn modelId="{8F3F43C8-0C14-4DA9-9E00-CAFEA754C3F1}" type="presParOf" srcId="{37234515-4569-467C-B278-E2C0C0FD19A2}" destId="{4A6A598D-F92E-484C-A488-F4CCC7B1882E}" srcOrd="1" destOrd="0" presId="urn:microsoft.com/office/officeart/2005/8/layout/vList2"/>
    <dgm:cxn modelId="{28AE9819-E021-4765-A321-7C020D994AF3}" type="presParOf" srcId="{37234515-4569-467C-B278-E2C0C0FD19A2}" destId="{CABCF0B0-2DC3-4C3A-8B96-057AF8016068}" srcOrd="2" destOrd="0" presId="urn:microsoft.com/office/officeart/2005/8/layout/vList2"/>
    <dgm:cxn modelId="{255782A9-C53A-4032-9D33-38011764FAF1}" type="presParOf" srcId="{37234515-4569-467C-B278-E2C0C0FD19A2}" destId="{786CA652-177D-4C6E-9F8E-9C2E11534768}" srcOrd="3" destOrd="0" presId="urn:microsoft.com/office/officeart/2005/8/layout/vList2"/>
    <dgm:cxn modelId="{8D611432-BCBE-49BE-B417-1753C416DF2A}" type="presParOf" srcId="{37234515-4569-467C-B278-E2C0C0FD19A2}" destId="{E577AE05-77F9-492B-AD11-8E0AE5897177}" srcOrd="4" destOrd="0" presId="urn:microsoft.com/office/officeart/2005/8/layout/vList2"/>
    <dgm:cxn modelId="{CB832FDF-7535-4346-BAE9-72CCE5CD2E4E}" type="presParOf" srcId="{37234515-4569-467C-B278-E2C0C0FD19A2}" destId="{41AD1EA4-9994-46E3-824F-11FC30A99A77}" srcOrd="5" destOrd="0" presId="urn:microsoft.com/office/officeart/2005/8/layout/vList2"/>
    <dgm:cxn modelId="{B75AACC2-3B98-4E92-82F3-B0FD3605510E}" type="presParOf" srcId="{37234515-4569-467C-B278-E2C0C0FD19A2}" destId="{DEC27D21-2A5A-4B52-9C76-8D5688DEFA9A}" srcOrd="6" destOrd="0" presId="urn:microsoft.com/office/officeart/2005/8/layout/vList2"/>
    <dgm:cxn modelId="{FA79146D-5393-4B47-BBD0-8AADF530D42F}" type="presParOf" srcId="{37234515-4569-467C-B278-E2C0C0FD19A2}" destId="{69F57E92-E75A-4A54-9B81-F0E5708F2135}" srcOrd="7"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905FE9-0170-4D39-A5CD-6ABFC6644E2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52FED1B-B60F-452C-AF23-F67FBB983DC3}">
      <dgm:prSet/>
      <dgm:spPr/>
      <dgm:t>
        <a:bodyPr/>
        <a:lstStyle/>
        <a:p>
          <a:r>
            <a:rPr lang="en-US"/>
            <a:t>Deep learning segmentation models optimize for </a:t>
          </a:r>
          <a:r>
            <a:rPr lang="en-US" b="1">
              <a:solidFill>
                <a:schemeClr val="accent1"/>
              </a:solidFill>
            </a:rPr>
            <a:t>voxel overlap</a:t>
          </a:r>
          <a:r>
            <a:rPr lang="en-US">
              <a:solidFill>
                <a:schemeClr val="accent1"/>
              </a:solidFill>
            </a:rPr>
            <a:t> </a:t>
          </a:r>
          <a:r>
            <a:rPr lang="en-US"/>
            <a:t>– no concept of vessel connectivity </a:t>
          </a:r>
          <a:endParaRPr lang="en-US" dirty="0"/>
        </a:p>
      </dgm:t>
    </dgm:pt>
    <dgm:pt modelId="{B6399E64-4F54-448B-B52E-430085825ECD}" type="parTrans" cxnId="{975B6E33-6584-4B14-9DD3-23EA5B86039C}">
      <dgm:prSet/>
      <dgm:spPr/>
      <dgm:t>
        <a:bodyPr/>
        <a:lstStyle/>
        <a:p>
          <a:endParaRPr lang="en-US"/>
        </a:p>
      </dgm:t>
    </dgm:pt>
    <dgm:pt modelId="{5951B2C8-5AEE-4498-9176-AAFB35FBC07E}" type="sibTrans" cxnId="{975B6E33-6584-4B14-9DD3-23EA5B86039C}">
      <dgm:prSet/>
      <dgm:spPr/>
      <dgm:t>
        <a:bodyPr/>
        <a:lstStyle/>
        <a:p>
          <a:endParaRPr lang="en-US"/>
        </a:p>
      </dgm:t>
    </dgm:pt>
    <dgm:pt modelId="{C9199E34-A55A-4DA8-8CE6-56294C871FDE}">
      <dgm:prSet/>
      <dgm:spPr/>
      <dgm:t>
        <a:bodyPr/>
        <a:lstStyle/>
        <a:p>
          <a:r>
            <a:rPr lang="en-US" dirty="0"/>
            <a:t>A segmentation can score </a:t>
          </a:r>
          <a:r>
            <a:rPr lang="en-US" dirty="0">
              <a:solidFill>
                <a:schemeClr val="accent1"/>
              </a:solidFill>
            </a:rPr>
            <a:t>DSC</a:t>
          </a:r>
          <a:r>
            <a:rPr lang="en-US" dirty="0"/>
            <a:t> </a:t>
          </a:r>
          <a:r>
            <a:rPr lang="en-US" dirty="0">
              <a:solidFill>
                <a:schemeClr val="accent1"/>
              </a:solidFill>
            </a:rPr>
            <a:t>0.87</a:t>
          </a:r>
          <a:r>
            <a:rPr lang="en-US" dirty="0"/>
            <a:t> while containing </a:t>
          </a:r>
          <a:r>
            <a:rPr lang="en-US" dirty="0">
              <a:solidFill>
                <a:schemeClr val="accent1"/>
              </a:solidFill>
            </a:rPr>
            <a:t>severed vessels </a:t>
          </a:r>
          <a:r>
            <a:rPr lang="en-US" dirty="0"/>
            <a:t>and disconnected fragments</a:t>
          </a:r>
        </a:p>
      </dgm:t>
    </dgm:pt>
    <dgm:pt modelId="{EBAA910C-B0FB-4D44-A79A-EE34132C9ED5}" type="parTrans" cxnId="{4ADB945F-373B-443A-B305-00D18C6193CE}">
      <dgm:prSet/>
      <dgm:spPr/>
      <dgm:t>
        <a:bodyPr/>
        <a:lstStyle/>
        <a:p>
          <a:endParaRPr lang="en-US"/>
        </a:p>
      </dgm:t>
    </dgm:pt>
    <dgm:pt modelId="{A9F8C86A-C9E9-4A1C-BDF2-501CB6CB4E99}" type="sibTrans" cxnId="{4ADB945F-373B-443A-B305-00D18C6193CE}">
      <dgm:prSet/>
      <dgm:spPr/>
      <dgm:t>
        <a:bodyPr/>
        <a:lstStyle/>
        <a:p>
          <a:endParaRPr lang="en-US"/>
        </a:p>
      </dgm:t>
    </dgm:pt>
    <dgm:pt modelId="{35089334-62A9-4051-9F7E-5D6CB4A08A3C}">
      <dgm:prSet/>
      <dgm:spPr/>
      <dgm:t>
        <a:bodyPr/>
        <a:lstStyle/>
        <a:p>
          <a:r>
            <a:rPr lang="en-US" b="1" dirty="0">
              <a:solidFill>
                <a:schemeClr val="accent1"/>
              </a:solidFill>
            </a:rPr>
            <a:t>Aggregate metrics are misleading</a:t>
          </a:r>
          <a:r>
            <a:rPr lang="en-US" dirty="0">
              <a:solidFill>
                <a:schemeClr val="accent1"/>
              </a:solidFill>
            </a:rPr>
            <a:t> </a:t>
          </a:r>
          <a:r>
            <a:rPr lang="en-US" dirty="0"/>
            <a:t>– dominated by large, easy arteries; hide failures on thin structures</a:t>
          </a:r>
        </a:p>
      </dgm:t>
    </dgm:pt>
    <dgm:pt modelId="{F088D4BE-7A81-463F-8A29-BEF880E52210}" type="parTrans" cxnId="{C6B67535-A327-463B-B62C-A6D147E8784D}">
      <dgm:prSet/>
      <dgm:spPr/>
      <dgm:t>
        <a:bodyPr/>
        <a:lstStyle/>
        <a:p>
          <a:endParaRPr lang="en-US"/>
        </a:p>
      </dgm:t>
    </dgm:pt>
    <dgm:pt modelId="{F6EC121A-4E89-4763-B597-2987E9968BE1}" type="sibTrans" cxnId="{C6B67535-A327-463B-B62C-A6D147E8784D}">
      <dgm:prSet/>
      <dgm:spPr/>
      <dgm:t>
        <a:bodyPr/>
        <a:lstStyle/>
        <a:p>
          <a:endParaRPr lang="en-US"/>
        </a:p>
      </dgm:t>
    </dgm:pt>
    <dgm:pt modelId="{63522886-BEDE-4870-AA2B-BF2610942CCB}">
      <dgm:prSet custT="1"/>
      <dgm:spPr/>
      <dgm:t>
        <a:bodyPr/>
        <a:lstStyle/>
        <a:p>
          <a:r>
            <a:rPr lang="en-US" sz="2300" b="1" dirty="0"/>
            <a:t>Clinically useless segmentations can look numerically acceptable </a:t>
          </a:r>
        </a:p>
        <a:p>
          <a:r>
            <a:rPr lang="en-US" sz="2000" b="1" dirty="0">
              <a:solidFill>
                <a:schemeClr val="accent6"/>
              </a:solidFill>
            </a:rPr>
            <a:t>Global DSC: 0.87    </a:t>
          </a:r>
          <a:r>
            <a:rPr lang="en-US" sz="2000" b="1" dirty="0">
              <a:solidFill>
                <a:schemeClr val="accent5"/>
              </a:solidFill>
            </a:rPr>
            <a:t>R-</a:t>
          </a:r>
          <a:r>
            <a:rPr lang="en-US" sz="2000" b="1" dirty="0" err="1">
              <a:solidFill>
                <a:schemeClr val="accent5"/>
              </a:solidFill>
            </a:rPr>
            <a:t>Pcom</a:t>
          </a:r>
          <a:r>
            <a:rPr lang="en-US" sz="2000" b="1" dirty="0">
              <a:solidFill>
                <a:schemeClr val="accent5"/>
              </a:solidFill>
            </a:rPr>
            <a:t> DSC: 0.42   L-ACA DSC: 0.46</a:t>
          </a:r>
        </a:p>
      </dgm:t>
    </dgm:pt>
    <dgm:pt modelId="{3C5D434B-CAEB-48F3-8A1A-5F62869D3827}" type="parTrans" cxnId="{59DC2005-A6DB-4DDA-A39D-BDC828605A12}">
      <dgm:prSet/>
      <dgm:spPr/>
      <dgm:t>
        <a:bodyPr/>
        <a:lstStyle/>
        <a:p>
          <a:endParaRPr lang="en-US"/>
        </a:p>
      </dgm:t>
    </dgm:pt>
    <dgm:pt modelId="{9A584C51-1E2A-49AB-811F-CA3C12FDB451}" type="sibTrans" cxnId="{59DC2005-A6DB-4DDA-A39D-BDC828605A12}">
      <dgm:prSet/>
      <dgm:spPr/>
      <dgm:t>
        <a:bodyPr/>
        <a:lstStyle/>
        <a:p>
          <a:endParaRPr lang="en-US"/>
        </a:p>
      </dgm:t>
    </dgm:pt>
    <dgm:pt modelId="{8AE848DA-41C4-4D27-AC06-84A416887ACD}" type="pres">
      <dgm:prSet presAssocID="{20905FE9-0170-4D39-A5CD-6ABFC6644E21}" presName="vert0" presStyleCnt="0">
        <dgm:presLayoutVars>
          <dgm:dir/>
          <dgm:animOne val="branch"/>
          <dgm:animLvl val="lvl"/>
        </dgm:presLayoutVars>
      </dgm:prSet>
      <dgm:spPr/>
    </dgm:pt>
    <dgm:pt modelId="{5162A5FA-58FF-4618-A68C-5A27C9FB847D}" type="pres">
      <dgm:prSet presAssocID="{452FED1B-B60F-452C-AF23-F67FBB983DC3}" presName="thickLine" presStyleLbl="alignNode1" presStyleIdx="0" presStyleCnt="4"/>
      <dgm:spPr/>
    </dgm:pt>
    <dgm:pt modelId="{73D291AA-DAC2-4718-84B5-9689D761A5B7}" type="pres">
      <dgm:prSet presAssocID="{452FED1B-B60F-452C-AF23-F67FBB983DC3}" presName="horz1" presStyleCnt="0"/>
      <dgm:spPr/>
    </dgm:pt>
    <dgm:pt modelId="{8C7C0A6E-482F-4442-BEB9-1C89DCBFE307}" type="pres">
      <dgm:prSet presAssocID="{452FED1B-B60F-452C-AF23-F67FBB983DC3}" presName="tx1" presStyleLbl="revTx" presStyleIdx="0" presStyleCnt="4"/>
      <dgm:spPr/>
    </dgm:pt>
    <dgm:pt modelId="{F46BA982-9344-46D5-971F-EF42F1661C8C}" type="pres">
      <dgm:prSet presAssocID="{452FED1B-B60F-452C-AF23-F67FBB983DC3}" presName="vert1" presStyleCnt="0"/>
      <dgm:spPr/>
    </dgm:pt>
    <dgm:pt modelId="{D29D6E72-34F9-422F-A67D-C1906EAA6C49}" type="pres">
      <dgm:prSet presAssocID="{C9199E34-A55A-4DA8-8CE6-56294C871FDE}" presName="thickLine" presStyleLbl="alignNode1" presStyleIdx="1" presStyleCnt="4"/>
      <dgm:spPr/>
    </dgm:pt>
    <dgm:pt modelId="{94B2F727-5340-40D8-AA62-DB0F563BC86D}" type="pres">
      <dgm:prSet presAssocID="{C9199E34-A55A-4DA8-8CE6-56294C871FDE}" presName="horz1" presStyleCnt="0"/>
      <dgm:spPr/>
    </dgm:pt>
    <dgm:pt modelId="{2EEA7474-2637-4787-8BC9-A825810D33FA}" type="pres">
      <dgm:prSet presAssocID="{C9199E34-A55A-4DA8-8CE6-56294C871FDE}" presName="tx1" presStyleLbl="revTx" presStyleIdx="1" presStyleCnt="4"/>
      <dgm:spPr/>
    </dgm:pt>
    <dgm:pt modelId="{41E06BD2-2013-482A-AA18-B01045AF191F}" type="pres">
      <dgm:prSet presAssocID="{C9199E34-A55A-4DA8-8CE6-56294C871FDE}" presName="vert1" presStyleCnt="0"/>
      <dgm:spPr/>
    </dgm:pt>
    <dgm:pt modelId="{083229C8-3D15-46B5-BBDA-E4330048AAFA}" type="pres">
      <dgm:prSet presAssocID="{35089334-62A9-4051-9F7E-5D6CB4A08A3C}" presName="thickLine" presStyleLbl="alignNode1" presStyleIdx="2" presStyleCnt="4"/>
      <dgm:spPr/>
    </dgm:pt>
    <dgm:pt modelId="{E5BF9051-7058-40C9-8450-ABA0A3CF1F23}" type="pres">
      <dgm:prSet presAssocID="{35089334-62A9-4051-9F7E-5D6CB4A08A3C}" presName="horz1" presStyleCnt="0"/>
      <dgm:spPr/>
    </dgm:pt>
    <dgm:pt modelId="{6AF3850D-D36D-4BED-B714-A893E1454AC2}" type="pres">
      <dgm:prSet presAssocID="{35089334-62A9-4051-9F7E-5D6CB4A08A3C}" presName="tx1" presStyleLbl="revTx" presStyleIdx="2" presStyleCnt="4"/>
      <dgm:spPr/>
    </dgm:pt>
    <dgm:pt modelId="{E9464188-2756-43DB-8EBB-ADC6DF7301C3}" type="pres">
      <dgm:prSet presAssocID="{35089334-62A9-4051-9F7E-5D6CB4A08A3C}" presName="vert1" presStyleCnt="0"/>
      <dgm:spPr/>
    </dgm:pt>
    <dgm:pt modelId="{8FAAF2F8-66D1-4A5A-845E-21D012B7D829}" type="pres">
      <dgm:prSet presAssocID="{63522886-BEDE-4870-AA2B-BF2610942CCB}" presName="thickLine" presStyleLbl="alignNode1" presStyleIdx="3" presStyleCnt="4"/>
      <dgm:spPr/>
    </dgm:pt>
    <dgm:pt modelId="{59075D2C-FEB0-40E3-8CFE-CD1B1B880682}" type="pres">
      <dgm:prSet presAssocID="{63522886-BEDE-4870-AA2B-BF2610942CCB}" presName="horz1" presStyleCnt="0"/>
      <dgm:spPr/>
    </dgm:pt>
    <dgm:pt modelId="{DAC7ADC2-C4CD-4E70-98A8-E9AAB3858B9C}" type="pres">
      <dgm:prSet presAssocID="{63522886-BEDE-4870-AA2B-BF2610942CCB}" presName="tx1" presStyleLbl="revTx" presStyleIdx="3" presStyleCnt="4"/>
      <dgm:spPr/>
    </dgm:pt>
    <dgm:pt modelId="{9992AFCE-682A-4190-9236-22499F0FE6EE}" type="pres">
      <dgm:prSet presAssocID="{63522886-BEDE-4870-AA2B-BF2610942CCB}" presName="vert1" presStyleCnt="0"/>
      <dgm:spPr/>
    </dgm:pt>
  </dgm:ptLst>
  <dgm:cxnLst>
    <dgm:cxn modelId="{59DC2005-A6DB-4DDA-A39D-BDC828605A12}" srcId="{20905FE9-0170-4D39-A5CD-6ABFC6644E21}" destId="{63522886-BEDE-4870-AA2B-BF2610942CCB}" srcOrd="3" destOrd="0" parTransId="{3C5D434B-CAEB-48F3-8A1A-5F62869D3827}" sibTransId="{9A584C51-1E2A-49AB-811F-CA3C12FDB451}"/>
    <dgm:cxn modelId="{F644212F-5C93-4930-8A45-47071274599F}" type="presOf" srcId="{35089334-62A9-4051-9F7E-5D6CB4A08A3C}" destId="{6AF3850D-D36D-4BED-B714-A893E1454AC2}" srcOrd="0" destOrd="0" presId="urn:microsoft.com/office/officeart/2008/layout/LinedList"/>
    <dgm:cxn modelId="{975B6E33-6584-4B14-9DD3-23EA5B86039C}" srcId="{20905FE9-0170-4D39-A5CD-6ABFC6644E21}" destId="{452FED1B-B60F-452C-AF23-F67FBB983DC3}" srcOrd="0" destOrd="0" parTransId="{B6399E64-4F54-448B-B52E-430085825ECD}" sibTransId="{5951B2C8-5AEE-4498-9176-AAFB35FBC07E}"/>
    <dgm:cxn modelId="{C6B67535-A327-463B-B62C-A6D147E8784D}" srcId="{20905FE9-0170-4D39-A5CD-6ABFC6644E21}" destId="{35089334-62A9-4051-9F7E-5D6CB4A08A3C}" srcOrd="2" destOrd="0" parTransId="{F088D4BE-7A81-463F-8A29-BEF880E52210}" sibTransId="{F6EC121A-4E89-4763-B597-2987E9968BE1}"/>
    <dgm:cxn modelId="{4ADB945F-373B-443A-B305-00D18C6193CE}" srcId="{20905FE9-0170-4D39-A5CD-6ABFC6644E21}" destId="{C9199E34-A55A-4DA8-8CE6-56294C871FDE}" srcOrd="1" destOrd="0" parTransId="{EBAA910C-B0FB-4D44-A79A-EE34132C9ED5}" sibTransId="{A9F8C86A-C9E9-4A1C-BDF2-501CB6CB4E99}"/>
    <dgm:cxn modelId="{E628FF6D-7981-4281-BDF1-86E7DD92BABA}" type="presOf" srcId="{20905FE9-0170-4D39-A5CD-6ABFC6644E21}" destId="{8AE848DA-41C4-4D27-AC06-84A416887ACD}" srcOrd="0" destOrd="0" presId="urn:microsoft.com/office/officeart/2008/layout/LinedList"/>
    <dgm:cxn modelId="{488265A4-5620-4934-B699-D2C3D13AF6E1}" type="presOf" srcId="{C9199E34-A55A-4DA8-8CE6-56294C871FDE}" destId="{2EEA7474-2637-4787-8BC9-A825810D33FA}" srcOrd="0" destOrd="0" presId="urn:microsoft.com/office/officeart/2008/layout/LinedList"/>
    <dgm:cxn modelId="{6663E7AD-446A-41F4-BE44-2BE9526B6541}" type="presOf" srcId="{452FED1B-B60F-452C-AF23-F67FBB983DC3}" destId="{8C7C0A6E-482F-4442-BEB9-1C89DCBFE307}" srcOrd="0" destOrd="0" presId="urn:microsoft.com/office/officeart/2008/layout/LinedList"/>
    <dgm:cxn modelId="{82334ABB-AE30-44AE-B5B1-3667FFB43775}" type="presOf" srcId="{63522886-BEDE-4870-AA2B-BF2610942CCB}" destId="{DAC7ADC2-C4CD-4E70-98A8-E9AAB3858B9C}" srcOrd="0" destOrd="0" presId="urn:microsoft.com/office/officeart/2008/layout/LinedList"/>
    <dgm:cxn modelId="{3BC84CD0-F0A6-4142-8427-EC819BDA8B09}" type="presParOf" srcId="{8AE848DA-41C4-4D27-AC06-84A416887ACD}" destId="{5162A5FA-58FF-4618-A68C-5A27C9FB847D}" srcOrd="0" destOrd="0" presId="urn:microsoft.com/office/officeart/2008/layout/LinedList"/>
    <dgm:cxn modelId="{9602DDA4-598A-43E6-97D1-3DCF0F4E9AE9}" type="presParOf" srcId="{8AE848DA-41C4-4D27-AC06-84A416887ACD}" destId="{73D291AA-DAC2-4718-84B5-9689D761A5B7}" srcOrd="1" destOrd="0" presId="urn:microsoft.com/office/officeart/2008/layout/LinedList"/>
    <dgm:cxn modelId="{96E81218-7792-49C2-B845-FB28F4EA65E6}" type="presParOf" srcId="{73D291AA-DAC2-4718-84B5-9689D761A5B7}" destId="{8C7C0A6E-482F-4442-BEB9-1C89DCBFE307}" srcOrd="0" destOrd="0" presId="urn:microsoft.com/office/officeart/2008/layout/LinedList"/>
    <dgm:cxn modelId="{0F8E1FF7-1019-4F71-9FEC-1273484E0F7B}" type="presParOf" srcId="{73D291AA-DAC2-4718-84B5-9689D761A5B7}" destId="{F46BA982-9344-46D5-971F-EF42F1661C8C}" srcOrd="1" destOrd="0" presId="urn:microsoft.com/office/officeart/2008/layout/LinedList"/>
    <dgm:cxn modelId="{E68D2BF8-D21D-4AAD-9E14-745DAE43BF2F}" type="presParOf" srcId="{8AE848DA-41C4-4D27-AC06-84A416887ACD}" destId="{D29D6E72-34F9-422F-A67D-C1906EAA6C49}" srcOrd="2" destOrd="0" presId="urn:microsoft.com/office/officeart/2008/layout/LinedList"/>
    <dgm:cxn modelId="{F2B74BCE-13AC-42ED-8674-2D234DC89DC2}" type="presParOf" srcId="{8AE848DA-41C4-4D27-AC06-84A416887ACD}" destId="{94B2F727-5340-40D8-AA62-DB0F563BC86D}" srcOrd="3" destOrd="0" presId="urn:microsoft.com/office/officeart/2008/layout/LinedList"/>
    <dgm:cxn modelId="{95DFDFAD-81C1-450D-8066-C7D951FB47E9}" type="presParOf" srcId="{94B2F727-5340-40D8-AA62-DB0F563BC86D}" destId="{2EEA7474-2637-4787-8BC9-A825810D33FA}" srcOrd="0" destOrd="0" presId="urn:microsoft.com/office/officeart/2008/layout/LinedList"/>
    <dgm:cxn modelId="{6484C28A-0D42-4E89-B86C-28593A1DAF02}" type="presParOf" srcId="{94B2F727-5340-40D8-AA62-DB0F563BC86D}" destId="{41E06BD2-2013-482A-AA18-B01045AF191F}" srcOrd="1" destOrd="0" presId="urn:microsoft.com/office/officeart/2008/layout/LinedList"/>
    <dgm:cxn modelId="{169BF89A-50F4-45EF-B8B0-CD1A3481A553}" type="presParOf" srcId="{8AE848DA-41C4-4D27-AC06-84A416887ACD}" destId="{083229C8-3D15-46B5-BBDA-E4330048AAFA}" srcOrd="4" destOrd="0" presId="urn:microsoft.com/office/officeart/2008/layout/LinedList"/>
    <dgm:cxn modelId="{13E12742-BF58-4D92-8731-BD268B970BD1}" type="presParOf" srcId="{8AE848DA-41C4-4D27-AC06-84A416887ACD}" destId="{E5BF9051-7058-40C9-8450-ABA0A3CF1F23}" srcOrd="5" destOrd="0" presId="urn:microsoft.com/office/officeart/2008/layout/LinedList"/>
    <dgm:cxn modelId="{8EACAA8B-9066-4730-ADEC-799EA994CEF5}" type="presParOf" srcId="{E5BF9051-7058-40C9-8450-ABA0A3CF1F23}" destId="{6AF3850D-D36D-4BED-B714-A893E1454AC2}" srcOrd="0" destOrd="0" presId="urn:microsoft.com/office/officeart/2008/layout/LinedList"/>
    <dgm:cxn modelId="{AEB80A36-5AC7-47D3-9A25-D1EBE5DF9F9A}" type="presParOf" srcId="{E5BF9051-7058-40C9-8450-ABA0A3CF1F23}" destId="{E9464188-2756-43DB-8EBB-ADC6DF7301C3}" srcOrd="1" destOrd="0" presId="urn:microsoft.com/office/officeart/2008/layout/LinedList"/>
    <dgm:cxn modelId="{EC43C8D6-7F79-4159-8044-A05711FB71E7}" type="presParOf" srcId="{8AE848DA-41C4-4D27-AC06-84A416887ACD}" destId="{8FAAF2F8-66D1-4A5A-845E-21D012B7D829}" srcOrd="6" destOrd="0" presId="urn:microsoft.com/office/officeart/2008/layout/LinedList"/>
    <dgm:cxn modelId="{806347FD-B1C7-4BE6-869B-7DFACDFC28A8}" type="presParOf" srcId="{8AE848DA-41C4-4D27-AC06-84A416887ACD}" destId="{59075D2C-FEB0-40E3-8CFE-CD1B1B880682}" srcOrd="7" destOrd="0" presId="urn:microsoft.com/office/officeart/2008/layout/LinedList"/>
    <dgm:cxn modelId="{36AA1F92-375F-4124-A959-0F8C1B672CF1}" type="presParOf" srcId="{59075D2C-FEB0-40E3-8CFE-CD1B1B880682}" destId="{DAC7ADC2-C4CD-4E70-98A8-E9AAB3858B9C}" srcOrd="0" destOrd="0" presId="urn:microsoft.com/office/officeart/2008/layout/LinedList"/>
    <dgm:cxn modelId="{7966C6CA-D1BE-4EBC-B44A-09E25BDF54A6}" type="presParOf" srcId="{59075D2C-FEB0-40E3-8CFE-CD1B1B880682}" destId="{9992AFCE-682A-4190-9236-22499F0FE6E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BA5150-17B1-4882-9492-3B6BB6C6A1A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6518AF5-CD2A-4A8F-9D75-86CDFE2F6BFA}">
      <dgm:prSet custT="1"/>
      <dgm:spPr/>
      <dgm:t>
        <a:bodyPr/>
        <a:lstStyle/>
        <a:p>
          <a:pPr>
            <a:lnSpc>
              <a:spcPct val="100000"/>
            </a:lnSpc>
          </a:pPr>
          <a:r>
            <a:rPr lang="en-US" sz="1800" b="1" dirty="0" err="1"/>
            <a:t>TopCow</a:t>
          </a:r>
          <a:r>
            <a:rPr lang="en-US" sz="1800" b="1" dirty="0"/>
            <a:t> 2024</a:t>
          </a:r>
          <a:endParaRPr lang="en-US" sz="1800" dirty="0"/>
        </a:p>
      </dgm:t>
    </dgm:pt>
    <dgm:pt modelId="{25506C35-1700-4A02-B951-08BC36908D0C}" type="parTrans" cxnId="{2AB4392A-8081-42FD-8046-1F3B74622471}">
      <dgm:prSet/>
      <dgm:spPr/>
      <dgm:t>
        <a:bodyPr/>
        <a:lstStyle/>
        <a:p>
          <a:endParaRPr lang="en-US"/>
        </a:p>
      </dgm:t>
    </dgm:pt>
    <dgm:pt modelId="{8D67A124-9AE3-4D96-A46D-EF4D3636298D}" type="sibTrans" cxnId="{2AB4392A-8081-42FD-8046-1F3B74622471}">
      <dgm:prSet/>
      <dgm:spPr/>
      <dgm:t>
        <a:bodyPr/>
        <a:lstStyle/>
        <a:p>
          <a:endParaRPr lang="en-US"/>
        </a:p>
      </dgm:t>
    </dgm:pt>
    <dgm:pt modelId="{3DC4C869-F1B2-4DD6-A280-AFCE7EA61CD5}">
      <dgm:prSet/>
      <dgm:spPr/>
      <dgm:t>
        <a:bodyPr/>
        <a:lstStyle/>
        <a:p>
          <a:pPr>
            <a:lnSpc>
              <a:spcPct val="100000"/>
            </a:lnSpc>
          </a:pPr>
          <a:r>
            <a:rPr lang="en-US" b="1"/>
            <a:t>MICCAI Challenge Dataset</a:t>
          </a:r>
          <a:endParaRPr lang="en-US"/>
        </a:p>
      </dgm:t>
    </dgm:pt>
    <dgm:pt modelId="{9FF7E77B-C5AF-4FC2-8AC3-260765649391}" type="parTrans" cxnId="{76DD59C6-3410-45C1-9089-D7B7D1A9FC59}">
      <dgm:prSet/>
      <dgm:spPr/>
      <dgm:t>
        <a:bodyPr/>
        <a:lstStyle/>
        <a:p>
          <a:endParaRPr lang="en-US"/>
        </a:p>
      </dgm:t>
    </dgm:pt>
    <dgm:pt modelId="{3962AF9C-795E-4065-94ED-0DBB39D0BACB}" type="sibTrans" cxnId="{76DD59C6-3410-45C1-9089-D7B7D1A9FC59}">
      <dgm:prSet/>
      <dgm:spPr/>
      <dgm:t>
        <a:bodyPr/>
        <a:lstStyle/>
        <a:p>
          <a:endParaRPr lang="en-US"/>
        </a:p>
      </dgm:t>
    </dgm:pt>
    <dgm:pt modelId="{C70450B9-4142-4C39-B9D7-54852624A928}">
      <dgm:prSet/>
      <dgm:spPr/>
      <dgm:t>
        <a:bodyPr/>
        <a:lstStyle/>
        <a:p>
          <a:pPr>
            <a:lnSpc>
              <a:spcPct val="100000"/>
            </a:lnSpc>
          </a:pPr>
          <a:r>
            <a:rPr lang="en-US" b="1"/>
            <a:t>125 CTA volumes with expert annotations</a:t>
          </a:r>
          <a:endParaRPr lang="en-US"/>
        </a:p>
      </dgm:t>
    </dgm:pt>
    <dgm:pt modelId="{F005AA82-311A-49C6-BF60-7AC91D998FD6}" type="parTrans" cxnId="{FB419DF3-D5E6-4400-A4C2-93493071FCD8}">
      <dgm:prSet/>
      <dgm:spPr/>
      <dgm:t>
        <a:bodyPr/>
        <a:lstStyle/>
        <a:p>
          <a:endParaRPr lang="en-US"/>
        </a:p>
      </dgm:t>
    </dgm:pt>
    <dgm:pt modelId="{46291C09-5336-4859-BD4E-14889A6A149F}" type="sibTrans" cxnId="{FB419DF3-D5E6-4400-A4C2-93493071FCD8}">
      <dgm:prSet/>
      <dgm:spPr/>
      <dgm:t>
        <a:bodyPr/>
        <a:lstStyle/>
        <a:p>
          <a:endParaRPr lang="en-US"/>
        </a:p>
      </dgm:t>
    </dgm:pt>
    <dgm:pt modelId="{F3AC76ED-9D2E-4013-8B25-D64EC043669D}">
      <dgm:prSet/>
      <dgm:spPr/>
      <dgm:t>
        <a:bodyPr/>
        <a:lstStyle/>
        <a:p>
          <a:pPr>
            <a:lnSpc>
              <a:spcPct val="100000"/>
            </a:lnSpc>
          </a:pPr>
          <a:r>
            <a:rPr lang="en-US" b="1"/>
            <a:t>13 Circle of Willis vessel classes</a:t>
          </a:r>
          <a:endParaRPr lang="en-US"/>
        </a:p>
      </dgm:t>
    </dgm:pt>
    <dgm:pt modelId="{925700E1-253A-42B1-86A2-D037E39573E5}" type="parTrans" cxnId="{A451A5FD-A678-4090-B08D-3F4BCFFB1731}">
      <dgm:prSet/>
      <dgm:spPr/>
      <dgm:t>
        <a:bodyPr/>
        <a:lstStyle/>
        <a:p>
          <a:endParaRPr lang="en-US"/>
        </a:p>
      </dgm:t>
    </dgm:pt>
    <dgm:pt modelId="{A2A5CCF8-0EC7-490F-8FDB-7740136FD4D0}" type="sibTrans" cxnId="{A451A5FD-A678-4090-B08D-3F4BCFFB1731}">
      <dgm:prSet/>
      <dgm:spPr/>
      <dgm:t>
        <a:bodyPr/>
        <a:lstStyle/>
        <a:p>
          <a:endParaRPr lang="en-US"/>
        </a:p>
      </dgm:t>
    </dgm:pt>
    <dgm:pt modelId="{C2D81E01-BD98-4101-A847-C44203C1148A}">
      <dgm:prSet/>
      <dgm:spPr/>
      <dgm:t>
        <a:bodyPr/>
        <a:lstStyle/>
        <a:p>
          <a:pPr>
            <a:lnSpc>
              <a:spcPct val="100000"/>
            </a:lnSpc>
          </a:pPr>
          <a:r>
            <a:rPr lang="en-US" b="1"/>
            <a:t>100/25 train/validation split (80/20)</a:t>
          </a:r>
          <a:endParaRPr lang="en-US"/>
        </a:p>
      </dgm:t>
    </dgm:pt>
    <dgm:pt modelId="{5B61C7E0-15C6-4135-9306-DEC3ACDF9FB0}" type="parTrans" cxnId="{4B702384-A4D7-468F-B3D7-32E155D1078F}">
      <dgm:prSet/>
      <dgm:spPr/>
      <dgm:t>
        <a:bodyPr/>
        <a:lstStyle/>
        <a:p>
          <a:endParaRPr lang="en-US"/>
        </a:p>
      </dgm:t>
    </dgm:pt>
    <dgm:pt modelId="{2602EDDF-0716-429E-8582-3AC70A17BB8F}" type="sibTrans" cxnId="{4B702384-A4D7-468F-B3D7-32E155D1078F}">
      <dgm:prSet/>
      <dgm:spPr/>
      <dgm:t>
        <a:bodyPr/>
        <a:lstStyle/>
        <a:p>
          <a:endParaRPr lang="en-US"/>
        </a:p>
      </dgm:t>
    </dgm:pt>
    <dgm:pt modelId="{686DF5FF-FB8F-4DE0-9E97-D03E44E7CF58}">
      <dgm:prSet/>
      <dgm:spPr/>
      <dgm:t>
        <a:bodyPr/>
        <a:lstStyle/>
        <a:p>
          <a:pPr>
            <a:lnSpc>
              <a:spcPct val="100000"/>
            </a:lnSpc>
          </a:pPr>
          <a:r>
            <a:rPr lang="en-US" b="1"/>
            <a:t>Classes:   BA, ICA, MCA, PCA, ACA, Acom, Pcom, 3rd-A2</a:t>
          </a:r>
          <a:endParaRPr lang="en-US"/>
        </a:p>
      </dgm:t>
    </dgm:pt>
    <dgm:pt modelId="{40FC544C-8B7E-4818-AA64-E5868D2ACD5C}" type="parTrans" cxnId="{BA10A342-1B6D-4E73-8A02-5A2129E476BD}">
      <dgm:prSet/>
      <dgm:spPr/>
      <dgm:t>
        <a:bodyPr/>
        <a:lstStyle/>
        <a:p>
          <a:endParaRPr lang="en-US"/>
        </a:p>
      </dgm:t>
    </dgm:pt>
    <dgm:pt modelId="{41041E38-67F5-41CB-B5AF-64C11139B594}" type="sibTrans" cxnId="{BA10A342-1B6D-4E73-8A02-5A2129E476BD}">
      <dgm:prSet/>
      <dgm:spPr/>
      <dgm:t>
        <a:bodyPr/>
        <a:lstStyle/>
        <a:p>
          <a:endParaRPr lang="en-US"/>
        </a:p>
      </dgm:t>
    </dgm:pt>
    <dgm:pt modelId="{302FE260-970A-4575-8822-BA028BBB019F}">
      <dgm:prSet/>
      <dgm:spPr/>
      <dgm:t>
        <a:bodyPr/>
        <a:lstStyle/>
        <a:p>
          <a:pPr>
            <a:lnSpc>
              <a:spcPct val="100000"/>
            </a:lnSpc>
          </a:pPr>
          <a:r>
            <a:rPr lang="en-US" b="1"/>
            <a:t>Used for:  From-scratch training </a:t>
          </a:r>
          <a:endParaRPr lang="en-US"/>
        </a:p>
      </dgm:t>
    </dgm:pt>
    <dgm:pt modelId="{2AE50B4E-4850-46FD-B6E3-4516589AF54E}" type="parTrans" cxnId="{E588BDCE-153E-4D89-B12C-92F484E635B2}">
      <dgm:prSet/>
      <dgm:spPr/>
      <dgm:t>
        <a:bodyPr/>
        <a:lstStyle/>
        <a:p>
          <a:endParaRPr lang="en-US"/>
        </a:p>
      </dgm:t>
    </dgm:pt>
    <dgm:pt modelId="{FBCCB710-9057-42C4-8F6E-EF1A661CF988}" type="sibTrans" cxnId="{E588BDCE-153E-4D89-B12C-92F484E635B2}">
      <dgm:prSet/>
      <dgm:spPr/>
      <dgm:t>
        <a:bodyPr/>
        <a:lstStyle/>
        <a:p>
          <a:endParaRPr lang="en-US"/>
        </a:p>
      </dgm:t>
    </dgm:pt>
    <dgm:pt modelId="{2DE7A46D-0703-4E16-B273-5915764D25E7}" type="pres">
      <dgm:prSet presAssocID="{9EBA5150-17B1-4882-9492-3B6BB6C6A1A3}" presName="root" presStyleCnt="0">
        <dgm:presLayoutVars>
          <dgm:dir/>
          <dgm:resizeHandles val="exact"/>
        </dgm:presLayoutVars>
      </dgm:prSet>
      <dgm:spPr/>
    </dgm:pt>
    <dgm:pt modelId="{8CD2F40B-9DD2-43D8-864F-9E7A4061952F}" type="pres">
      <dgm:prSet presAssocID="{F6518AF5-CD2A-4A8F-9D75-86CDFE2F6BFA}" presName="compNode" presStyleCnt="0"/>
      <dgm:spPr/>
    </dgm:pt>
    <dgm:pt modelId="{507C5CCB-ED0B-41C8-9F85-2B34CFBD89F2}" type="pres">
      <dgm:prSet presAssocID="{F6518AF5-CD2A-4A8F-9D75-86CDFE2F6BFA}" presName="bgRect" presStyleLbl="bgShp" presStyleIdx="0" presStyleCnt="7"/>
      <dgm:spPr/>
    </dgm:pt>
    <dgm:pt modelId="{FA057D60-8A60-4B45-98E2-96FBCCDE197E}" type="pres">
      <dgm:prSet presAssocID="{F6518AF5-CD2A-4A8F-9D75-86CDFE2F6BF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48D96817-6CD6-47BF-9DE2-409E813AD54A}" type="pres">
      <dgm:prSet presAssocID="{F6518AF5-CD2A-4A8F-9D75-86CDFE2F6BFA}" presName="spaceRect" presStyleCnt="0"/>
      <dgm:spPr/>
    </dgm:pt>
    <dgm:pt modelId="{79034268-7F3E-4F60-9929-74CC18625F57}" type="pres">
      <dgm:prSet presAssocID="{F6518AF5-CD2A-4A8F-9D75-86CDFE2F6BFA}" presName="parTx" presStyleLbl="revTx" presStyleIdx="0" presStyleCnt="7">
        <dgm:presLayoutVars>
          <dgm:chMax val="0"/>
          <dgm:chPref val="0"/>
        </dgm:presLayoutVars>
      </dgm:prSet>
      <dgm:spPr/>
    </dgm:pt>
    <dgm:pt modelId="{89C644C4-ACA7-45EE-ADF1-30744A95B1BA}" type="pres">
      <dgm:prSet presAssocID="{8D67A124-9AE3-4D96-A46D-EF4D3636298D}" presName="sibTrans" presStyleCnt="0"/>
      <dgm:spPr/>
    </dgm:pt>
    <dgm:pt modelId="{AEB76E3D-8D56-4223-AC01-7FB2AF98DD6F}" type="pres">
      <dgm:prSet presAssocID="{3DC4C869-F1B2-4DD6-A280-AFCE7EA61CD5}" presName="compNode" presStyleCnt="0"/>
      <dgm:spPr/>
    </dgm:pt>
    <dgm:pt modelId="{A37F7B0B-3A9C-484A-AC24-646CFC8395DE}" type="pres">
      <dgm:prSet presAssocID="{3DC4C869-F1B2-4DD6-A280-AFCE7EA61CD5}" presName="bgRect" presStyleLbl="bgShp" presStyleIdx="1" presStyleCnt="7"/>
      <dgm:spPr/>
    </dgm:pt>
    <dgm:pt modelId="{EC364E49-B57C-48F1-927B-4F636000A8A8}" type="pres">
      <dgm:prSet presAssocID="{3DC4C869-F1B2-4DD6-A280-AFCE7EA61CD5}"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AB2F48D8-B9AA-439E-A548-CC73C14048DC}" type="pres">
      <dgm:prSet presAssocID="{3DC4C869-F1B2-4DD6-A280-AFCE7EA61CD5}" presName="spaceRect" presStyleCnt="0"/>
      <dgm:spPr/>
    </dgm:pt>
    <dgm:pt modelId="{A9B195A9-8920-4FF5-8519-DD75EB21C9E0}" type="pres">
      <dgm:prSet presAssocID="{3DC4C869-F1B2-4DD6-A280-AFCE7EA61CD5}" presName="parTx" presStyleLbl="revTx" presStyleIdx="1" presStyleCnt="7">
        <dgm:presLayoutVars>
          <dgm:chMax val="0"/>
          <dgm:chPref val="0"/>
        </dgm:presLayoutVars>
      </dgm:prSet>
      <dgm:spPr/>
    </dgm:pt>
    <dgm:pt modelId="{F53968AA-633F-4413-A329-5EC392056B31}" type="pres">
      <dgm:prSet presAssocID="{3962AF9C-795E-4065-94ED-0DBB39D0BACB}" presName="sibTrans" presStyleCnt="0"/>
      <dgm:spPr/>
    </dgm:pt>
    <dgm:pt modelId="{A72B4AE7-B7D2-442C-9DB6-2E86D4B2820B}" type="pres">
      <dgm:prSet presAssocID="{C70450B9-4142-4C39-B9D7-54852624A928}" presName="compNode" presStyleCnt="0"/>
      <dgm:spPr/>
    </dgm:pt>
    <dgm:pt modelId="{241B4A11-C712-4425-BE85-930F388C0496}" type="pres">
      <dgm:prSet presAssocID="{C70450B9-4142-4C39-B9D7-54852624A928}" presName="bgRect" presStyleLbl="bgShp" presStyleIdx="2" presStyleCnt="7"/>
      <dgm:spPr/>
    </dgm:pt>
    <dgm:pt modelId="{4F628C2D-02A8-40E9-8D55-90E11A38BE03}" type="pres">
      <dgm:prSet presAssocID="{C70450B9-4142-4C39-B9D7-54852624A928}"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E6685D4E-F03B-43E5-A6AD-804B9CEFCDAF}" type="pres">
      <dgm:prSet presAssocID="{C70450B9-4142-4C39-B9D7-54852624A928}" presName="spaceRect" presStyleCnt="0"/>
      <dgm:spPr/>
    </dgm:pt>
    <dgm:pt modelId="{5560D470-5A36-4F38-BDB7-5B3DB63F79B8}" type="pres">
      <dgm:prSet presAssocID="{C70450B9-4142-4C39-B9D7-54852624A928}" presName="parTx" presStyleLbl="revTx" presStyleIdx="2" presStyleCnt="7">
        <dgm:presLayoutVars>
          <dgm:chMax val="0"/>
          <dgm:chPref val="0"/>
        </dgm:presLayoutVars>
      </dgm:prSet>
      <dgm:spPr/>
    </dgm:pt>
    <dgm:pt modelId="{A8A00B5F-56F6-439A-B49D-99610FC9A52B}" type="pres">
      <dgm:prSet presAssocID="{46291C09-5336-4859-BD4E-14889A6A149F}" presName="sibTrans" presStyleCnt="0"/>
      <dgm:spPr/>
    </dgm:pt>
    <dgm:pt modelId="{D22DE6CE-1968-4CC0-AE32-57B5EBEE6505}" type="pres">
      <dgm:prSet presAssocID="{F3AC76ED-9D2E-4013-8B25-D64EC043669D}" presName="compNode" presStyleCnt="0"/>
      <dgm:spPr/>
    </dgm:pt>
    <dgm:pt modelId="{1F890038-986E-444D-BCC1-1154764EAA3E}" type="pres">
      <dgm:prSet presAssocID="{F3AC76ED-9D2E-4013-8B25-D64EC043669D}" presName="bgRect" presStyleLbl="bgShp" presStyleIdx="3" presStyleCnt="7"/>
      <dgm:spPr/>
    </dgm:pt>
    <dgm:pt modelId="{28FA494B-2D1E-447A-BC4A-B95CBFD461C8}" type="pres">
      <dgm:prSet presAssocID="{F3AC76ED-9D2E-4013-8B25-D64EC043669D}"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encil"/>
        </a:ext>
      </dgm:extLst>
    </dgm:pt>
    <dgm:pt modelId="{90877F86-F018-4738-92EB-132FC4758742}" type="pres">
      <dgm:prSet presAssocID="{F3AC76ED-9D2E-4013-8B25-D64EC043669D}" presName="spaceRect" presStyleCnt="0"/>
      <dgm:spPr/>
    </dgm:pt>
    <dgm:pt modelId="{7CAED1F2-0539-4AD7-AFDE-B9F765055403}" type="pres">
      <dgm:prSet presAssocID="{F3AC76ED-9D2E-4013-8B25-D64EC043669D}" presName="parTx" presStyleLbl="revTx" presStyleIdx="3" presStyleCnt="7">
        <dgm:presLayoutVars>
          <dgm:chMax val="0"/>
          <dgm:chPref val="0"/>
        </dgm:presLayoutVars>
      </dgm:prSet>
      <dgm:spPr/>
    </dgm:pt>
    <dgm:pt modelId="{C76C86E8-9813-401F-8200-777C8DB1C2C7}" type="pres">
      <dgm:prSet presAssocID="{A2A5CCF8-0EC7-490F-8FDB-7740136FD4D0}" presName="sibTrans" presStyleCnt="0"/>
      <dgm:spPr/>
    </dgm:pt>
    <dgm:pt modelId="{408DEFCA-4051-42CE-AC7B-C1DC8E25B45D}" type="pres">
      <dgm:prSet presAssocID="{C2D81E01-BD98-4101-A847-C44203C1148A}" presName="compNode" presStyleCnt="0"/>
      <dgm:spPr/>
    </dgm:pt>
    <dgm:pt modelId="{D83E819F-47B9-402E-BB37-628FFE947B6D}" type="pres">
      <dgm:prSet presAssocID="{C2D81E01-BD98-4101-A847-C44203C1148A}" presName="bgRect" presStyleLbl="bgShp" presStyleIdx="4" presStyleCnt="7"/>
      <dgm:spPr/>
    </dgm:pt>
    <dgm:pt modelId="{EBC7624C-C9DA-4DCD-95AD-E37F77BF9B92}" type="pres">
      <dgm:prSet presAssocID="{C2D81E01-BD98-4101-A847-C44203C1148A}"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rain"/>
        </a:ext>
      </dgm:extLst>
    </dgm:pt>
    <dgm:pt modelId="{26FEE527-E741-4054-BCA9-4546D8DE53F9}" type="pres">
      <dgm:prSet presAssocID="{C2D81E01-BD98-4101-A847-C44203C1148A}" presName="spaceRect" presStyleCnt="0"/>
      <dgm:spPr/>
    </dgm:pt>
    <dgm:pt modelId="{DAD6854E-F3FA-462A-B9C6-1FD5B67AEFB5}" type="pres">
      <dgm:prSet presAssocID="{C2D81E01-BD98-4101-A847-C44203C1148A}" presName="parTx" presStyleLbl="revTx" presStyleIdx="4" presStyleCnt="7">
        <dgm:presLayoutVars>
          <dgm:chMax val="0"/>
          <dgm:chPref val="0"/>
        </dgm:presLayoutVars>
      </dgm:prSet>
      <dgm:spPr/>
    </dgm:pt>
    <dgm:pt modelId="{6B289D7D-0F26-485C-B5CB-E94EC3151960}" type="pres">
      <dgm:prSet presAssocID="{2602EDDF-0716-429E-8582-3AC70A17BB8F}" presName="sibTrans" presStyleCnt="0"/>
      <dgm:spPr/>
    </dgm:pt>
    <dgm:pt modelId="{2C5004C8-89E0-403A-8DB5-2CA5B1C735A8}" type="pres">
      <dgm:prSet presAssocID="{686DF5FF-FB8F-4DE0-9E97-D03E44E7CF58}" presName="compNode" presStyleCnt="0"/>
      <dgm:spPr/>
    </dgm:pt>
    <dgm:pt modelId="{637E3542-F3E7-4536-8C16-8AC3AF34B05D}" type="pres">
      <dgm:prSet presAssocID="{686DF5FF-FB8F-4DE0-9E97-D03E44E7CF58}" presName="bgRect" presStyleLbl="bgShp" presStyleIdx="5" presStyleCnt="7"/>
      <dgm:spPr/>
    </dgm:pt>
    <dgm:pt modelId="{F823B13F-055C-473C-A34B-AC434B145CB3}" type="pres">
      <dgm:prSet presAssocID="{686DF5FF-FB8F-4DE0-9E97-D03E44E7CF5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octor"/>
        </a:ext>
      </dgm:extLst>
    </dgm:pt>
    <dgm:pt modelId="{3D7F1062-0C17-4006-BDD6-10763AF539EE}" type="pres">
      <dgm:prSet presAssocID="{686DF5FF-FB8F-4DE0-9E97-D03E44E7CF58}" presName="spaceRect" presStyleCnt="0"/>
      <dgm:spPr/>
    </dgm:pt>
    <dgm:pt modelId="{344D041A-95E6-4C9C-BB49-D2BD051211BB}" type="pres">
      <dgm:prSet presAssocID="{686DF5FF-FB8F-4DE0-9E97-D03E44E7CF58}" presName="parTx" presStyleLbl="revTx" presStyleIdx="5" presStyleCnt="7">
        <dgm:presLayoutVars>
          <dgm:chMax val="0"/>
          <dgm:chPref val="0"/>
        </dgm:presLayoutVars>
      </dgm:prSet>
      <dgm:spPr/>
    </dgm:pt>
    <dgm:pt modelId="{A9A59204-0282-44DD-BC80-CB23C55C7A0E}" type="pres">
      <dgm:prSet presAssocID="{41041E38-67F5-41CB-B5AF-64C11139B594}" presName="sibTrans" presStyleCnt="0"/>
      <dgm:spPr/>
    </dgm:pt>
    <dgm:pt modelId="{5F2080AE-AD6B-4825-BE17-9DE0A26F95E9}" type="pres">
      <dgm:prSet presAssocID="{302FE260-970A-4575-8822-BA028BBB019F}" presName="compNode" presStyleCnt="0"/>
      <dgm:spPr/>
    </dgm:pt>
    <dgm:pt modelId="{A77C6D09-A681-4B6C-B3FD-EE1B7DB6A657}" type="pres">
      <dgm:prSet presAssocID="{302FE260-970A-4575-8822-BA028BBB019F}" presName="bgRect" presStyleLbl="bgShp" presStyleIdx="6" presStyleCnt="7"/>
      <dgm:spPr/>
    </dgm:pt>
    <dgm:pt modelId="{43A7D63A-B840-4555-A05F-5379FF3CC4CE}" type="pres">
      <dgm:prSet presAssocID="{302FE260-970A-4575-8822-BA028BBB019F}"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Programmer"/>
        </a:ext>
      </dgm:extLst>
    </dgm:pt>
    <dgm:pt modelId="{EED00376-74AA-4870-BC25-36C92BA2E02F}" type="pres">
      <dgm:prSet presAssocID="{302FE260-970A-4575-8822-BA028BBB019F}" presName="spaceRect" presStyleCnt="0"/>
      <dgm:spPr/>
    </dgm:pt>
    <dgm:pt modelId="{18CF4FD4-CB9A-4F6F-BE95-EF0A7198D2F8}" type="pres">
      <dgm:prSet presAssocID="{302FE260-970A-4575-8822-BA028BBB019F}" presName="parTx" presStyleLbl="revTx" presStyleIdx="6" presStyleCnt="7">
        <dgm:presLayoutVars>
          <dgm:chMax val="0"/>
          <dgm:chPref val="0"/>
        </dgm:presLayoutVars>
      </dgm:prSet>
      <dgm:spPr/>
    </dgm:pt>
  </dgm:ptLst>
  <dgm:cxnLst>
    <dgm:cxn modelId="{96915F08-7A18-430D-8428-0BEE9ADB3AA9}" type="presOf" srcId="{F6518AF5-CD2A-4A8F-9D75-86CDFE2F6BFA}" destId="{79034268-7F3E-4F60-9929-74CC18625F57}" srcOrd="0" destOrd="0" presId="urn:microsoft.com/office/officeart/2018/2/layout/IconVerticalSolidList"/>
    <dgm:cxn modelId="{2AB4392A-8081-42FD-8046-1F3B74622471}" srcId="{9EBA5150-17B1-4882-9492-3B6BB6C6A1A3}" destId="{F6518AF5-CD2A-4A8F-9D75-86CDFE2F6BFA}" srcOrd="0" destOrd="0" parTransId="{25506C35-1700-4A02-B951-08BC36908D0C}" sibTransId="{8D67A124-9AE3-4D96-A46D-EF4D3636298D}"/>
    <dgm:cxn modelId="{7114803B-5A79-4DAA-8787-7B31EDCA34E2}" type="presOf" srcId="{C2D81E01-BD98-4101-A847-C44203C1148A}" destId="{DAD6854E-F3FA-462A-B9C6-1FD5B67AEFB5}" srcOrd="0" destOrd="0" presId="urn:microsoft.com/office/officeart/2018/2/layout/IconVerticalSolidList"/>
    <dgm:cxn modelId="{BA10A342-1B6D-4E73-8A02-5A2129E476BD}" srcId="{9EBA5150-17B1-4882-9492-3B6BB6C6A1A3}" destId="{686DF5FF-FB8F-4DE0-9E97-D03E44E7CF58}" srcOrd="5" destOrd="0" parTransId="{40FC544C-8B7E-4818-AA64-E5868D2ACD5C}" sibTransId="{41041E38-67F5-41CB-B5AF-64C11139B594}"/>
    <dgm:cxn modelId="{38CFC469-63EE-40EC-86CA-DD09B1DB41D3}" type="presOf" srcId="{F3AC76ED-9D2E-4013-8B25-D64EC043669D}" destId="{7CAED1F2-0539-4AD7-AFDE-B9F765055403}" srcOrd="0" destOrd="0" presId="urn:microsoft.com/office/officeart/2018/2/layout/IconVerticalSolidList"/>
    <dgm:cxn modelId="{98D70F54-4F3C-4F7C-AC34-3497B5B1B81B}" type="presOf" srcId="{302FE260-970A-4575-8822-BA028BBB019F}" destId="{18CF4FD4-CB9A-4F6F-BE95-EF0A7198D2F8}" srcOrd="0" destOrd="0" presId="urn:microsoft.com/office/officeart/2018/2/layout/IconVerticalSolidList"/>
    <dgm:cxn modelId="{4B702384-A4D7-468F-B3D7-32E155D1078F}" srcId="{9EBA5150-17B1-4882-9492-3B6BB6C6A1A3}" destId="{C2D81E01-BD98-4101-A847-C44203C1148A}" srcOrd="4" destOrd="0" parTransId="{5B61C7E0-15C6-4135-9306-DEC3ACDF9FB0}" sibTransId="{2602EDDF-0716-429E-8582-3AC70A17BB8F}"/>
    <dgm:cxn modelId="{5F2787A8-F7A5-45D2-B670-477F199CDB98}" type="presOf" srcId="{C70450B9-4142-4C39-B9D7-54852624A928}" destId="{5560D470-5A36-4F38-BDB7-5B3DB63F79B8}" srcOrd="0" destOrd="0" presId="urn:microsoft.com/office/officeart/2018/2/layout/IconVerticalSolidList"/>
    <dgm:cxn modelId="{EFAA3BC1-1DE3-43E1-B8E1-EE1408043769}" type="presOf" srcId="{686DF5FF-FB8F-4DE0-9E97-D03E44E7CF58}" destId="{344D041A-95E6-4C9C-BB49-D2BD051211BB}" srcOrd="0" destOrd="0" presId="urn:microsoft.com/office/officeart/2018/2/layout/IconVerticalSolidList"/>
    <dgm:cxn modelId="{76DD59C6-3410-45C1-9089-D7B7D1A9FC59}" srcId="{9EBA5150-17B1-4882-9492-3B6BB6C6A1A3}" destId="{3DC4C869-F1B2-4DD6-A280-AFCE7EA61CD5}" srcOrd="1" destOrd="0" parTransId="{9FF7E77B-C5AF-4FC2-8AC3-260765649391}" sibTransId="{3962AF9C-795E-4065-94ED-0DBB39D0BACB}"/>
    <dgm:cxn modelId="{E588BDCE-153E-4D89-B12C-92F484E635B2}" srcId="{9EBA5150-17B1-4882-9492-3B6BB6C6A1A3}" destId="{302FE260-970A-4575-8822-BA028BBB019F}" srcOrd="6" destOrd="0" parTransId="{2AE50B4E-4850-46FD-B6E3-4516589AF54E}" sibTransId="{FBCCB710-9057-42C4-8F6E-EF1A661CF988}"/>
    <dgm:cxn modelId="{C0AB6EE9-CBA9-42D0-918E-B212BB95B265}" type="presOf" srcId="{9EBA5150-17B1-4882-9492-3B6BB6C6A1A3}" destId="{2DE7A46D-0703-4E16-B273-5915764D25E7}" srcOrd="0" destOrd="0" presId="urn:microsoft.com/office/officeart/2018/2/layout/IconVerticalSolidList"/>
    <dgm:cxn modelId="{3D7900EE-DC83-4DE7-8B32-160CF43FE836}" type="presOf" srcId="{3DC4C869-F1B2-4DD6-A280-AFCE7EA61CD5}" destId="{A9B195A9-8920-4FF5-8519-DD75EB21C9E0}" srcOrd="0" destOrd="0" presId="urn:microsoft.com/office/officeart/2018/2/layout/IconVerticalSolidList"/>
    <dgm:cxn modelId="{FB419DF3-D5E6-4400-A4C2-93493071FCD8}" srcId="{9EBA5150-17B1-4882-9492-3B6BB6C6A1A3}" destId="{C70450B9-4142-4C39-B9D7-54852624A928}" srcOrd="2" destOrd="0" parTransId="{F005AA82-311A-49C6-BF60-7AC91D998FD6}" sibTransId="{46291C09-5336-4859-BD4E-14889A6A149F}"/>
    <dgm:cxn modelId="{A451A5FD-A678-4090-B08D-3F4BCFFB1731}" srcId="{9EBA5150-17B1-4882-9492-3B6BB6C6A1A3}" destId="{F3AC76ED-9D2E-4013-8B25-D64EC043669D}" srcOrd="3" destOrd="0" parTransId="{925700E1-253A-42B1-86A2-D037E39573E5}" sibTransId="{A2A5CCF8-0EC7-490F-8FDB-7740136FD4D0}"/>
    <dgm:cxn modelId="{E439D4F9-FEC5-4D0A-A6A3-4969D5B027FE}" type="presParOf" srcId="{2DE7A46D-0703-4E16-B273-5915764D25E7}" destId="{8CD2F40B-9DD2-43D8-864F-9E7A4061952F}" srcOrd="0" destOrd="0" presId="urn:microsoft.com/office/officeart/2018/2/layout/IconVerticalSolidList"/>
    <dgm:cxn modelId="{94528F00-95BB-4D31-98C0-4C591BFA13FA}" type="presParOf" srcId="{8CD2F40B-9DD2-43D8-864F-9E7A4061952F}" destId="{507C5CCB-ED0B-41C8-9F85-2B34CFBD89F2}" srcOrd="0" destOrd="0" presId="urn:microsoft.com/office/officeart/2018/2/layout/IconVerticalSolidList"/>
    <dgm:cxn modelId="{C4353055-3955-4133-89B1-2B9269D6B956}" type="presParOf" srcId="{8CD2F40B-9DD2-43D8-864F-9E7A4061952F}" destId="{FA057D60-8A60-4B45-98E2-96FBCCDE197E}" srcOrd="1" destOrd="0" presId="urn:microsoft.com/office/officeart/2018/2/layout/IconVerticalSolidList"/>
    <dgm:cxn modelId="{59864CBA-F3C0-45B2-87C2-0115BCA4C735}" type="presParOf" srcId="{8CD2F40B-9DD2-43D8-864F-9E7A4061952F}" destId="{48D96817-6CD6-47BF-9DE2-409E813AD54A}" srcOrd="2" destOrd="0" presId="urn:microsoft.com/office/officeart/2018/2/layout/IconVerticalSolidList"/>
    <dgm:cxn modelId="{C3689979-A7E9-4D25-B5E5-32AF1688AC8A}" type="presParOf" srcId="{8CD2F40B-9DD2-43D8-864F-9E7A4061952F}" destId="{79034268-7F3E-4F60-9929-74CC18625F57}" srcOrd="3" destOrd="0" presId="urn:microsoft.com/office/officeart/2018/2/layout/IconVerticalSolidList"/>
    <dgm:cxn modelId="{E1F022FB-D309-44D5-8E7F-19924835E9A6}" type="presParOf" srcId="{2DE7A46D-0703-4E16-B273-5915764D25E7}" destId="{89C644C4-ACA7-45EE-ADF1-30744A95B1BA}" srcOrd="1" destOrd="0" presId="urn:microsoft.com/office/officeart/2018/2/layout/IconVerticalSolidList"/>
    <dgm:cxn modelId="{1D274A4D-C399-42D4-858F-7982659E9F25}" type="presParOf" srcId="{2DE7A46D-0703-4E16-B273-5915764D25E7}" destId="{AEB76E3D-8D56-4223-AC01-7FB2AF98DD6F}" srcOrd="2" destOrd="0" presId="urn:microsoft.com/office/officeart/2018/2/layout/IconVerticalSolidList"/>
    <dgm:cxn modelId="{A1F0674E-C81A-4076-8505-4198734842C0}" type="presParOf" srcId="{AEB76E3D-8D56-4223-AC01-7FB2AF98DD6F}" destId="{A37F7B0B-3A9C-484A-AC24-646CFC8395DE}" srcOrd="0" destOrd="0" presId="urn:microsoft.com/office/officeart/2018/2/layout/IconVerticalSolidList"/>
    <dgm:cxn modelId="{DA833442-5507-4AF6-AE23-9C23B8AC0B2B}" type="presParOf" srcId="{AEB76E3D-8D56-4223-AC01-7FB2AF98DD6F}" destId="{EC364E49-B57C-48F1-927B-4F636000A8A8}" srcOrd="1" destOrd="0" presId="urn:microsoft.com/office/officeart/2018/2/layout/IconVerticalSolidList"/>
    <dgm:cxn modelId="{A46C4995-FBAE-47F2-9971-FD9FEFAA6F1B}" type="presParOf" srcId="{AEB76E3D-8D56-4223-AC01-7FB2AF98DD6F}" destId="{AB2F48D8-B9AA-439E-A548-CC73C14048DC}" srcOrd="2" destOrd="0" presId="urn:microsoft.com/office/officeart/2018/2/layout/IconVerticalSolidList"/>
    <dgm:cxn modelId="{E1596C53-D346-40AA-BB5D-2B950590C6C8}" type="presParOf" srcId="{AEB76E3D-8D56-4223-AC01-7FB2AF98DD6F}" destId="{A9B195A9-8920-4FF5-8519-DD75EB21C9E0}" srcOrd="3" destOrd="0" presId="urn:microsoft.com/office/officeart/2018/2/layout/IconVerticalSolidList"/>
    <dgm:cxn modelId="{4D298080-A3DC-48A6-A4DD-AECC011498C4}" type="presParOf" srcId="{2DE7A46D-0703-4E16-B273-5915764D25E7}" destId="{F53968AA-633F-4413-A329-5EC392056B31}" srcOrd="3" destOrd="0" presId="urn:microsoft.com/office/officeart/2018/2/layout/IconVerticalSolidList"/>
    <dgm:cxn modelId="{6BC963FF-1DEA-4658-BB73-CE4544ACA1A7}" type="presParOf" srcId="{2DE7A46D-0703-4E16-B273-5915764D25E7}" destId="{A72B4AE7-B7D2-442C-9DB6-2E86D4B2820B}" srcOrd="4" destOrd="0" presId="urn:microsoft.com/office/officeart/2018/2/layout/IconVerticalSolidList"/>
    <dgm:cxn modelId="{52D701E1-23E8-4F7D-8277-18C58C63A7E1}" type="presParOf" srcId="{A72B4AE7-B7D2-442C-9DB6-2E86D4B2820B}" destId="{241B4A11-C712-4425-BE85-930F388C0496}" srcOrd="0" destOrd="0" presId="urn:microsoft.com/office/officeart/2018/2/layout/IconVerticalSolidList"/>
    <dgm:cxn modelId="{53A54F1A-4EA1-4C0A-8AD3-062BBA1BC89A}" type="presParOf" srcId="{A72B4AE7-B7D2-442C-9DB6-2E86D4B2820B}" destId="{4F628C2D-02A8-40E9-8D55-90E11A38BE03}" srcOrd="1" destOrd="0" presId="urn:microsoft.com/office/officeart/2018/2/layout/IconVerticalSolidList"/>
    <dgm:cxn modelId="{1E701C6C-0D64-452B-B879-170CD6264C98}" type="presParOf" srcId="{A72B4AE7-B7D2-442C-9DB6-2E86D4B2820B}" destId="{E6685D4E-F03B-43E5-A6AD-804B9CEFCDAF}" srcOrd="2" destOrd="0" presId="urn:microsoft.com/office/officeart/2018/2/layout/IconVerticalSolidList"/>
    <dgm:cxn modelId="{D5E66756-E379-46BD-8742-B8AF50AC3AF3}" type="presParOf" srcId="{A72B4AE7-B7D2-442C-9DB6-2E86D4B2820B}" destId="{5560D470-5A36-4F38-BDB7-5B3DB63F79B8}" srcOrd="3" destOrd="0" presId="urn:microsoft.com/office/officeart/2018/2/layout/IconVerticalSolidList"/>
    <dgm:cxn modelId="{4F7F5B1F-4872-4403-B15E-1485BFEF83FD}" type="presParOf" srcId="{2DE7A46D-0703-4E16-B273-5915764D25E7}" destId="{A8A00B5F-56F6-439A-B49D-99610FC9A52B}" srcOrd="5" destOrd="0" presId="urn:microsoft.com/office/officeart/2018/2/layout/IconVerticalSolidList"/>
    <dgm:cxn modelId="{C9CC5EEF-EAD8-4A0E-8663-41D06E3B7F55}" type="presParOf" srcId="{2DE7A46D-0703-4E16-B273-5915764D25E7}" destId="{D22DE6CE-1968-4CC0-AE32-57B5EBEE6505}" srcOrd="6" destOrd="0" presId="urn:microsoft.com/office/officeart/2018/2/layout/IconVerticalSolidList"/>
    <dgm:cxn modelId="{D2632977-EA3F-4C34-B7DC-40162E0BF522}" type="presParOf" srcId="{D22DE6CE-1968-4CC0-AE32-57B5EBEE6505}" destId="{1F890038-986E-444D-BCC1-1154764EAA3E}" srcOrd="0" destOrd="0" presId="urn:microsoft.com/office/officeart/2018/2/layout/IconVerticalSolidList"/>
    <dgm:cxn modelId="{619AC46D-C411-4B4D-A4B1-1536DF97191D}" type="presParOf" srcId="{D22DE6CE-1968-4CC0-AE32-57B5EBEE6505}" destId="{28FA494B-2D1E-447A-BC4A-B95CBFD461C8}" srcOrd="1" destOrd="0" presId="urn:microsoft.com/office/officeart/2018/2/layout/IconVerticalSolidList"/>
    <dgm:cxn modelId="{CA5DE907-1A49-4BB3-89FE-FACC65350B3A}" type="presParOf" srcId="{D22DE6CE-1968-4CC0-AE32-57B5EBEE6505}" destId="{90877F86-F018-4738-92EB-132FC4758742}" srcOrd="2" destOrd="0" presId="urn:microsoft.com/office/officeart/2018/2/layout/IconVerticalSolidList"/>
    <dgm:cxn modelId="{5FB18C77-A6BC-4A94-B9E9-DE5617A3D34C}" type="presParOf" srcId="{D22DE6CE-1968-4CC0-AE32-57B5EBEE6505}" destId="{7CAED1F2-0539-4AD7-AFDE-B9F765055403}" srcOrd="3" destOrd="0" presId="urn:microsoft.com/office/officeart/2018/2/layout/IconVerticalSolidList"/>
    <dgm:cxn modelId="{46941C04-3050-45F7-98EF-0A59FC7A2DCD}" type="presParOf" srcId="{2DE7A46D-0703-4E16-B273-5915764D25E7}" destId="{C76C86E8-9813-401F-8200-777C8DB1C2C7}" srcOrd="7" destOrd="0" presId="urn:microsoft.com/office/officeart/2018/2/layout/IconVerticalSolidList"/>
    <dgm:cxn modelId="{9AA6E95E-011B-4F4D-B8A8-C05065827979}" type="presParOf" srcId="{2DE7A46D-0703-4E16-B273-5915764D25E7}" destId="{408DEFCA-4051-42CE-AC7B-C1DC8E25B45D}" srcOrd="8" destOrd="0" presId="urn:microsoft.com/office/officeart/2018/2/layout/IconVerticalSolidList"/>
    <dgm:cxn modelId="{093070BF-E2F9-4BAB-B7BD-B716D095EF5D}" type="presParOf" srcId="{408DEFCA-4051-42CE-AC7B-C1DC8E25B45D}" destId="{D83E819F-47B9-402E-BB37-628FFE947B6D}" srcOrd="0" destOrd="0" presId="urn:microsoft.com/office/officeart/2018/2/layout/IconVerticalSolidList"/>
    <dgm:cxn modelId="{266B59B7-362A-4149-8B0F-D8C14D2FE205}" type="presParOf" srcId="{408DEFCA-4051-42CE-AC7B-C1DC8E25B45D}" destId="{EBC7624C-C9DA-4DCD-95AD-E37F77BF9B92}" srcOrd="1" destOrd="0" presId="urn:microsoft.com/office/officeart/2018/2/layout/IconVerticalSolidList"/>
    <dgm:cxn modelId="{70965E10-F994-4AD0-BF86-BA2BD03B7F97}" type="presParOf" srcId="{408DEFCA-4051-42CE-AC7B-C1DC8E25B45D}" destId="{26FEE527-E741-4054-BCA9-4546D8DE53F9}" srcOrd="2" destOrd="0" presId="urn:microsoft.com/office/officeart/2018/2/layout/IconVerticalSolidList"/>
    <dgm:cxn modelId="{16E3CE6C-FFDE-48A5-BDCB-92A7049FA7F9}" type="presParOf" srcId="{408DEFCA-4051-42CE-AC7B-C1DC8E25B45D}" destId="{DAD6854E-F3FA-462A-B9C6-1FD5B67AEFB5}" srcOrd="3" destOrd="0" presId="urn:microsoft.com/office/officeart/2018/2/layout/IconVerticalSolidList"/>
    <dgm:cxn modelId="{E154EE13-A20F-4D40-A98A-4FFAD37BDF4F}" type="presParOf" srcId="{2DE7A46D-0703-4E16-B273-5915764D25E7}" destId="{6B289D7D-0F26-485C-B5CB-E94EC3151960}" srcOrd="9" destOrd="0" presId="urn:microsoft.com/office/officeart/2018/2/layout/IconVerticalSolidList"/>
    <dgm:cxn modelId="{4CEFD2E8-D107-449B-A93A-20DC4585222E}" type="presParOf" srcId="{2DE7A46D-0703-4E16-B273-5915764D25E7}" destId="{2C5004C8-89E0-403A-8DB5-2CA5B1C735A8}" srcOrd="10" destOrd="0" presId="urn:microsoft.com/office/officeart/2018/2/layout/IconVerticalSolidList"/>
    <dgm:cxn modelId="{6619DF16-25C7-4910-8F43-AFF7A496147D}" type="presParOf" srcId="{2C5004C8-89E0-403A-8DB5-2CA5B1C735A8}" destId="{637E3542-F3E7-4536-8C16-8AC3AF34B05D}" srcOrd="0" destOrd="0" presId="urn:microsoft.com/office/officeart/2018/2/layout/IconVerticalSolidList"/>
    <dgm:cxn modelId="{BA2633BF-FFFC-4328-8C83-CC3F271DC6F3}" type="presParOf" srcId="{2C5004C8-89E0-403A-8DB5-2CA5B1C735A8}" destId="{F823B13F-055C-473C-A34B-AC434B145CB3}" srcOrd="1" destOrd="0" presId="urn:microsoft.com/office/officeart/2018/2/layout/IconVerticalSolidList"/>
    <dgm:cxn modelId="{38CB7F6C-53FC-4BD6-BA5A-E1ACD4BBF381}" type="presParOf" srcId="{2C5004C8-89E0-403A-8DB5-2CA5B1C735A8}" destId="{3D7F1062-0C17-4006-BDD6-10763AF539EE}" srcOrd="2" destOrd="0" presId="urn:microsoft.com/office/officeart/2018/2/layout/IconVerticalSolidList"/>
    <dgm:cxn modelId="{426E5462-38CD-48F9-A7BC-64B95EEC0DE6}" type="presParOf" srcId="{2C5004C8-89E0-403A-8DB5-2CA5B1C735A8}" destId="{344D041A-95E6-4C9C-BB49-D2BD051211BB}" srcOrd="3" destOrd="0" presId="urn:microsoft.com/office/officeart/2018/2/layout/IconVerticalSolidList"/>
    <dgm:cxn modelId="{F70C72BD-9474-4E89-B79D-2A0797D8B3B9}" type="presParOf" srcId="{2DE7A46D-0703-4E16-B273-5915764D25E7}" destId="{A9A59204-0282-44DD-BC80-CB23C55C7A0E}" srcOrd="11" destOrd="0" presId="urn:microsoft.com/office/officeart/2018/2/layout/IconVerticalSolidList"/>
    <dgm:cxn modelId="{1BCDAF8F-9BB7-4DB0-8899-7EF98B1F356E}" type="presParOf" srcId="{2DE7A46D-0703-4E16-B273-5915764D25E7}" destId="{5F2080AE-AD6B-4825-BE17-9DE0A26F95E9}" srcOrd="12" destOrd="0" presId="urn:microsoft.com/office/officeart/2018/2/layout/IconVerticalSolidList"/>
    <dgm:cxn modelId="{7A4416B6-F222-4E20-87BB-C433EC650501}" type="presParOf" srcId="{5F2080AE-AD6B-4825-BE17-9DE0A26F95E9}" destId="{A77C6D09-A681-4B6C-B3FD-EE1B7DB6A657}" srcOrd="0" destOrd="0" presId="urn:microsoft.com/office/officeart/2018/2/layout/IconVerticalSolidList"/>
    <dgm:cxn modelId="{210706CC-38DF-48D1-A27D-C16A78387044}" type="presParOf" srcId="{5F2080AE-AD6B-4825-BE17-9DE0A26F95E9}" destId="{43A7D63A-B840-4555-A05F-5379FF3CC4CE}" srcOrd="1" destOrd="0" presId="urn:microsoft.com/office/officeart/2018/2/layout/IconVerticalSolidList"/>
    <dgm:cxn modelId="{CBFA765C-757B-4D0A-B153-85466DDFBD22}" type="presParOf" srcId="{5F2080AE-AD6B-4825-BE17-9DE0A26F95E9}" destId="{EED00376-74AA-4870-BC25-36C92BA2E02F}" srcOrd="2" destOrd="0" presId="urn:microsoft.com/office/officeart/2018/2/layout/IconVerticalSolidList"/>
    <dgm:cxn modelId="{85A204B6-2ADC-4CEB-84A6-A1022FA4D06D}" type="presParOf" srcId="{5F2080AE-AD6B-4825-BE17-9DE0A26F95E9}" destId="{18CF4FD4-CB9A-4F6F-BE95-EF0A7198D2F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AA47B-624A-4273-8FC7-330566C7F7EF}">
      <dsp:nvSpPr>
        <dsp:cNvPr id="0" name=""/>
        <dsp:cNvSpPr/>
      </dsp:nvSpPr>
      <dsp:spPr>
        <a:xfrm>
          <a:off x="0" y="327846"/>
          <a:ext cx="5752095"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Computed Tomography (CT): </a:t>
          </a:r>
          <a:r>
            <a:rPr lang="en-US" sz="1700" kern="1200" dirty="0"/>
            <a:t>X-ray based imaging that produces cross-sectional 3D volumes of the body </a:t>
          </a:r>
        </a:p>
      </dsp:txBody>
      <dsp:txXfrm>
        <a:off x="33012" y="360858"/>
        <a:ext cx="5686071" cy="610236"/>
      </dsp:txXfrm>
    </dsp:sp>
    <dsp:sp modelId="{CABCF0B0-2DC3-4C3A-8B96-057AF8016068}">
      <dsp:nvSpPr>
        <dsp:cNvPr id="0" name=""/>
        <dsp:cNvSpPr/>
      </dsp:nvSpPr>
      <dsp:spPr>
        <a:xfrm>
          <a:off x="0" y="1053066"/>
          <a:ext cx="5752095"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CT Angiography (CTA): </a:t>
          </a:r>
          <a:r>
            <a:rPr lang="en-US" sz="1700" kern="1200"/>
            <a:t>A CT Scan where a patient is injected with a contrast dye that highlights blood vessels </a:t>
          </a:r>
        </a:p>
      </dsp:txBody>
      <dsp:txXfrm>
        <a:off x="33012" y="1086078"/>
        <a:ext cx="5686071" cy="610236"/>
      </dsp:txXfrm>
    </dsp:sp>
    <dsp:sp modelId="{E577AE05-77F9-492B-AD11-8E0AE5897177}">
      <dsp:nvSpPr>
        <dsp:cNvPr id="0" name=""/>
        <dsp:cNvSpPr/>
      </dsp:nvSpPr>
      <dsp:spPr>
        <a:xfrm>
          <a:off x="0" y="1778286"/>
          <a:ext cx="5752095"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Regular CT: Shows bone and soft tissue – vessels are nearly invisible </a:t>
          </a:r>
          <a:endParaRPr lang="en-US" sz="1700" kern="1200"/>
        </a:p>
      </dsp:txBody>
      <dsp:txXfrm>
        <a:off x="33012" y="1811298"/>
        <a:ext cx="5686071" cy="610236"/>
      </dsp:txXfrm>
    </dsp:sp>
    <dsp:sp modelId="{DEC27D21-2A5A-4B52-9C76-8D5688DEFA9A}">
      <dsp:nvSpPr>
        <dsp:cNvPr id="0" name=""/>
        <dsp:cNvSpPr/>
      </dsp:nvSpPr>
      <dsp:spPr>
        <a:xfrm>
          <a:off x="0" y="2503506"/>
          <a:ext cx="5752095"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CTA: Contrast fills the vasculature, making arteries brighter </a:t>
          </a:r>
          <a:endParaRPr lang="en-US" sz="1700" kern="1200" dirty="0"/>
        </a:p>
      </dsp:txBody>
      <dsp:txXfrm>
        <a:off x="33012" y="2536518"/>
        <a:ext cx="5686071" cy="610236"/>
      </dsp:txXfrm>
    </dsp:sp>
    <dsp:sp modelId="{69F57E92-E75A-4A54-9B81-F0E5708F2135}">
      <dsp:nvSpPr>
        <dsp:cNvPr id="0" name=""/>
        <dsp:cNvSpPr/>
      </dsp:nvSpPr>
      <dsp:spPr>
        <a:xfrm>
          <a:off x="0" y="3179766"/>
          <a:ext cx="5752095" cy="483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629"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This is the imaging modality of choice for stroke triage and aneurysm detection </a:t>
          </a:r>
        </a:p>
      </dsp:txBody>
      <dsp:txXfrm>
        <a:off x="0" y="3179766"/>
        <a:ext cx="5752095" cy="483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2A5FA-58FF-4618-A68C-5A27C9FB847D}">
      <dsp:nvSpPr>
        <dsp:cNvPr id="0" name=""/>
        <dsp:cNvSpPr/>
      </dsp:nvSpPr>
      <dsp:spPr>
        <a:xfrm>
          <a:off x="0" y="0"/>
          <a:ext cx="65944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7C0A6E-482F-4442-BEB9-1C89DCBFE307}">
      <dsp:nvSpPr>
        <dsp:cNvPr id="0" name=""/>
        <dsp:cNvSpPr/>
      </dsp:nvSpPr>
      <dsp:spPr>
        <a:xfrm>
          <a:off x="0" y="0"/>
          <a:ext cx="6594490" cy="1291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Deep learning segmentation models optimize for </a:t>
          </a:r>
          <a:r>
            <a:rPr lang="en-US" sz="2600" b="1" kern="1200">
              <a:solidFill>
                <a:schemeClr val="accent1"/>
              </a:solidFill>
            </a:rPr>
            <a:t>voxel overlap</a:t>
          </a:r>
          <a:r>
            <a:rPr lang="en-US" sz="2600" kern="1200">
              <a:solidFill>
                <a:schemeClr val="accent1"/>
              </a:solidFill>
            </a:rPr>
            <a:t> </a:t>
          </a:r>
          <a:r>
            <a:rPr lang="en-US" sz="2600" kern="1200"/>
            <a:t>– no concept of vessel connectivity </a:t>
          </a:r>
          <a:endParaRPr lang="en-US" sz="2600" kern="1200" dirty="0"/>
        </a:p>
      </dsp:txBody>
      <dsp:txXfrm>
        <a:off x="0" y="0"/>
        <a:ext cx="6594490" cy="1291589"/>
      </dsp:txXfrm>
    </dsp:sp>
    <dsp:sp modelId="{D29D6E72-34F9-422F-A67D-C1906EAA6C49}">
      <dsp:nvSpPr>
        <dsp:cNvPr id="0" name=""/>
        <dsp:cNvSpPr/>
      </dsp:nvSpPr>
      <dsp:spPr>
        <a:xfrm>
          <a:off x="0" y="1291589"/>
          <a:ext cx="65944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EA7474-2637-4787-8BC9-A825810D33FA}">
      <dsp:nvSpPr>
        <dsp:cNvPr id="0" name=""/>
        <dsp:cNvSpPr/>
      </dsp:nvSpPr>
      <dsp:spPr>
        <a:xfrm>
          <a:off x="0" y="1291589"/>
          <a:ext cx="6594490" cy="1291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 segmentation can score </a:t>
          </a:r>
          <a:r>
            <a:rPr lang="en-US" sz="2600" kern="1200" dirty="0">
              <a:solidFill>
                <a:schemeClr val="accent1"/>
              </a:solidFill>
            </a:rPr>
            <a:t>DSC</a:t>
          </a:r>
          <a:r>
            <a:rPr lang="en-US" sz="2600" kern="1200" dirty="0"/>
            <a:t> </a:t>
          </a:r>
          <a:r>
            <a:rPr lang="en-US" sz="2600" kern="1200" dirty="0">
              <a:solidFill>
                <a:schemeClr val="accent1"/>
              </a:solidFill>
            </a:rPr>
            <a:t>0.87</a:t>
          </a:r>
          <a:r>
            <a:rPr lang="en-US" sz="2600" kern="1200" dirty="0"/>
            <a:t> while containing </a:t>
          </a:r>
          <a:r>
            <a:rPr lang="en-US" sz="2600" kern="1200" dirty="0">
              <a:solidFill>
                <a:schemeClr val="accent1"/>
              </a:solidFill>
            </a:rPr>
            <a:t>severed vessels </a:t>
          </a:r>
          <a:r>
            <a:rPr lang="en-US" sz="2600" kern="1200" dirty="0"/>
            <a:t>and disconnected fragments</a:t>
          </a:r>
        </a:p>
      </dsp:txBody>
      <dsp:txXfrm>
        <a:off x="0" y="1291589"/>
        <a:ext cx="6594490" cy="1291589"/>
      </dsp:txXfrm>
    </dsp:sp>
    <dsp:sp modelId="{083229C8-3D15-46B5-BBDA-E4330048AAFA}">
      <dsp:nvSpPr>
        <dsp:cNvPr id="0" name=""/>
        <dsp:cNvSpPr/>
      </dsp:nvSpPr>
      <dsp:spPr>
        <a:xfrm>
          <a:off x="0" y="2583179"/>
          <a:ext cx="65944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F3850D-D36D-4BED-B714-A893E1454AC2}">
      <dsp:nvSpPr>
        <dsp:cNvPr id="0" name=""/>
        <dsp:cNvSpPr/>
      </dsp:nvSpPr>
      <dsp:spPr>
        <a:xfrm>
          <a:off x="0" y="2583179"/>
          <a:ext cx="6594490" cy="1291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dirty="0">
              <a:solidFill>
                <a:schemeClr val="accent1"/>
              </a:solidFill>
            </a:rPr>
            <a:t>Aggregate metrics are misleading</a:t>
          </a:r>
          <a:r>
            <a:rPr lang="en-US" sz="2600" kern="1200" dirty="0">
              <a:solidFill>
                <a:schemeClr val="accent1"/>
              </a:solidFill>
            </a:rPr>
            <a:t> </a:t>
          </a:r>
          <a:r>
            <a:rPr lang="en-US" sz="2600" kern="1200" dirty="0"/>
            <a:t>– dominated by large, easy arteries; hide failures on thin structures</a:t>
          </a:r>
        </a:p>
      </dsp:txBody>
      <dsp:txXfrm>
        <a:off x="0" y="2583179"/>
        <a:ext cx="6594490" cy="1291589"/>
      </dsp:txXfrm>
    </dsp:sp>
    <dsp:sp modelId="{8FAAF2F8-66D1-4A5A-845E-21D012B7D829}">
      <dsp:nvSpPr>
        <dsp:cNvPr id="0" name=""/>
        <dsp:cNvSpPr/>
      </dsp:nvSpPr>
      <dsp:spPr>
        <a:xfrm>
          <a:off x="0" y="3874769"/>
          <a:ext cx="65944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C7ADC2-C4CD-4E70-98A8-E9AAB3858B9C}">
      <dsp:nvSpPr>
        <dsp:cNvPr id="0" name=""/>
        <dsp:cNvSpPr/>
      </dsp:nvSpPr>
      <dsp:spPr>
        <a:xfrm>
          <a:off x="0" y="3874769"/>
          <a:ext cx="6594490" cy="1291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Clinically useless segmentations can look numerically acceptable </a:t>
          </a:r>
        </a:p>
        <a:p>
          <a:pPr marL="0" lvl="0" indent="0" algn="l" defTabSz="1022350">
            <a:lnSpc>
              <a:spcPct val="90000"/>
            </a:lnSpc>
            <a:spcBef>
              <a:spcPct val="0"/>
            </a:spcBef>
            <a:spcAft>
              <a:spcPct val="35000"/>
            </a:spcAft>
            <a:buNone/>
          </a:pPr>
          <a:r>
            <a:rPr lang="en-US" sz="2000" b="1" kern="1200" dirty="0">
              <a:solidFill>
                <a:schemeClr val="accent6"/>
              </a:solidFill>
            </a:rPr>
            <a:t>Global DSC: 0.87    </a:t>
          </a:r>
          <a:r>
            <a:rPr lang="en-US" sz="2000" b="1" kern="1200" dirty="0">
              <a:solidFill>
                <a:schemeClr val="accent5"/>
              </a:solidFill>
            </a:rPr>
            <a:t>R-</a:t>
          </a:r>
          <a:r>
            <a:rPr lang="en-US" sz="2000" b="1" kern="1200" dirty="0" err="1">
              <a:solidFill>
                <a:schemeClr val="accent5"/>
              </a:solidFill>
            </a:rPr>
            <a:t>Pcom</a:t>
          </a:r>
          <a:r>
            <a:rPr lang="en-US" sz="2000" b="1" kern="1200" dirty="0">
              <a:solidFill>
                <a:schemeClr val="accent5"/>
              </a:solidFill>
            </a:rPr>
            <a:t> DSC: 0.42   L-ACA DSC: 0.46</a:t>
          </a:r>
        </a:p>
      </dsp:txBody>
      <dsp:txXfrm>
        <a:off x="0" y="3874769"/>
        <a:ext cx="6594490" cy="12915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7C5CCB-ED0B-41C8-9F85-2B34CFBD89F2}">
      <dsp:nvSpPr>
        <dsp:cNvPr id="0" name=""/>
        <dsp:cNvSpPr/>
      </dsp:nvSpPr>
      <dsp:spPr>
        <a:xfrm>
          <a:off x="0" y="304"/>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057D60-8A60-4B45-98E2-96FBCCDE197E}">
      <dsp:nvSpPr>
        <dsp:cNvPr id="0" name=""/>
        <dsp:cNvSpPr/>
      </dsp:nvSpPr>
      <dsp:spPr>
        <a:xfrm>
          <a:off x="126891" y="94686"/>
          <a:ext cx="230712" cy="2307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034268-7F3E-4F60-9929-74CC18625F57}">
      <dsp:nvSpPr>
        <dsp:cNvPr id="0" name=""/>
        <dsp:cNvSpPr/>
      </dsp:nvSpPr>
      <dsp:spPr>
        <a:xfrm>
          <a:off x="484495" y="304"/>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800100">
            <a:lnSpc>
              <a:spcPct val="100000"/>
            </a:lnSpc>
            <a:spcBef>
              <a:spcPct val="0"/>
            </a:spcBef>
            <a:spcAft>
              <a:spcPct val="35000"/>
            </a:spcAft>
            <a:buNone/>
          </a:pPr>
          <a:r>
            <a:rPr lang="en-US" sz="1800" b="1" kern="1200" dirty="0" err="1"/>
            <a:t>TopCow</a:t>
          </a:r>
          <a:r>
            <a:rPr lang="en-US" sz="1800" b="1" kern="1200" dirty="0"/>
            <a:t> 2024</a:t>
          </a:r>
          <a:endParaRPr lang="en-US" sz="1800" kern="1200" dirty="0"/>
        </a:p>
      </dsp:txBody>
      <dsp:txXfrm>
        <a:off x="484495" y="304"/>
        <a:ext cx="4727584" cy="419476"/>
      </dsp:txXfrm>
    </dsp:sp>
    <dsp:sp modelId="{A37F7B0B-3A9C-484A-AC24-646CFC8395DE}">
      <dsp:nvSpPr>
        <dsp:cNvPr id="0" name=""/>
        <dsp:cNvSpPr/>
      </dsp:nvSpPr>
      <dsp:spPr>
        <a:xfrm>
          <a:off x="0" y="524650"/>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364E49-B57C-48F1-927B-4F636000A8A8}">
      <dsp:nvSpPr>
        <dsp:cNvPr id="0" name=""/>
        <dsp:cNvSpPr/>
      </dsp:nvSpPr>
      <dsp:spPr>
        <a:xfrm>
          <a:off x="126891" y="619032"/>
          <a:ext cx="230712" cy="2307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B195A9-8920-4FF5-8519-DD75EB21C9E0}">
      <dsp:nvSpPr>
        <dsp:cNvPr id="0" name=""/>
        <dsp:cNvSpPr/>
      </dsp:nvSpPr>
      <dsp:spPr>
        <a:xfrm>
          <a:off x="484495" y="524650"/>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MICCAI Challenge Dataset</a:t>
          </a:r>
          <a:endParaRPr lang="en-US" sz="1400" kern="1200"/>
        </a:p>
      </dsp:txBody>
      <dsp:txXfrm>
        <a:off x="484495" y="524650"/>
        <a:ext cx="4727584" cy="419476"/>
      </dsp:txXfrm>
    </dsp:sp>
    <dsp:sp modelId="{241B4A11-C712-4425-BE85-930F388C0496}">
      <dsp:nvSpPr>
        <dsp:cNvPr id="0" name=""/>
        <dsp:cNvSpPr/>
      </dsp:nvSpPr>
      <dsp:spPr>
        <a:xfrm>
          <a:off x="0" y="1048996"/>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628C2D-02A8-40E9-8D55-90E11A38BE03}">
      <dsp:nvSpPr>
        <dsp:cNvPr id="0" name=""/>
        <dsp:cNvSpPr/>
      </dsp:nvSpPr>
      <dsp:spPr>
        <a:xfrm>
          <a:off x="126891" y="1143378"/>
          <a:ext cx="230712" cy="2307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0D470-5A36-4F38-BDB7-5B3DB63F79B8}">
      <dsp:nvSpPr>
        <dsp:cNvPr id="0" name=""/>
        <dsp:cNvSpPr/>
      </dsp:nvSpPr>
      <dsp:spPr>
        <a:xfrm>
          <a:off x="484495" y="1048996"/>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125 CTA volumes with expert annotations</a:t>
          </a:r>
          <a:endParaRPr lang="en-US" sz="1400" kern="1200"/>
        </a:p>
      </dsp:txBody>
      <dsp:txXfrm>
        <a:off x="484495" y="1048996"/>
        <a:ext cx="4727584" cy="419476"/>
      </dsp:txXfrm>
    </dsp:sp>
    <dsp:sp modelId="{1F890038-986E-444D-BCC1-1154764EAA3E}">
      <dsp:nvSpPr>
        <dsp:cNvPr id="0" name=""/>
        <dsp:cNvSpPr/>
      </dsp:nvSpPr>
      <dsp:spPr>
        <a:xfrm>
          <a:off x="0" y="1573341"/>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A494B-2D1E-447A-BC4A-B95CBFD461C8}">
      <dsp:nvSpPr>
        <dsp:cNvPr id="0" name=""/>
        <dsp:cNvSpPr/>
      </dsp:nvSpPr>
      <dsp:spPr>
        <a:xfrm>
          <a:off x="126891" y="1667723"/>
          <a:ext cx="230712" cy="2307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AED1F2-0539-4AD7-AFDE-B9F765055403}">
      <dsp:nvSpPr>
        <dsp:cNvPr id="0" name=""/>
        <dsp:cNvSpPr/>
      </dsp:nvSpPr>
      <dsp:spPr>
        <a:xfrm>
          <a:off x="484495" y="1573341"/>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13 Circle of Willis vessel classes</a:t>
          </a:r>
          <a:endParaRPr lang="en-US" sz="1400" kern="1200"/>
        </a:p>
      </dsp:txBody>
      <dsp:txXfrm>
        <a:off x="484495" y="1573341"/>
        <a:ext cx="4727584" cy="419476"/>
      </dsp:txXfrm>
    </dsp:sp>
    <dsp:sp modelId="{D83E819F-47B9-402E-BB37-628FFE947B6D}">
      <dsp:nvSpPr>
        <dsp:cNvPr id="0" name=""/>
        <dsp:cNvSpPr/>
      </dsp:nvSpPr>
      <dsp:spPr>
        <a:xfrm>
          <a:off x="0" y="2097687"/>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C7624C-C9DA-4DCD-95AD-E37F77BF9B92}">
      <dsp:nvSpPr>
        <dsp:cNvPr id="0" name=""/>
        <dsp:cNvSpPr/>
      </dsp:nvSpPr>
      <dsp:spPr>
        <a:xfrm>
          <a:off x="126891" y="2192069"/>
          <a:ext cx="230712" cy="2307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6854E-F3FA-462A-B9C6-1FD5B67AEFB5}">
      <dsp:nvSpPr>
        <dsp:cNvPr id="0" name=""/>
        <dsp:cNvSpPr/>
      </dsp:nvSpPr>
      <dsp:spPr>
        <a:xfrm>
          <a:off x="484495" y="2097687"/>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100/25 train/validation split (80/20)</a:t>
          </a:r>
          <a:endParaRPr lang="en-US" sz="1400" kern="1200"/>
        </a:p>
      </dsp:txBody>
      <dsp:txXfrm>
        <a:off x="484495" y="2097687"/>
        <a:ext cx="4727584" cy="419476"/>
      </dsp:txXfrm>
    </dsp:sp>
    <dsp:sp modelId="{637E3542-F3E7-4536-8C16-8AC3AF34B05D}">
      <dsp:nvSpPr>
        <dsp:cNvPr id="0" name=""/>
        <dsp:cNvSpPr/>
      </dsp:nvSpPr>
      <dsp:spPr>
        <a:xfrm>
          <a:off x="0" y="2622033"/>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23B13F-055C-473C-A34B-AC434B145CB3}">
      <dsp:nvSpPr>
        <dsp:cNvPr id="0" name=""/>
        <dsp:cNvSpPr/>
      </dsp:nvSpPr>
      <dsp:spPr>
        <a:xfrm>
          <a:off x="126891" y="2716415"/>
          <a:ext cx="230712" cy="23071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4D041A-95E6-4C9C-BB49-D2BD051211BB}">
      <dsp:nvSpPr>
        <dsp:cNvPr id="0" name=""/>
        <dsp:cNvSpPr/>
      </dsp:nvSpPr>
      <dsp:spPr>
        <a:xfrm>
          <a:off x="484495" y="2622033"/>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Classes:   BA, ICA, MCA, PCA, ACA, Acom, Pcom, 3rd-A2</a:t>
          </a:r>
          <a:endParaRPr lang="en-US" sz="1400" kern="1200"/>
        </a:p>
      </dsp:txBody>
      <dsp:txXfrm>
        <a:off x="484495" y="2622033"/>
        <a:ext cx="4727584" cy="419476"/>
      </dsp:txXfrm>
    </dsp:sp>
    <dsp:sp modelId="{A77C6D09-A681-4B6C-B3FD-EE1B7DB6A657}">
      <dsp:nvSpPr>
        <dsp:cNvPr id="0" name=""/>
        <dsp:cNvSpPr/>
      </dsp:nvSpPr>
      <dsp:spPr>
        <a:xfrm>
          <a:off x="0" y="3146378"/>
          <a:ext cx="5212080" cy="4194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A7D63A-B840-4555-A05F-5379FF3CC4CE}">
      <dsp:nvSpPr>
        <dsp:cNvPr id="0" name=""/>
        <dsp:cNvSpPr/>
      </dsp:nvSpPr>
      <dsp:spPr>
        <a:xfrm>
          <a:off x="126891" y="3240760"/>
          <a:ext cx="230712" cy="23071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CF4FD4-CB9A-4F6F-BE95-EF0A7198D2F8}">
      <dsp:nvSpPr>
        <dsp:cNvPr id="0" name=""/>
        <dsp:cNvSpPr/>
      </dsp:nvSpPr>
      <dsp:spPr>
        <a:xfrm>
          <a:off x="484495" y="3146378"/>
          <a:ext cx="4727584" cy="419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a:t>Used for:  From-scratch training </a:t>
          </a:r>
          <a:endParaRPr lang="en-US" sz="1400" kern="1200"/>
        </a:p>
      </dsp:txBody>
      <dsp:txXfrm>
        <a:off x="484495" y="3146378"/>
        <a:ext cx="4727584" cy="4194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8BCEB6-7AC5-4B9F-923D-08D8C48274EA}"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15224-D38B-4519-A5D7-279F1142A994}" type="slidenum">
              <a:rPr lang="en-US" smtClean="0"/>
              <a:t>‹#›</a:t>
            </a:fld>
            <a:endParaRPr lang="en-US"/>
          </a:p>
        </p:txBody>
      </p:sp>
    </p:spTree>
    <p:extLst>
      <p:ext uri="{BB962C8B-B14F-4D97-AF65-F5344CB8AC3E}">
        <p14:creationId xmlns:p14="http://schemas.microsoft.com/office/powerpoint/2010/main" val="2773823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2</a:t>
            </a:fld>
            <a:endParaRPr lang="en-US"/>
          </a:p>
        </p:txBody>
      </p:sp>
    </p:spTree>
    <p:extLst>
      <p:ext uri="{BB962C8B-B14F-4D97-AF65-F5344CB8AC3E}">
        <p14:creationId xmlns:p14="http://schemas.microsoft.com/office/powerpoint/2010/main" val="1440314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D4D4D4"/>
                </a:solidFill>
                <a:effectLst/>
                <a:latin typeface="Consolas" panose="020B0609020204030204" pitchFamily="49" charset="0"/>
              </a:rPr>
              <a:t>"Cerebrovascular diseases — stroke, aneurysms, arteriovenous malformations — are a leading cause of death and disability worldwide. Accurate segmentation of cerebral vasculature from CT angiography is essential for diagnosis and surgical planning."</a:t>
            </a:r>
          </a:p>
          <a:p>
            <a:endParaRPr lang="en-US" dirty="0"/>
          </a:p>
          <a:p>
            <a:r>
              <a:rPr lang="en-US" dirty="0"/>
              <a:t>So why do we need automated vessel segmentation? Today, if a neurosurgeon wants a 3D map of a patient's cerebral vasculature — for surgical planning, aneurysm assessment, or stroke triage — a radiologist has to manually trace the vessels slice by slice. That takes hours per scan. It's simply not feasible in an emergency setting where treatment decisions need to happen in minutes.</a:t>
            </a:r>
          </a:p>
          <a:p>
            <a:endParaRPr lang="en-US" dirty="0"/>
          </a:p>
          <a:p>
            <a:r>
              <a:rPr lang="en-US" dirty="0"/>
              <a:t>"Automated segmentation changes that. It can turn a raw CTA scan into a 3D vascular model in seconds, enabling real-time surgical navigation, 3D aneurysm visualization, and rapid collateral flow assessment during</a:t>
            </a:r>
          </a:p>
          <a:p>
            <a:r>
              <a:rPr lang="en-US" dirty="0"/>
              <a:t>stroke triage.“    "The primary region of interest is the Circle of Willis — the arterial ring at the base of the brain. It has large named arteries — ICA, MCA, basilar — but the thin communicating arteries, the </a:t>
            </a:r>
            <a:r>
              <a:rPr lang="en-US" dirty="0" err="1"/>
              <a:t>Acom</a:t>
            </a:r>
            <a:r>
              <a:rPr lang="en-US" dirty="0"/>
              <a:t> and </a:t>
            </a:r>
            <a:r>
              <a:rPr lang="en-US" dirty="0" err="1"/>
              <a:t>Pcom</a:t>
            </a:r>
            <a:r>
              <a:rPr lang="en-US" dirty="0"/>
              <a:t>, are what matter most. These are the collateral pathways. When a major vessel is blocked during a stroke, whether the patient has intact communicating arteries determines whether blood can reroute. If your segmentation misses or disconnects these, the clinical utility is lost."</a:t>
            </a:r>
          </a:p>
        </p:txBody>
      </p:sp>
      <p:sp>
        <p:nvSpPr>
          <p:cNvPr id="4" name="Slide Number Placeholder 3"/>
          <p:cNvSpPr>
            <a:spLocks noGrp="1"/>
          </p:cNvSpPr>
          <p:nvPr>
            <p:ph type="sldNum" sz="quarter" idx="5"/>
          </p:nvPr>
        </p:nvSpPr>
        <p:spPr/>
        <p:txBody>
          <a:bodyPr/>
          <a:lstStyle/>
          <a:p>
            <a:fld id="{5A215224-D38B-4519-A5D7-279F1142A994}" type="slidenum">
              <a:rPr lang="en-US" smtClean="0"/>
              <a:t>3</a:t>
            </a:fld>
            <a:endParaRPr lang="en-US"/>
          </a:p>
        </p:txBody>
      </p:sp>
    </p:spTree>
    <p:extLst>
      <p:ext uri="{BB962C8B-B14F-4D97-AF65-F5344CB8AC3E}">
        <p14:creationId xmlns:p14="http://schemas.microsoft.com/office/powerpoint/2010/main" val="2701925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"Here's the core problem. Current deep learning segmentation models are optimized to maximize voxel-level overlap with the ground truth. They have no concept of whether a vessel is connected end-to-end or whether</a:t>
            </a:r>
          </a:p>
          <a:p>
            <a:r>
              <a:rPr lang="en-US" dirty="0"/>
              <a:t>  ▎ it's been severed into fragments. A segmentation can score a Dice coefficient of 0.87 (that's the standard overlap metric, essentially measuring what percentage of predicted vessel voxels match the ground truth) — which sounds excellent — while containing completely broken vessels."</a:t>
            </a:r>
          </a:p>
          <a:p>
            <a:r>
              <a:rPr lang="en-US" dirty="0"/>
              <a:t>  ▎</a:t>
            </a:r>
          </a:p>
          <a:p>
            <a:r>
              <a:rPr lang="en-US" dirty="0"/>
              <a:t>  ▎ "When we actually tested our first model in a clinical 3D viewer, this is exactly what we found. The global metrics looked reasonable, but when we broke it down by individual vessel class, the posterior communicating</a:t>
            </a:r>
          </a:p>
          <a:p>
            <a:r>
              <a:rPr lang="en-US" dirty="0"/>
              <a:t>  ▎  artery scored 0.42, and other communicating arteries were similarly poor. The aggregate score was dominated by the large arteries — the ICA, MCA, basilar — which are easy to segment. The thin structures that matter</a:t>
            </a:r>
          </a:p>
          <a:p>
            <a:r>
              <a:rPr lang="en-US" dirty="0"/>
              <a:t>  ▎ most for clinical decisions were failing silently."</a:t>
            </a:r>
          </a:p>
          <a:p>
            <a:r>
              <a:rPr lang="en-US" dirty="0"/>
              <a:t>  ▎</a:t>
            </a:r>
          </a:p>
          <a:p>
            <a:r>
              <a:rPr lang="en-US" dirty="0"/>
              <a:t>  ▎ "So the question becomes: can we train these models to care about connectivity? That's where topology-aware loss functions come in, which we'll get to shortly."</a:t>
            </a:r>
          </a:p>
        </p:txBody>
      </p:sp>
      <p:sp>
        <p:nvSpPr>
          <p:cNvPr id="4" name="Slide Number Placeholder 3"/>
          <p:cNvSpPr>
            <a:spLocks noGrp="1"/>
          </p:cNvSpPr>
          <p:nvPr>
            <p:ph type="sldNum" sz="quarter" idx="5"/>
          </p:nvPr>
        </p:nvSpPr>
        <p:spPr/>
        <p:txBody>
          <a:bodyPr/>
          <a:lstStyle/>
          <a:p>
            <a:fld id="{5A215224-D38B-4519-A5D7-279F1142A994}" type="slidenum">
              <a:rPr lang="en-US" smtClean="0"/>
              <a:t>4</a:t>
            </a:fld>
            <a:endParaRPr lang="en-US"/>
          </a:p>
        </p:txBody>
      </p:sp>
    </p:spTree>
    <p:extLst>
      <p:ext uri="{BB962C8B-B14F-4D97-AF65-F5344CB8AC3E}">
        <p14:creationId xmlns:p14="http://schemas.microsoft.com/office/powerpoint/2010/main" val="198223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D4D4D4"/>
                </a:solidFill>
                <a:effectLst/>
                <a:latin typeface="Consolas" panose="020B0609020204030204" pitchFamily="49" charset="0"/>
              </a:rPr>
              <a:t>Our work builds on the </a:t>
            </a:r>
            <a:r>
              <a:rPr lang="en-US" b="0" dirty="0" err="1">
                <a:solidFill>
                  <a:srgbClr val="D4D4D4"/>
                </a:solidFill>
                <a:effectLst/>
                <a:latin typeface="Consolas" panose="020B0609020204030204" pitchFamily="49" charset="0"/>
              </a:rPr>
              <a:t>TopCoW</a:t>
            </a:r>
            <a:r>
              <a:rPr lang="en-US" b="0" dirty="0">
                <a:solidFill>
                  <a:srgbClr val="D4D4D4"/>
                </a:solidFill>
                <a:effectLst/>
                <a:latin typeface="Consolas" panose="020B0609020204030204" pitchFamily="49" charset="0"/>
              </a:rPr>
              <a:t> 2024 Challenge — a MICCAI challenge specifically designed to benchmark Circle of Willis segmentation. The challenge provides 125 CTA and 125 MRA volumes with expert voxel-level annotations for 13 vessel classes. What makes </a:t>
            </a:r>
            <a:r>
              <a:rPr lang="en-US" b="0" dirty="0" err="1">
                <a:solidFill>
                  <a:srgbClr val="D4D4D4"/>
                </a:solidFill>
                <a:effectLst/>
                <a:latin typeface="Consolas" panose="020B0609020204030204" pitchFamily="49" charset="0"/>
              </a:rPr>
              <a:t>TopCoW</a:t>
            </a:r>
            <a:r>
              <a:rPr lang="en-US" b="0" dirty="0">
                <a:solidFill>
                  <a:srgbClr val="D4D4D4"/>
                </a:solidFill>
                <a:effectLst/>
                <a:latin typeface="Consolas" panose="020B0609020204030204" pitchFamily="49" charset="0"/>
              </a:rPr>
              <a:t> unique among segmentation challenges is its evaluation protocol: beyond standard Dice and </a:t>
            </a:r>
            <a:r>
              <a:rPr lang="en-US" b="0" dirty="0" err="1">
                <a:solidFill>
                  <a:srgbClr val="D4D4D4"/>
                </a:solidFill>
                <a:effectLst/>
                <a:latin typeface="Consolas" panose="020B0609020204030204" pitchFamily="49" charset="0"/>
              </a:rPr>
              <a:t>Hausdorff</a:t>
            </a:r>
            <a:r>
              <a:rPr lang="en-US" b="0" dirty="0">
                <a:solidFill>
                  <a:srgbClr val="D4D4D4"/>
                </a:solidFill>
                <a:effectLst/>
                <a:latin typeface="Consolas" panose="020B0609020204030204" pitchFamily="49" charset="0"/>
              </a:rPr>
              <a:t> distance, it measures topological correctness using the Betti-0 error — which counts connected component mismatches between prediction and ground truth — and centerline Dice, which evaluates skeleton-level overlap."</a:t>
            </a:r>
          </a:p>
          <a:p>
            <a:r>
              <a:rPr lang="en-US" b="0" dirty="0">
                <a:solidFill>
                  <a:srgbClr val="6A9955"/>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&gt;</a:t>
            </a:r>
            <a:r>
              <a:rPr lang="en-US" b="0" dirty="0">
                <a:solidFill>
                  <a:srgbClr val="D4D4D4"/>
                </a:solidFill>
                <a:effectLst/>
                <a:latin typeface="Consolas" panose="020B0609020204030204" pitchFamily="49" charset="0"/>
              </a:rPr>
              <a:t> "The key finding from the </a:t>
            </a:r>
            <a:r>
              <a:rPr lang="en-US" b="0" dirty="0" err="1">
                <a:solidFill>
                  <a:srgbClr val="D4D4D4"/>
                </a:solidFill>
                <a:effectLst/>
                <a:latin typeface="Consolas" panose="020B0609020204030204" pitchFamily="49" charset="0"/>
              </a:rPr>
              <a:t>TopCoW</a:t>
            </a:r>
            <a:r>
              <a:rPr lang="en-US" b="0" dirty="0">
                <a:solidFill>
                  <a:srgbClr val="D4D4D4"/>
                </a:solidFill>
                <a:effectLst/>
                <a:latin typeface="Consolas" panose="020B0609020204030204" pitchFamily="49" charset="0"/>
              </a:rPr>
              <a:t> challenge is that even top-performing teams achieve good aggregate Dice scores while still producing topologically incorrect segmentations. The communicating arteries, which are the most clinically important structures in the Circle of Willis, remain the weakest point across all submitted methods. This motivated our study: can we specifically improve topology through the loss function alone?"</a:t>
            </a:r>
          </a:p>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5</a:t>
            </a:fld>
            <a:endParaRPr lang="en-US"/>
          </a:p>
        </p:txBody>
      </p:sp>
    </p:spTree>
    <p:extLst>
      <p:ext uri="{BB962C8B-B14F-4D97-AF65-F5344CB8AC3E}">
        <p14:creationId xmlns:p14="http://schemas.microsoft.com/office/powerpoint/2010/main" val="4088113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D4D4D4"/>
                </a:solidFill>
                <a:effectLst/>
                <a:latin typeface="Consolas" panose="020B0609020204030204" pitchFamily="49" charset="0"/>
              </a:rPr>
              <a:t>"The backbone of modern medical image segmentation is </a:t>
            </a:r>
            <a:r>
              <a:rPr lang="en-US" b="0" dirty="0" err="1">
                <a:solidFill>
                  <a:srgbClr val="D4D4D4"/>
                </a:solidFill>
                <a:effectLst/>
                <a:latin typeface="Consolas" panose="020B0609020204030204" pitchFamily="49" charset="0"/>
              </a:rPr>
              <a:t>nnU</a:t>
            </a:r>
            <a:r>
              <a:rPr lang="en-US" b="0" dirty="0">
                <a:solidFill>
                  <a:srgbClr val="D4D4D4"/>
                </a:solidFill>
                <a:effectLst/>
                <a:latin typeface="Consolas" panose="020B0609020204030204" pitchFamily="49" charset="0"/>
              </a:rPr>
              <a:t>-Net by </a:t>
            </a:r>
            <a:r>
              <a:rPr lang="en-US" b="0" dirty="0" err="1">
                <a:solidFill>
                  <a:srgbClr val="D4D4D4"/>
                </a:solidFill>
                <a:effectLst/>
                <a:latin typeface="Consolas" panose="020B0609020204030204" pitchFamily="49" charset="0"/>
              </a:rPr>
              <a:t>Isensee</a:t>
            </a:r>
            <a:r>
              <a:rPr lang="en-US" b="0" dirty="0">
                <a:solidFill>
                  <a:srgbClr val="D4D4D4"/>
                </a:solidFill>
                <a:effectLst/>
                <a:latin typeface="Consolas" panose="020B0609020204030204" pitchFamily="49" charset="0"/>
              </a:rPr>
              <a:t> et al., published in Nature Methods 2021. It established the Dice plus cross-entropy paradigm that nearly all top methods build on. In 2021, Shit et al. at CVPR introduced centerline Dice — </a:t>
            </a:r>
            <a:r>
              <a:rPr lang="en-US" b="0" dirty="0" err="1">
                <a:solidFill>
                  <a:srgbClr val="D4D4D4"/>
                </a:solidFill>
                <a:effectLst/>
                <a:latin typeface="Consolas" panose="020B0609020204030204" pitchFamily="49" charset="0"/>
              </a:rPr>
              <a:t>clDice</a:t>
            </a:r>
            <a:r>
              <a:rPr lang="en-US" b="0" dirty="0">
                <a:solidFill>
                  <a:srgbClr val="D4D4D4"/>
                </a:solidFill>
                <a:effectLst/>
                <a:latin typeface="Consolas" panose="020B0609020204030204" pitchFamily="49" charset="0"/>
              </a:rPr>
              <a:t> — which computes Dice on morphological skeletons using differentiable soft-skeletonization. This was the first loss function to directly penalize topological disconnection in a differentiable way."</a:t>
            </a:r>
          </a:p>
          <a:p>
            <a:r>
              <a:rPr lang="en-US" b="0" dirty="0">
                <a:solidFill>
                  <a:srgbClr val="6A9955"/>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&gt;</a:t>
            </a:r>
            <a:r>
              <a:rPr lang="en-US" b="0" dirty="0">
                <a:solidFill>
                  <a:srgbClr val="D4D4D4"/>
                </a:solidFill>
                <a:effectLst/>
                <a:latin typeface="Consolas" panose="020B0609020204030204" pitchFamily="49" charset="0"/>
              </a:rPr>
              <a:t> "More recently, Kirchhoff et al. at ECCV 2024 proposed Skeleton Recall, which takes a more computationally efficient approach — precomputing binary skeletons on CPU and using them as attention masks. Other related work includes the Centerline Boundary Dice loss from Shi et al. at MICCAI 2024, methods based on persistent homology from Berger and Stucki, and specialized architectures like </a:t>
            </a:r>
            <a:r>
              <a:rPr lang="en-US" b="0" dirty="0" err="1">
                <a:solidFill>
                  <a:srgbClr val="D4D4D4"/>
                </a:solidFill>
                <a:effectLst/>
                <a:latin typeface="Consolas" panose="020B0609020204030204" pitchFamily="49" charset="0"/>
              </a:rPr>
              <a:t>NexToU</a:t>
            </a:r>
            <a:r>
              <a:rPr lang="en-US" b="0" dirty="0">
                <a:solidFill>
                  <a:srgbClr val="D4D4D4"/>
                </a:solidFill>
                <a:effectLst/>
                <a:latin typeface="Consolas" panose="020B0609020204030204" pitchFamily="49" charset="0"/>
              </a:rPr>
              <a:t>."</a:t>
            </a:r>
          </a:p>
          <a:p>
            <a:r>
              <a:rPr lang="en-US" b="0" dirty="0">
                <a:solidFill>
                  <a:srgbClr val="6A9955"/>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&gt;</a:t>
            </a:r>
            <a:r>
              <a:rPr lang="en-US" b="0" dirty="0">
                <a:solidFill>
                  <a:srgbClr val="D4D4D4"/>
                </a:solidFill>
                <a:effectLst/>
                <a:latin typeface="Consolas" panose="020B0609020204030204" pitchFamily="49" charset="0"/>
              </a:rPr>
              <a:t> "The key limitation we identified is that existing evaluations of these topology-aware losses either introduce them alongside architectural changes — making it impossible to attribute improvements to the loss function alone — or they report only aggregate scores on multi-team challenge leaderboards. Our work addresses this gap through a controlled, single-variable ablation."</a:t>
            </a:r>
          </a:p>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6</a:t>
            </a:fld>
            <a:endParaRPr lang="en-US"/>
          </a:p>
        </p:txBody>
      </p:sp>
    </p:spTree>
    <p:extLst>
      <p:ext uri="{BB962C8B-B14F-4D97-AF65-F5344CB8AC3E}">
        <p14:creationId xmlns:p14="http://schemas.microsoft.com/office/powerpoint/2010/main" val="271889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D4D4D4"/>
                </a:solidFill>
                <a:effectLst/>
                <a:latin typeface="Consolas" panose="020B0609020204030204" pitchFamily="49" charset="0"/>
              </a:rPr>
              <a:t>"Our hypothesis is that topology-aware loss functions will disproportionately improve segmentation of thin communicating arteries — the </a:t>
            </a:r>
            <a:r>
              <a:rPr lang="en-US" b="0" dirty="0" err="1">
                <a:solidFill>
                  <a:srgbClr val="D4D4D4"/>
                </a:solidFill>
                <a:effectLst/>
                <a:latin typeface="Consolas" panose="020B0609020204030204" pitchFamily="49" charset="0"/>
              </a:rPr>
              <a:t>Acom</a:t>
            </a:r>
            <a:r>
              <a:rPr lang="en-US" b="0" dirty="0">
                <a:solidFill>
                  <a:srgbClr val="D4D4D4"/>
                </a:solidFill>
                <a:effectLst/>
                <a:latin typeface="Consolas" panose="020B0609020204030204" pitchFamily="49" charset="0"/>
              </a:rPr>
              <a:t> and </a:t>
            </a:r>
            <a:r>
              <a:rPr lang="en-US" b="0" dirty="0" err="1">
                <a:solidFill>
                  <a:srgbClr val="D4D4D4"/>
                </a:solidFill>
                <a:effectLst/>
                <a:latin typeface="Consolas" panose="020B0609020204030204" pitchFamily="49" charset="0"/>
              </a:rPr>
              <a:t>Pcom</a:t>
            </a:r>
            <a:r>
              <a:rPr lang="en-US" b="0" dirty="0">
                <a:solidFill>
                  <a:srgbClr val="D4D4D4"/>
                </a:solidFill>
                <a:effectLst/>
                <a:latin typeface="Consolas" panose="020B0609020204030204" pitchFamily="49" charset="0"/>
              </a:rPr>
              <a:t> — which are most prone to topological failure."</a:t>
            </a:r>
          </a:p>
          <a:p>
            <a:r>
              <a:rPr lang="en-US" b="0" dirty="0">
                <a:solidFill>
                  <a:srgbClr val="6A9955"/>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r>
              <a:rPr lang="en-US" b="0" dirty="0">
                <a:solidFill>
                  <a:srgbClr val="6A9955"/>
                </a:solidFill>
                <a:effectLst/>
                <a:latin typeface="Consolas" panose="020B0609020204030204" pitchFamily="49" charset="0"/>
              </a:rPr>
              <a:t>&gt;</a:t>
            </a:r>
            <a:r>
              <a:rPr lang="en-US" b="0" dirty="0">
                <a:solidFill>
                  <a:srgbClr val="D4D4D4"/>
                </a:solidFill>
                <a:effectLst/>
                <a:latin typeface="Consolas" panose="020B0609020204030204" pitchFamily="49" charset="0"/>
              </a:rPr>
              <a:t> "To test this cleanly, we designed a controlled ablation. We hold everything identical — the same 3D U-Net architecture, the same data splits, the same hardware, the same optimizer and hyperparameters — and vary only the loss function. Three configurations: first, Dice plus cross-entropy as the baseline; second, adding soft centerline Dice from Shit et al.; and third, adding Skeleton Recall from Kirchhoff et al. Both topology-aware terms are combined with the base loss at equal weight, alpha equals 0.5."</a:t>
            </a:r>
          </a:p>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7</a:t>
            </a:fld>
            <a:endParaRPr lang="en-US"/>
          </a:p>
        </p:txBody>
      </p:sp>
    </p:spTree>
    <p:extLst>
      <p:ext uri="{BB962C8B-B14F-4D97-AF65-F5344CB8AC3E}">
        <p14:creationId xmlns:p14="http://schemas.microsoft.com/office/powerpoint/2010/main" val="58818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8</a:t>
            </a:fld>
            <a:endParaRPr lang="en-US"/>
          </a:p>
        </p:txBody>
      </p:sp>
    </p:spTree>
    <p:extLst>
      <p:ext uri="{BB962C8B-B14F-4D97-AF65-F5344CB8AC3E}">
        <p14:creationId xmlns:p14="http://schemas.microsoft.com/office/powerpoint/2010/main" val="982107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9</a:t>
            </a:fld>
            <a:endParaRPr lang="en-US"/>
          </a:p>
        </p:txBody>
      </p:sp>
    </p:spTree>
    <p:extLst>
      <p:ext uri="{BB962C8B-B14F-4D97-AF65-F5344CB8AC3E}">
        <p14:creationId xmlns:p14="http://schemas.microsoft.com/office/powerpoint/2010/main" val="2944887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15224-D38B-4519-A5D7-279F1142A994}" type="slidenum">
              <a:rPr lang="en-US" smtClean="0"/>
              <a:t>10</a:t>
            </a:fld>
            <a:endParaRPr lang="en-US"/>
          </a:p>
        </p:txBody>
      </p:sp>
    </p:spTree>
    <p:extLst>
      <p:ext uri="{BB962C8B-B14F-4D97-AF65-F5344CB8AC3E}">
        <p14:creationId xmlns:p14="http://schemas.microsoft.com/office/powerpoint/2010/main" val="2021376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4/9/2026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30743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4/9/2026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5770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4/9/2026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44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4/9/2026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50149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4/9/2026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98243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4/9/2026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2471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4/9/2026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97682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4/9/2026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91913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4/9/2026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14400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4/9/2026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3304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4/9/2026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837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895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4/9/2026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7919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 id="2147483672" r:id="rId12"/>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jpg"/><Relationship Id="rId7" Type="http://schemas.openxmlformats.org/officeDocument/2006/relationships/diagramLayout" Target="../diagrams/layout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Data" Target="../diagrams/data1.xml"/><Relationship Id="rId11" Type="http://schemas.openxmlformats.org/officeDocument/2006/relationships/image" Target="../media/image4.png"/><Relationship Id="rId5" Type="http://schemas.openxmlformats.org/officeDocument/2006/relationships/image" Target="../media/image3.png"/><Relationship Id="rId10" Type="http://schemas.microsoft.com/office/2007/relationships/diagramDrawing" Target="../diagrams/drawing1.xml"/><Relationship Id="rId4" Type="http://schemas.openxmlformats.org/officeDocument/2006/relationships/hyperlink" Target="https://darksayings.blogspot.com/2019/02/" TargetMode="External"/><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tsaco.bmj.com/content/2/1/e000086" TargetMode="External"/><Relationship Id="rId5" Type="http://schemas.openxmlformats.org/officeDocument/2006/relationships/image" Target="../media/image6.jpg"/><Relationship Id="rId4" Type="http://schemas.openxmlformats.org/officeDocument/2006/relationships/hyperlink" Target="https://bmjopen.bmj.com/content/10/6/e036404"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13" Type="http://schemas.openxmlformats.org/officeDocument/2006/relationships/image" Target="../media/image13.png"/><Relationship Id="rId18" Type="http://schemas.openxmlformats.org/officeDocument/2006/relationships/image" Target="../media/image18.svg"/><Relationship Id="rId3" Type="http://schemas.openxmlformats.org/officeDocument/2006/relationships/image" Target="../media/image8.jpg"/><Relationship Id="rId21" Type="http://schemas.openxmlformats.org/officeDocument/2006/relationships/image" Target="../media/image21.png"/><Relationship Id="rId7" Type="http://schemas.openxmlformats.org/officeDocument/2006/relationships/diagramColors" Target="../diagrams/colors3.xml"/><Relationship Id="rId12" Type="http://schemas.openxmlformats.org/officeDocument/2006/relationships/image" Target="../media/image12.svg"/><Relationship Id="rId17" Type="http://schemas.openxmlformats.org/officeDocument/2006/relationships/image" Target="../media/image17.png"/><Relationship Id="rId2" Type="http://schemas.openxmlformats.org/officeDocument/2006/relationships/notesSlide" Target="../notesSlides/notesSlide7.xml"/><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4.xml"/><Relationship Id="rId6" Type="http://schemas.openxmlformats.org/officeDocument/2006/relationships/diagramQuickStyle" Target="../diagrams/quickStyle3.xml"/><Relationship Id="rId11" Type="http://schemas.openxmlformats.org/officeDocument/2006/relationships/image" Target="../media/image11.png"/><Relationship Id="rId5" Type="http://schemas.openxmlformats.org/officeDocument/2006/relationships/diagramLayout" Target="../diagrams/layout3.xml"/><Relationship Id="rId15" Type="http://schemas.openxmlformats.org/officeDocument/2006/relationships/image" Target="../media/image15.png"/><Relationship Id="rId10" Type="http://schemas.openxmlformats.org/officeDocument/2006/relationships/image" Target="../media/image10.svg"/><Relationship Id="rId19" Type="http://schemas.openxmlformats.org/officeDocument/2006/relationships/image" Target="../media/image19.png"/><Relationship Id="rId4" Type="http://schemas.openxmlformats.org/officeDocument/2006/relationships/diagramData" Target="../diagrams/data3.xml"/><Relationship Id="rId9" Type="http://schemas.openxmlformats.org/officeDocument/2006/relationships/image" Target="../media/image9.png"/><Relationship Id="rId14" Type="http://schemas.openxmlformats.org/officeDocument/2006/relationships/image" Target="../media/image14.svg"/><Relationship Id="rId22"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Video 54" descr="3D Rendering Of The Brain">
            <a:extLst>
              <a:ext uri="{FF2B5EF4-FFF2-40B4-BE49-F238E27FC236}">
                <a16:creationId xmlns:a16="http://schemas.microsoft.com/office/drawing/2014/main" id="{A131CD26-3066-718B-DBE0-FA54C056A82B}"/>
              </a:ext>
            </a:extLst>
          </p:cNvPr>
          <p:cNvPicPr>
            <a:picLocks noChangeAspect="1"/>
          </p:cNvPicPr>
          <p:nvPr>
            <a:videoFile r:link="rId2"/>
            <p:extLst>
              <p:ext uri="{DAA4B4D4-6D71-4841-9C94-3DE7FCFB9230}">
                <p14:media xmlns:p14="http://schemas.microsoft.com/office/powerpoint/2010/main" r:embed="rId1"/>
              </p:ext>
            </p:extLst>
          </p:nvPr>
        </p:nvPicPr>
        <p:blipFill>
          <a:blip r:embed="rId4">
            <a:alphaModFix/>
          </a:blip>
          <a:srcRect t="284" r="-1" b="-1"/>
          <a:stretch>
            <a:fillRect/>
          </a:stretch>
        </p:blipFill>
        <p:spPr>
          <a:xfrm>
            <a:off x="20" y="10"/>
            <a:ext cx="12191980" cy="6857985"/>
          </a:xfrm>
          <a:prstGeom prst="rect">
            <a:avLst/>
          </a:prstGeom>
        </p:spPr>
      </p:pic>
      <p:sp>
        <p:nvSpPr>
          <p:cNvPr id="56" name="Rectangle 10">
            <a:extLst>
              <a:ext uri="{FF2B5EF4-FFF2-40B4-BE49-F238E27FC236}">
                <a16:creationId xmlns:a16="http://schemas.microsoft.com/office/drawing/2014/main" id="{38390362-5868-4DF6-BD74-91C72884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35382" y="-1298619"/>
            <a:ext cx="4121238" cy="12191998"/>
          </a:xfrm>
          <a:prstGeom prst="rect">
            <a:avLst/>
          </a:prstGeom>
          <a:gradFill flip="none" rotWithShape="1">
            <a:gsLst>
              <a:gs pos="36000">
                <a:srgbClr val="000000">
                  <a:alpha val="26000"/>
                </a:srgbClr>
              </a:gs>
              <a:gs pos="0">
                <a:srgbClr val="000000">
                  <a:alpha val="0"/>
                </a:srgbClr>
              </a:gs>
              <a:gs pos="61000">
                <a:srgbClr val="0E0D12">
                  <a:alpha val="58000"/>
                </a:srgbClr>
              </a:gs>
              <a:gs pos="88000">
                <a:srgbClr val="000000">
                  <a:alpha val="58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874F5D-CB10-CAF7-2237-9487952803E1}"/>
              </a:ext>
            </a:extLst>
          </p:cNvPr>
          <p:cNvSpPr>
            <a:spLocks noGrp="1"/>
          </p:cNvSpPr>
          <p:nvPr>
            <p:ph type="ctrTitle"/>
          </p:nvPr>
        </p:nvSpPr>
        <p:spPr>
          <a:xfrm>
            <a:off x="558140" y="4326568"/>
            <a:ext cx="6835698" cy="1855646"/>
          </a:xfrm>
        </p:spPr>
        <p:txBody>
          <a:bodyPr anchor="b">
            <a:normAutofit/>
          </a:bodyPr>
          <a:lstStyle/>
          <a:p>
            <a:pPr>
              <a:lnSpc>
                <a:spcPct val="90000"/>
              </a:lnSpc>
            </a:pPr>
            <a:r>
              <a:rPr lang="en-US" sz="4200" dirty="0">
                <a:solidFill>
                  <a:srgbClr val="FFFFFF"/>
                </a:solidFill>
              </a:rPr>
              <a:t>Deep Learning for Vessel Segmentation in Cerebral CTA</a:t>
            </a:r>
          </a:p>
        </p:txBody>
      </p:sp>
      <p:sp>
        <p:nvSpPr>
          <p:cNvPr id="3" name="Subtitle 2">
            <a:extLst>
              <a:ext uri="{FF2B5EF4-FFF2-40B4-BE49-F238E27FC236}">
                <a16:creationId xmlns:a16="http://schemas.microsoft.com/office/drawing/2014/main" id="{BC82610E-71B8-C4FC-2D19-772DB8C66E3E}"/>
              </a:ext>
            </a:extLst>
          </p:cNvPr>
          <p:cNvSpPr>
            <a:spLocks noGrp="1"/>
          </p:cNvSpPr>
          <p:nvPr>
            <p:ph type="subTitle" idx="1"/>
          </p:nvPr>
        </p:nvSpPr>
        <p:spPr>
          <a:xfrm>
            <a:off x="8551896" y="4903969"/>
            <a:ext cx="3211550" cy="1141964"/>
          </a:xfrm>
        </p:spPr>
        <p:txBody>
          <a:bodyPr anchor="b">
            <a:normAutofit/>
          </a:bodyPr>
          <a:lstStyle/>
          <a:p>
            <a:pPr algn="r">
              <a:lnSpc>
                <a:spcPct val="120000"/>
              </a:lnSpc>
            </a:pPr>
            <a:r>
              <a:rPr lang="en-US" sz="1500" dirty="0">
                <a:solidFill>
                  <a:srgbClr val="FFFFFF"/>
                </a:solidFill>
              </a:rPr>
              <a:t>A Controlled Ablation of Topology-Aware Loss Functions</a:t>
            </a:r>
          </a:p>
        </p:txBody>
      </p:sp>
      <p:cxnSp>
        <p:nvCxnSpPr>
          <p:cNvPr id="57" name="Straight Connector 12">
            <a:extLst>
              <a:ext uri="{FF2B5EF4-FFF2-40B4-BE49-F238E27FC236}">
                <a16:creationId xmlns:a16="http://schemas.microsoft.com/office/drawing/2014/main" id="{8A5C8BF2-C035-4BFF-8802-A397238344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2570" y="6272784"/>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7E7FBAD-78CD-169B-5959-F8C3D17E92BA}"/>
              </a:ext>
            </a:extLst>
          </p:cNvPr>
          <p:cNvSpPr txBox="1"/>
          <p:nvPr/>
        </p:nvSpPr>
        <p:spPr>
          <a:xfrm>
            <a:off x="475013" y="6453926"/>
            <a:ext cx="11288433" cy="369332"/>
          </a:xfrm>
          <a:prstGeom prst="rect">
            <a:avLst/>
          </a:prstGeom>
          <a:noFill/>
        </p:spPr>
        <p:txBody>
          <a:bodyPr wrap="square" rtlCol="0">
            <a:spAutoFit/>
          </a:bodyPr>
          <a:lstStyle/>
          <a:p>
            <a:r>
              <a:rPr lang="en-US" dirty="0"/>
              <a:t>Samih </a:t>
            </a:r>
            <a:r>
              <a:rPr lang="en-US" dirty="0" err="1"/>
              <a:t>Tharwat</a:t>
            </a:r>
            <a:r>
              <a:rPr lang="en-US" dirty="0"/>
              <a:t> Amer  | Whiting School of Engineering – Johns Hopkins University  |  EN.525.733  Dr. </a:t>
            </a:r>
            <a:r>
              <a:rPr lang="en-US" dirty="0" err="1"/>
              <a:t>Nasrabadi</a:t>
            </a:r>
            <a:r>
              <a:rPr lang="en-US" dirty="0"/>
              <a:t> </a:t>
            </a:r>
          </a:p>
        </p:txBody>
      </p:sp>
    </p:spTree>
    <p:extLst>
      <p:ext uri="{BB962C8B-B14F-4D97-AF65-F5344CB8AC3E}">
        <p14:creationId xmlns:p14="http://schemas.microsoft.com/office/powerpoint/2010/main" val="6522552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34" fill="hold"/>
                                        <p:tgtEl>
                                          <p:spTgt spid="5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5"/>
                                        </p:tgtEl>
                                      </p:cBhvr>
                                    </p:cmd>
                                  </p:childTnLst>
                                </p:cTn>
                              </p:par>
                            </p:childTnLst>
                          </p:cTn>
                        </p:par>
                      </p:childTnLst>
                    </p:cTn>
                  </p:par>
                </p:childTnLst>
              </p:cTn>
              <p:nextCondLst>
                <p:cond evt="onClick" delay="0">
                  <p:tgtEl>
                    <p:spTgt spid="55"/>
                  </p:tgtEl>
                </p:cond>
              </p:nextCondLst>
            </p:seq>
            <p:video>
              <p:cMediaNode mute="1">
                <p:cTn id="12" repeatCount="indefinite" fill="hold" display="0">
                  <p:stCondLst>
                    <p:cond delay="indefinite"/>
                  </p:stCondLst>
                </p:cTn>
                <p:tgtEl>
                  <p:spTgt spid="5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t scan machine in a room&#10;&#10;Description automatically generated">
            <a:extLst>
              <a:ext uri="{FF2B5EF4-FFF2-40B4-BE49-F238E27FC236}">
                <a16:creationId xmlns:a16="http://schemas.microsoft.com/office/drawing/2014/main" id="{B19635AA-DA25-11C1-929F-DB2E2F3C54A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463727" y="1090885"/>
            <a:ext cx="2176782" cy="14616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itle 1">
            <a:extLst>
              <a:ext uri="{FF2B5EF4-FFF2-40B4-BE49-F238E27FC236}">
                <a16:creationId xmlns:a16="http://schemas.microsoft.com/office/drawing/2014/main" id="{BC354410-08FD-EDF6-A715-49AC681A5B7D}"/>
              </a:ext>
            </a:extLst>
          </p:cNvPr>
          <p:cNvSpPr txBox="1">
            <a:spLocks/>
          </p:cNvSpPr>
          <p:nvPr/>
        </p:nvSpPr>
        <p:spPr>
          <a:xfrm>
            <a:off x="640079" y="1371600"/>
            <a:ext cx="5752093" cy="10972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US"/>
              <a:t>What is a CTA? </a:t>
            </a:r>
            <a:endParaRPr lang="en-US" dirty="0"/>
          </a:p>
        </p:txBody>
      </p:sp>
      <p:pic>
        <p:nvPicPr>
          <p:cNvPr id="4" name="Content Placeholder 8" descr="A close-up of a brain&#10;&#10;Description automatically generated">
            <a:extLst>
              <a:ext uri="{FF2B5EF4-FFF2-40B4-BE49-F238E27FC236}">
                <a16:creationId xmlns:a16="http://schemas.microsoft.com/office/drawing/2014/main" id="{9A0F7010-B957-8D36-C63A-C26A7CAC760A}"/>
              </a:ext>
            </a:extLst>
          </p:cNvPr>
          <p:cNvPicPr>
            <a:picLocks noChangeAspect="1"/>
          </p:cNvPicPr>
          <p:nvPr/>
        </p:nvPicPr>
        <p:blipFill>
          <a:blip r:embed="rId5">
            <a:extLst>
              <a:ext uri="{28A0092B-C50C-407E-A947-70E740481C1C}">
                <a14:useLocalDpi xmlns:a14="http://schemas.microsoft.com/office/drawing/2010/main" val="0"/>
              </a:ext>
            </a:extLst>
          </a:blip>
          <a:srcRect t="3082" r="2" b="2"/>
          <a:stretch>
            <a:fillRect/>
          </a:stretch>
        </p:blipFill>
        <p:spPr>
          <a:xfrm>
            <a:off x="8010268" y="3585325"/>
            <a:ext cx="4181732" cy="3272675"/>
          </a:xfrm>
          <a:prstGeom prst="rect">
            <a:avLst/>
          </a:prstGeom>
        </p:spPr>
      </p:pic>
      <p:sp>
        <p:nvSpPr>
          <p:cNvPr id="5" name="TextBox 4">
            <a:extLst>
              <a:ext uri="{FF2B5EF4-FFF2-40B4-BE49-F238E27FC236}">
                <a16:creationId xmlns:a16="http://schemas.microsoft.com/office/drawing/2014/main" id="{BAE78771-3775-E5D5-F1FB-5BCEDB398035}"/>
              </a:ext>
            </a:extLst>
          </p:cNvPr>
          <p:cNvSpPr txBox="1"/>
          <p:nvPr/>
        </p:nvSpPr>
        <p:spPr>
          <a:xfrm>
            <a:off x="5885497" y="375416"/>
            <a:ext cx="1925053" cy="369332"/>
          </a:xfrm>
          <a:prstGeom prst="rect">
            <a:avLst/>
          </a:prstGeom>
          <a:noFill/>
        </p:spPr>
        <p:txBody>
          <a:bodyPr wrap="square" rtlCol="0">
            <a:spAutoFit/>
          </a:bodyPr>
          <a:lstStyle/>
          <a:p>
            <a:r>
              <a:rPr lang="en-US" dirty="0"/>
              <a:t>Regular CT</a:t>
            </a:r>
          </a:p>
        </p:txBody>
      </p:sp>
      <p:cxnSp>
        <p:nvCxnSpPr>
          <p:cNvPr id="6" name="Straight Arrow Connector 5">
            <a:extLst>
              <a:ext uri="{FF2B5EF4-FFF2-40B4-BE49-F238E27FC236}">
                <a16:creationId xmlns:a16="http://schemas.microsoft.com/office/drawing/2014/main" id="{1DAD0685-9A3B-F052-9D13-0F9BA2EF61CF}"/>
              </a:ext>
            </a:extLst>
          </p:cNvPr>
          <p:cNvCxnSpPr>
            <a:cxnSpLocks/>
          </p:cNvCxnSpPr>
          <p:nvPr/>
        </p:nvCxnSpPr>
        <p:spPr>
          <a:xfrm>
            <a:off x="7122695" y="560082"/>
            <a:ext cx="887573" cy="99936"/>
          </a:xfrm>
          <a:prstGeom prst="straightConnector1">
            <a:avLst/>
          </a:prstGeom>
          <a:ln w="66675">
            <a:tailEnd type="triangle"/>
          </a:ln>
        </p:spPr>
        <p:style>
          <a:lnRef idx="3">
            <a:schemeClr val="accent1"/>
          </a:lnRef>
          <a:fillRef idx="0">
            <a:schemeClr val="accent1"/>
          </a:fillRef>
          <a:effectRef idx="2">
            <a:schemeClr val="accent1"/>
          </a:effectRef>
          <a:fontRef idx="minor">
            <a:schemeClr val="tx1"/>
          </a:fontRef>
        </p:style>
      </p:cxnSp>
      <p:sp>
        <p:nvSpPr>
          <p:cNvPr id="7" name="TextBox 6">
            <a:extLst>
              <a:ext uri="{FF2B5EF4-FFF2-40B4-BE49-F238E27FC236}">
                <a16:creationId xmlns:a16="http://schemas.microsoft.com/office/drawing/2014/main" id="{D051E427-7F6B-3158-CAB0-26DD97E264C8}"/>
              </a:ext>
            </a:extLst>
          </p:cNvPr>
          <p:cNvSpPr txBox="1"/>
          <p:nvPr/>
        </p:nvSpPr>
        <p:spPr>
          <a:xfrm>
            <a:off x="7122695" y="3215979"/>
            <a:ext cx="1375710" cy="369332"/>
          </a:xfrm>
          <a:prstGeom prst="rect">
            <a:avLst/>
          </a:prstGeom>
          <a:noFill/>
        </p:spPr>
        <p:txBody>
          <a:bodyPr wrap="square" rtlCol="0">
            <a:spAutoFit/>
          </a:bodyPr>
          <a:lstStyle/>
          <a:p>
            <a:r>
              <a:rPr lang="en-US" dirty="0"/>
              <a:t>CTA</a:t>
            </a:r>
          </a:p>
        </p:txBody>
      </p:sp>
      <p:cxnSp>
        <p:nvCxnSpPr>
          <p:cNvPr id="8" name="Straight Arrow Connector 7">
            <a:extLst>
              <a:ext uri="{FF2B5EF4-FFF2-40B4-BE49-F238E27FC236}">
                <a16:creationId xmlns:a16="http://schemas.microsoft.com/office/drawing/2014/main" id="{A6A56073-0FCF-812C-2BBC-3F7B0526EE90}"/>
              </a:ext>
            </a:extLst>
          </p:cNvPr>
          <p:cNvCxnSpPr>
            <a:cxnSpLocks/>
            <a:stCxn id="7" idx="2"/>
          </p:cNvCxnSpPr>
          <p:nvPr/>
        </p:nvCxnSpPr>
        <p:spPr>
          <a:xfrm>
            <a:off x="7810550" y="3585311"/>
            <a:ext cx="879688" cy="809026"/>
          </a:xfrm>
          <a:prstGeom prst="straightConnector1">
            <a:avLst/>
          </a:prstGeom>
          <a:ln w="66675">
            <a:tailEnd type="triangle"/>
          </a:ln>
        </p:spPr>
        <p:style>
          <a:lnRef idx="3">
            <a:schemeClr val="accent1"/>
          </a:lnRef>
          <a:fillRef idx="0">
            <a:schemeClr val="accent1"/>
          </a:fillRef>
          <a:effectRef idx="2">
            <a:schemeClr val="accent1"/>
          </a:effectRef>
          <a:fontRef idx="minor">
            <a:schemeClr val="tx1"/>
          </a:fontRef>
        </p:style>
      </p:cxnSp>
      <p:graphicFrame>
        <p:nvGraphicFramePr>
          <p:cNvPr id="9" name="Text Placeholder 3">
            <a:extLst>
              <a:ext uri="{FF2B5EF4-FFF2-40B4-BE49-F238E27FC236}">
                <a16:creationId xmlns:a16="http://schemas.microsoft.com/office/drawing/2014/main" id="{4F621986-3EBA-31C2-1F5C-8485554BA169}"/>
              </a:ext>
            </a:extLst>
          </p:cNvPr>
          <p:cNvGraphicFramePr/>
          <p:nvPr>
            <p:extLst>
              <p:ext uri="{D42A27DB-BD31-4B8C-83A1-F6EECF244321}">
                <p14:modId xmlns:p14="http://schemas.microsoft.com/office/powerpoint/2010/main" val="3815402451"/>
              </p:ext>
            </p:extLst>
          </p:nvPr>
        </p:nvGraphicFramePr>
        <p:xfrm>
          <a:off x="640079" y="2636205"/>
          <a:ext cx="5752095" cy="399147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0" name="Picture 9" descr="A close-up of a brain&#10;&#10;Description automatically generated">
            <a:extLst>
              <a:ext uri="{FF2B5EF4-FFF2-40B4-BE49-F238E27FC236}">
                <a16:creationId xmlns:a16="http://schemas.microsoft.com/office/drawing/2014/main" id="{5B2D0098-1218-6E46-36FB-506C84C9B179}"/>
              </a:ext>
            </a:extLst>
          </p:cNvPr>
          <p:cNvPicPr>
            <a:picLocks noChangeAspect="1"/>
          </p:cNvPicPr>
          <p:nvPr/>
        </p:nvPicPr>
        <p:blipFill>
          <a:blip r:embed="rId11">
            <a:extLst>
              <a:ext uri="{28A0092B-C50C-407E-A947-70E740481C1C}">
                <a14:useLocalDpi xmlns:a14="http://schemas.microsoft.com/office/drawing/2010/main" val="0"/>
              </a:ext>
            </a:extLst>
          </a:blip>
          <a:srcRect l="2013" r="3754" b="2"/>
          <a:stretch>
            <a:fillRect/>
          </a:stretch>
        </p:blipFill>
        <p:spPr>
          <a:xfrm>
            <a:off x="8010268" y="-28"/>
            <a:ext cx="4181732" cy="3272703"/>
          </a:xfrm>
          <a:prstGeom prst="rect">
            <a:avLst/>
          </a:prstGeom>
        </p:spPr>
      </p:pic>
    </p:spTree>
    <p:extLst>
      <p:ext uri="{BB962C8B-B14F-4D97-AF65-F5344CB8AC3E}">
        <p14:creationId xmlns:p14="http://schemas.microsoft.com/office/powerpoint/2010/main" val="3617058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 name="Rectangle 1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DB019C-67C6-C6EA-A237-624FCDC6A996}"/>
              </a:ext>
            </a:extLst>
          </p:cNvPr>
          <p:cNvSpPr>
            <a:spLocks noGrp="1"/>
          </p:cNvSpPr>
          <p:nvPr>
            <p:ph type="title"/>
          </p:nvPr>
        </p:nvSpPr>
        <p:spPr>
          <a:xfrm>
            <a:off x="343907" y="1164995"/>
            <a:ext cx="5752093" cy="1097280"/>
          </a:xfrm>
        </p:spPr>
        <p:txBody>
          <a:bodyPr>
            <a:normAutofit/>
          </a:bodyPr>
          <a:lstStyle/>
          <a:p>
            <a:r>
              <a:rPr lang="en-US" dirty="0">
                <a:ea typeface="Calibri" panose="020F0502020204030204" pitchFamily="34" charset="0"/>
                <a:cs typeface="Calibri" panose="020F0502020204030204" pitchFamily="34" charset="0"/>
              </a:rPr>
              <a:t>Clinical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ea typeface="Calibri" panose="020F0502020204030204" pitchFamily="34" charset="0"/>
                <a:cs typeface="Calibri" panose="020F0502020204030204" pitchFamily="34" charset="0"/>
              </a:rPr>
              <a:t>Motivation</a:t>
            </a:r>
            <a:r>
              <a:rPr lang="en-US" dirty="0">
                <a:latin typeface="Calibri" panose="020F0502020204030204" pitchFamily="34" charset="0"/>
                <a:ea typeface="Calibri" panose="020F0502020204030204" pitchFamily="34" charset="0"/>
                <a:cs typeface="Calibri" panose="020F0502020204030204" pitchFamily="34" charset="0"/>
              </a:rPr>
              <a:t> </a:t>
            </a:r>
          </a:p>
        </p:txBody>
      </p:sp>
      <p:cxnSp>
        <p:nvCxnSpPr>
          <p:cNvPr id="103" name="Straight Connector 19">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DCE82C5-5B68-8768-8A52-9D04B4950E7C}"/>
              </a:ext>
            </a:extLst>
          </p:cNvPr>
          <p:cNvSpPr>
            <a:spLocks noGrp="1"/>
          </p:cNvSpPr>
          <p:nvPr>
            <p:ph idx="1"/>
          </p:nvPr>
        </p:nvSpPr>
        <p:spPr>
          <a:xfrm>
            <a:off x="343905" y="2165286"/>
            <a:ext cx="5752095" cy="3661713"/>
          </a:xfrm>
        </p:spPr>
        <p:txBody>
          <a:bodyPr>
            <a:normAutofit fontScale="92500" lnSpcReduction="10000"/>
          </a:bodyPr>
          <a:lstStyle/>
          <a:p>
            <a:pPr>
              <a:lnSpc>
                <a:spcPct val="110000"/>
              </a:lnSpc>
            </a:pPr>
            <a:r>
              <a:rPr lang="en-US" sz="2400" b="1" dirty="0">
                <a:latin typeface="+mj-lt"/>
                <a:ea typeface="Calibri" panose="020F0502020204030204" pitchFamily="34" charset="0"/>
                <a:cs typeface="Calibri" panose="020F0502020204030204" pitchFamily="34" charset="0"/>
              </a:rPr>
              <a:t>Cerebrovascular Diseases</a:t>
            </a:r>
            <a:endParaRPr lang="en-US" sz="1600" b="1" dirty="0">
              <a:latin typeface="+mj-lt"/>
              <a:ea typeface="Calibri" panose="020F0502020204030204" pitchFamily="34" charset="0"/>
              <a:cs typeface="Calibri" panose="020F0502020204030204" pitchFamily="34" charset="0"/>
            </a:endParaRPr>
          </a:p>
          <a:p>
            <a:pPr lvl="1">
              <a:lnSpc>
                <a:spcPct val="110000"/>
              </a:lnSpc>
            </a:pPr>
            <a:r>
              <a:rPr lang="en-US" sz="1600" dirty="0">
                <a:latin typeface="+mj-lt"/>
                <a:ea typeface="Calibri" panose="020F0502020204030204" pitchFamily="34" charset="0"/>
                <a:cs typeface="Calibri" panose="020F0502020204030204" pitchFamily="34" charset="0"/>
              </a:rPr>
              <a:t>Leading cause of death and disability worldwide. Accurate vessel segmentation from CTA is essential for diagnosis and surgical planning</a:t>
            </a:r>
          </a:p>
          <a:p>
            <a:pPr>
              <a:lnSpc>
                <a:spcPct val="110000"/>
              </a:lnSpc>
            </a:pPr>
            <a:r>
              <a:rPr lang="en-US" sz="2400" b="1" dirty="0">
                <a:latin typeface="+mj-lt"/>
                <a:ea typeface="Calibri" panose="020F0502020204030204" pitchFamily="34" charset="0"/>
                <a:cs typeface="Calibri" panose="020F0502020204030204" pitchFamily="34" charset="0"/>
              </a:rPr>
              <a:t>Circle of Willis (</a:t>
            </a:r>
            <a:r>
              <a:rPr lang="en-US" sz="2400" b="1" dirty="0" err="1">
                <a:latin typeface="+mj-lt"/>
                <a:ea typeface="Calibri" panose="020F0502020204030204" pitchFamily="34" charset="0"/>
                <a:cs typeface="Calibri" panose="020F0502020204030204" pitchFamily="34" charset="0"/>
              </a:rPr>
              <a:t>CoW</a:t>
            </a:r>
            <a:r>
              <a:rPr lang="en-US" sz="2400" b="1" dirty="0">
                <a:latin typeface="+mj-lt"/>
                <a:ea typeface="Calibri" panose="020F0502020204030204" pitchFamily="34" charset="0"/>
                <a:cs typeface="Calibri" panose="020F0502020204030204" pitchFamily="34" charset="0"/>
              </a:rPr>
              <a:t>) </a:t>
            </a:r>
            <a:endParaRPr lang="en-US" sz="1600" b="1" dirty="0">
              <a:latin typeface="+mj-lt"/>
              <a:ea typeface="Calibri" panose="020F0502020204030204" pitchFamily="34" charset="0"/>
              <a:cs typeface="Calibri" panose="020F0502020204030204" pitchFamily="34" charset="0"/>
            </a:endParaRPr>
          </a:p>
          <a:p>
            <a:pPr lvl="1">
              <a:lnSpc>
                <a:spcPct val="110000"/>
              </a:lnSpc>
            </a:pPr>
            <a:r>
              <a:rPr lang="en-US" sz="1600" dirty="0">
                <a:latin typeface="+mj-lt"/>
                <a:ea typeface="Calibri" panose="020F0502020204030204" pitchFamily="34" charset="0"/>
                <a:cs typeface="Calibri" panose="020F0502020204030204" pitchFamily="34" charset="0"/>
              </a:rPr>
              <a:t>The arterial anastomotic ring at the brain’s base. Provides collateral blood flow pathways critical during vascular occlusion.</a:t>
            </a:r>
          </a:p>
          <a:p>
            <a:pPr>
              <a:lnSpc>
                <a:spcPct val="110000"/>
              </a:lnSpc>
            </a:pPr>
            <a:r>
              <a:rPr lang="en-US" sz="2400" b="1" dirty="0">
                <a:latin typeface="+mj-lt"/>
                <a:ea typeface="Calibri" panose="020F0502020204030204" pitchFamily="34" charset="0"/>
                <a:cs typeface="Calibri" panose="020F0502020204030204" pitchFamily="34" charset="0"/>
              </a:rPr>
              <a:t>Communicating Arteries (</a:t>
            </a:r>
            <a:r>
              <a:rPr lang="en-US" sz="2400" b="1" dirty="0" err="1">
                <a:latin typeface="+mj-lt"/>
                <a:ea typeface="Calibri" panose="020F0502020204030204" pitchFamily="34" charset="0"/>
                <a:cs typeface="Calibri" panose="020F0502020204030204" pitchFamily="34" charset="0"/>
              </a:rPr>
              <a:t>Acom</a:t>
            </a:r>
            <a:r>
              <a:rPr lang="en-US" sz="2400" b="1" dirty="0">
                <a:latin typeface="+mj-lt"/>
                <a:ea typeface="Calibri" panose="020F0502020204030204" pitchFamily="34" charset="0"/>
                <a:cs typeface="Calibri" panose="020F0502020204030204" pitchFamily="34" charset="0"/>
              </a:rPr>
              <a:t>, </a:t>
            </a:r>
            <a:r>
              <a:rPr lang="en-US" sz="2400" b="1" dirty="0" err="1">
                <a:latin typeface="+mj-lt"/>
                <a:ea typeface="Calibri" panose="020F0502020204030204" pitchFamily="34" charset="0"/>
                <a:cs typeface="Calibri" panose="020F0502020204030204" pitchFamily="34" charset="0"/>
              </a:rPr>
              <a:t>Pcom</a:t>
            </a:r>
            <a:r>
              <a:rPr lang="en-US" sz="2400" b="1" dirty="0">
                <a:latin typeface="+mj-lt"/>
                <a:ea typeface="Calibri" panose="020F0502020204030204" pitchFamily="34" charset="0"/>
                <a:cs typeface="Calibri" panose="020F0502020204030204" pitchFamily="34" charset="0"/>
              </a:rPr>
              <a:t>)</a:t>
            </a:r>
            <a:endParaRPr lang="en-US" sz="1600" b="1" dirty="0">
              <a:latin typeface="+mj-lt"/>
              <a:ea typeface="Calibri" panose="020F0502020204030204" pitchFamily="34" charset="0"/>
              <a:cs typeface="Calibri" panose="020F0502020204030204" pitchFamily="34" charset="0"/>
            </a:endParaRPr>
          </a:p>
          <a:p>
            <a:pPr lvl="1">
              <a:lnSpc>
                <a:spcPct val="110000"/>
              </a:lnSpc>
            </a:pPr>
            <a:r>
              <a:rPr lang="en-US" sz="1600" dirty="0">
                <a:latin typeface="+mj-lt"/>
                <a:ea typeface="Calibri" panose="020F0502020204030204" pitchFamily="34" charset="0"/>
                <a:cs typeface="Calibri" panose="020F0502020204030204" pitchFamily="34" charset="0"/>
              </a:rPr>
              <a:t>Thin (&lt;1mm diameter) but clinically critical for aneurysm assessment and collateral flow. Most prone to segmentation failure.</a:t>
            </a:r>
          </a:p>
          <a:p>
            <a:pPr marL="502920" lvl="2" indent="0">
              <a:lnSpc>
                <a:spcPct val="110000"/>
              </a:lnSpc>
              <a:buNone/>
            </a:pPr>
            <a:endParaRPr lang="en-US" dirty="0">
              <a:latin typeface="+mj-lt"/>
              <a:ea typeface="Calibri" panose="020F0502020204030204" pitchFamily="34" charset="0"/>
              <a:cs typeface="Calibri" panose="020F0502020204030204" pitchFamily="34" charset="0"/>
            </a:endParaRPr>
          </a:p>
        </p:txBody>
      </p:sp>
      <p:pic>
        <p:nvPicPr>
          <p:cNvPr id="11" name="Picture 10" descr="A diagram of a human body&#10;&#10;Description automatically generated">
            <a:extLst>
              <a:ext uri="{FF2B5EF4-FFF2-40B4-BE49-F238E27FC236}">
                <a16:creationId xmlns:a16="http://schemas.microsoft.com/office/drawing/2014/main" id="{959F41BF-4F76-21B8-4FB8-2F5E001A9FF0}"/>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912" t="2302" r="2202"/>
          <a:stretch/>
        </p:blipFill>
        <p:spPr>
          <a:xfrm>
            <a:off x="9785897" y="2585754"/>
            <a:ext cx="2289028" cy="2250651"/>
          </a:xfrm>
          <a:prstGeom prst="rect">
            <a:avLst/>
          </a:prstGeom>
        </p:spPr>
      </p:pic>
      <p:pic>
        <p:nvPicPr>
          <p:cNvPr id="7" name="Picture 6" descr="A diagram of the blood vessels&#10;&#10;Description automatically generated">
            <a:extLst>
              <a:ext uri="{FF2B5EF4-FFF2-40B4-BE49-F238E27FC236}">
                <a16:creationId xmlns:a16="http://schemas.microsoft.com/office/drawing/2014/main" id="{E8329312-C696-B7DD-594E-8F1E2F86E53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936527" y="374336"/>
            <a:ext cx="3803732" cy="6392830"/>
          </a:xfrm>
          <a:prstGeom prst="rect">
            <a:avLst/>
          </a:prstGeom>
        </p:spPr>
      </p:pic>
    </p:spTree>
    <p:extLst>
      <p:ext uri="{BB962C8B-B14F-4D97-AF65-F5344CB8AC3E}">
        <p14:creationId xmlns:p14="http://schemas.microsoft.com/office/powerpoint/2010/main" val="1829061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93B7-E418-6B30-39EE-2C7509B5F648}"/>
              </a:ext>
            </a:extLst>
          </p:cNvPr>
          <p:cNvSpPr>
            <a:spLocks noGrp="1"/>
          </p:cNvSpPr>
          <p:nvPr>
            <p:ph type="title"/>
          </p:nvPr>
        </p:nvSpPr>
        <p:spPr>
          <a:xfrm>
            <a:off x="640080" y="1371600"/>
            <a:ext cx="3974722" cy="1522675"/>
          </a:xfrm>
        </p:spPr>
        <p:txBody>
          <a:bodyPr>
            <a:normAutofit fontScale="90000"/>
          </a:bodyPr>
          <a:lstStyle/>
          <a:p>
            <a:r>
              <a:rPr lang="en-US" dirty="0"/>
              <a:t>The Problem – </a:t>
            </a:r>
            <a:r>
              <a:rPr lang="en-US" dirty="0">
                <a:solidFill>
                  <a:schemeClr val="accent1"/>
                </a:solidFill>
              </a:rPr>
              <a:t>Topological Failures</a:t>
            </a:r>
          </a:p>
        </p:txBody>
      </p:sp>
      <p:graphicFrame>
        <p:nvGraphicFramePr>
          <p:cNvPr id="18" name="Content Placeholder 2">
            <a:extLst>
              <a:ext uri="{FF2B5EF4-FFF2-40B4-BE49-F238E27FC236}">
                <a16:creationId xmlns:a16="http://schemas.microsoft.com/office/drawing/2014/main" id="{FB828A67-201D-6B88-1AED-19B0E535BAB9}"/>
              </a:ext>
            </a:extLst>
          </p:cNvPr>
          <p:cNvGraphicFramePr>
            <a:graphicFrameLocks noGrp="1"/>
          </p:cNvGraphicFramePr>
          <p:nvPr>
            <p:ph idx="1"/>
            <p:extLst>
              <p:ext uri="{D42A27DB-BD31-4B8C-83A1-F6EECF244321}">
                <p14:modId xmlns:p14="http://schemas.microsoft.com/office/powerpoint/2010/main" val="775200228"/>
              </p:ext>
            </p:extLst>
          </p:nvPr>
        </p:nvGraphicFramePr>
        <p:xfrm>
          <a:off x="4936519" y="1031001"/>
          <a:ext cx="6594490" cy="5166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bar graph with numbers and symbols&#10;&#10;Description automatically generated">
            <a:extLst>
              <a:ext uri="{FF2B5EF4-FFF2-40B4-BE49-F238E27FC236}">
                <a16:creationId xmlns:a16="http://schemas.microsoft.com/office/drawing/2014/main" id="{0D487181-57C4-B1BC-2552-88744CBB90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4755" y="2823323"/>
            <a:ext cx="3974722" cy="3377917"/>
          </a:xfrm>
          <a:prstGeom prst="rect">
            <a:avLst/>
          </a:prstGeom>
        </p:spPr>
      </p:pic>
    </p:spTree>
    <p:extLst>
      <p:ext uri="{BB962C8B-B14F-4D97-AF65-F5344CB8AC3E}">
        <p14:creationId xmlns:p14="http://schemas.microsoft.com/office/powerpoint/2010/main" val="969397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D866-F18B-D4D4-06AD-58142D12F2C1}"/>
              </a:ext>
            </a:extLst>
          </p:cNvPr>
          <p:cNvSpPr>
            <a:spLocks noGrp="1"/>
          </p:cNvSpPr>
          <p:nvPr>
            <p:ph type="title"/>
          </p:nvPr>
        </p:nvSpPr>
        <p:spPr>
          <a:xfrm>
            <a:off x="570653" y="1191178"/>
            <a:ext cx="10890929" cy="939753"/>
          </a:xfrm>
        </p:spPr>
        <p:txBody>
          <a:bodyPr>
            <a:normAutofit/>
          </a:bodyPr>
          <a:lstStyle/>
          <a:p>
            <a:r>
              <a:rPr lang="en-US" sz="3600" dirty="0"/>
              <a:t>The </a:t>
            </a:r>
            <a:r>
              <a:rPr lang="en-US" sz="3600" dirty="0" err="1"/>
              <a:t>TopCoW</a:t>
            </a:r>
            <a:r>
              <a:rPr lang="en-US" sz="3600" dirty="0"/>
              <a:t> Challenge </a:t>
            </a:r>
          </a:p>
        </p:txBody>
      </p:sp>
      <p:sp>
        <p:nvSpPr>
          <p:cNvPr id="37" name="Shape 6">
            <a:extLst>
              <a:ext uri="{FF2B5EF4-FFF2-40B4-BE49-F238E27FC236}">
                <a16:creationId xmlns:a16="http://schemas.microsoft.com/office/drawing/2014/main" id="{3D6765A5-7845-2412-C08F-9F8CB5FEED02}"/>
              </a:ext>
            </a:extLst>
          </p:cNvPr>
          <p:cNvSpPr/>
          <p:nvPr/>
        </p:nvSpPr>
        <p:spPr>
          <a:xfrm>
            <a:off x="6666843" y="2148839"/>
            <a:ext cx="5303520" cy="4572000"/>
          </a:xfrm>
          <a:prstGeom prst="rect">
            <a:avLst/>
          </a:prstGeom>
          <a:solidFill>
            <a:schemeClr val="tx2">
              <a:lumMod val="10000"/>
              <a:lumOff val="90000"/>
            </a:schemeClr>
          </a:solidFill>
          <a:ln/>
          <a:effectLst>
            <a:outerShdw blurRad="50800" dist="25400" dir="8100000" algn="bl" rotWithShape="0">
              <a:srgbClr val="000000">
                <a:alpha val="20000"/>
              </a:srgbClr>
            </a:outerShdw>
          </a:effectLst>
        </p:spPr>
      </p:sp>
      <p:sp>
        <p:nvSpPr>
          <p:cNvPr id="38" name="Text 7">
            <a:extLst>
              <a:ext uri="{FF2B5EF4-FFF2-40B4-BE49-F238E27FC236}">
                <a16:creationId xmlns:a16="http://schemas.microsoft.com/office/drawing/2014/main" id="{8655331A-3E3A-D590-D50F-D75529E998CE}"/>
              </a:ext>
            </a:extLst>
          </p:cNvPr>
          <p:cNvSpPr/>
          <p:nvPr/>
        </p:nvSpPr>
        <p:spPr>
          <a:xfrm>
            <a:off x="6950541" y="2234417"/>
            <a:ext cx="4572000" cy="457200"/>
          </a:xfrm>
          <a:prstGeom prst="rect">
            <a:avLst/>
          </a:prstGeom>
          <a:noFill/>
          <a:ln/>
        </p:spPr>
        <p:txBody>
          <a:bodyPr wrap="square" lIns="0" tIns="0" rIns="0" bIns="0" rtlCol="0" anchor="ctr"/>
          <a:lstStyle/>
          <a:p>
            <a:pPr marL="0" indent="0">
              <a:buNone/>
            </a:pPr>
            <a:r>
              <a:rPr lang="en-US" sz="2800" b="1" dirty="0">
                <a:solidFill>
                  <a:schemeClr val="tx2">
                    <a:lumMod val="75000"/>
                    <a:lumOff val="25000"/>
                  </a:schemeClr>
                </a:solidFill>
                <a:latin typeface="+mj-lt"/>
                <a:ea typeface="Calibri" pitchFamily="34" charset="-122"/>
                <a:cs typeface="Calibri" pitchFamily="34" charset="-120"/>
              </a:rPr>
              <a:t>Evaluation Protocol</a:t>
            </a:r>
            <a:endParaRPr lang="en-US" sz="2800" dirty="0">
              <a:solidFill>
                <a:schemeClr val="tx2">
                  <a:lumMod val="75000"/>
                  <a:lumOff val="25000"/>
                </a:schemeClr>
              </a:solidFill>
              <a:latin typeface="+mj-lt"/>
            </a:endParaRPr>
          </a:p>
        </p:txBody>
      </p:sp>
      <p:sp>
        <p:nvSpPr>
          <p:cNvPr id="39" name="Shape 8">
            <a:extLst>
              <a:ext uri="{FF2B5EF4-FFF2-40B4-BE49-F238E27FC236}">
                <a16:creationId xmlns:a16="http://schemas.microsoft.com/office/drawing/2014/main" id="{B0C02B67-E2EC-B606-28D8-9627DFC643B9}"/>
              </a:ext>
            </a:extLst>
          </p:cNvPr>
          <p:cNvSpPr/>
          <p:nvPr/>
        </p:nvSpPr>
        <p:spPr>
          <a:xfrm>
            <a:off x="6950541" y="2874497"/>
            <a:ext cx="54864" cy="640080"/>
          </a:xfrm>
          <a:prstGeom prst="rect">
            <a:avLst/>
          </a:prstGeom>
          <a:solidFill>
            <a:srgbClr val="0096C7"/>
          </a:solidFill>
          <a:ln/>
        </p:spPr>
      </p:sp>
      <p:sp>
        <p:nvSpPr>
          <p:cNvPr id="40" name="Text 9">
            <a:extLst>
              <a:ext uri="{FF2B5EF4-FFF2-40B4-BE49-F238E27FC236}">
                <a16:creationId xmlns:a16="http://schemas.microsoft.com/office/drawing/2014/main" id="{E150D4BE-E161-A2C5-16DF-985FC0F66B86}"/>
              </a:ext>
            </a:extLst>
          </p:cNvPr>
          <p:cNvSpPr/>
          <p:nvPr/>
        </p:nvSpPr>
        <p:spPr>
          <a:xfrm>
            <a:off x="7179141" y="2874497"/>
            <a:ext cx="4572000" cy="320040"/>
          </a:xfrm>
          <a:prstGeom prst="rect">
            <a:avLst/>
          </a:prstGeom>
          <a:noFill/>
          <a:ln/>
        </p:spPr>
        <p:txBody>
          <a:bodyPr wrap="square" lIns="0" tIns="0" rIns="0" bIns="0" rtlCol="0" anchor="ctr"/>
          <a:lstStyle/>
          <a:p>
            <a:pPr marL="0" indent="0">
              <a:buNone/>
            </a:pPr>
            <a:r>
              <a:rPr lang="en-US" sz="1600" b="1" dirty="0">
                <a:latin typeface="+mj-lt"/>
                <a:ea typeface="Calibri" pitchFamily="34" charset="-122"/>
                <a:cs typeface="Calibri" pitchFamily="34" charset="-120"/>
              </a:rPr>
              <a:t>Dice Score (DSC)</a:t>
            </a:r>
            <a:endParaRPr lang="en-US" sz="1600" dirty="0">
              <a:latin typeface="+mj-lt"/>
            </a:endParaRPr>
          </a:p>
        </p:txBody>
      </p:sp>
      <p:sp>
        <p:nvSpPr>
          <p:cNvPr id="41" name="Text 10">
            <a:extLst>
              <a:ext uri="{FF2B5EF4-FFF2-40B4-BE49-F238E27FC236}">
                <a16:creationId xmlns:a16="http://schemas.microsoft.com/office/drawing/2014/main" id="{E56F06E0-63BD-D74C-0A63-9630622B4FE8}"/>
              </a:ext>
            </a:extLst>
          </p:cNvPr>
          <p:cNvSpPr/>
          <p:nvPr/>
        </p:nvSpPr>
        <p:spPr>
          <a:xfrm>
            <a:off x="7179141" y="3167105"/>
            <a:ext cx="4572000" cy="32004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Voxel overlap between prediction and ground truth</a:t>
            </a:r>
            <a:endParaRPr lang="en-US" sz="1400" dirty="0">
              <a:latin typeface="+mj-lt"/>
            </a:endParaRPr>
          </a:p>
        </p:txBody>
      </p:sp>
      <p:sp>
        <p:nvSpPr>
          <p:cNvPr id="42" name="Shape 11">
            <a:extLst>
              <a:ext uri="{FF2B5EF4-FFF2-40B4-BE49-F238E27FC236}">
                <a16:creationId xmlns:a16="http://schemas.microsoft.com/office/drawing/2014/main" id="{F4E5508F-36A9-62A8-A5D1-BFFE9781F29F}"/>
              </a:ext>
            </a:extLst>
          </p:cNvPr>
          <p:cNvSpPr/>
          <p:nvPr/>
        </p:nvSpPr>
        <p:spPr>
          <a:xfrm>
            <a:off x="6950541" y="3834617"/>
            <a:ext cx="54864" cy="640080"/>
          </a:xfrm>
          <a:prstGeom prst="rect">
            <a:avLst/>
          </a:prstGeom>
          <a:solidFill>
            <a:srgbClr val="F59E0B"/>
          </a:solidFill>
          <a:ln/>
        </p:spPr>
      </p:sp>
      <p:sp>
        <p:nvSpPr>
          <p:cNvPr id="43" name="Text 12">
            <a:extLst>
              <a:ext uri="{FF2B5EF4-FFF2-40B4-BE49-F238E27FC236}">
                <a16:creationId xmlns:a16="http://schemas.microsoft.com/office/drawing/2014/main" id="{808A7EBE-DC5E-CC01-67EF-629F28B4A3BC}"/>
              </a:ext>
            </a:extLst>
          </p:cNvPr>
          <p:cNvSpPr/>
          <p:nvPr/>
        </p:nvSpPr>
        <p:spPr>
          <a:xfrm>
            <a:off x="7179141" y="3834617"/>
            <a:ext cx="4572000" cy="320040"/>
          </a:xfrm>
          <a:prstGeom prst="rect">
            <a:avLst/>
          </a:prstGeom>
          <a:noFill/>
          <a:ln/>
        </p:spPr>
        <p:txBody>
          <a:bodyPr wrap="square" lIns="0" tIns="0" rIns="0" bIns="0" rtlCol="0" anchor="ctr"/>
          <a:lstStyle/>
          <a:p>
            <a:pPr marL="0" indent="0">
              <a:buNone/>
            </a:pPr>
            <a:r>
              <a:rPr lang="en-US" sz="1600" b="1" dirty="0">
                <a:latin typeface="+mj-lt"/>
                <a:ea typeface="Calibri" pitchFamily="34" charset="-122"/>
                <a:cs typeface="Calibri" pitchFamily="34" charset="-120"/>
              </a:rPr>
              <a:t>Centerline Dice (clDice)</a:t>
            </a:r>
            <a:endParaRPr lang="en-US" sz="1600" dirty="0">
              <a:latin typeface="+mj-lt"/>
            </a:endParaRPr>
          </a:p>
        </p:txBody>
      </p:sp>
      <p:sp>
        <p:nvSpPr>
          <p:cNvPr id="44" name="Text 13">
            <a:extLst>
              <a:ext uri="{FF2B5EF4-FFF2-40B4-BE49-F238E27FC236}">
                <a16:creationId xmlns:a16="http://schemas.microsoft.com/office/drawing/2014/main" id="{A0C0A1BA-10C7-A59C-64D7-808447CAB14C}"/>
              </a:ext>
            </a:extLst>
          </p:cNvPr>
          <p:cNvSpPr/>
          <p:nvPr/>
        </p:nvSpPr>
        <p:spPr>
          <a:xfrm>
            <a:off x="7179141" y="4127225"/>
            <a:ext cx="4572000" cy="32004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Skeleton-level overlap — topology agreement</a:t>
            </a:r>
            <a:endParaRPr lang="en-US" sz="1400" dirty="0">
              <a:latin typeface="+mj-lt"/>
            </a:endParaRPr>
          </a:p>
        </p:txBody>
      </p:sp>
      <p:sp>
        <p:nvSpPr>
          <p:cNvPr id="45" name="Shape 14">
            <a:extLst>
              <a:ext uri="{FF2B5EF4-FFF2-40B4-BE49-F238E27FC236}">
                <a16:creationId xmlns:a16="http://schemas.microsoft.com/office/drawing/2014/main" id="{EDCCAB96-699E-4BCE-B26B-C6262D4BB998}"/>
              </a:ext>
            </a:extLst>
          </p:cNvPr>
          <p:cNvSpPr/>
          <p:nvPr/>
        </p:nvSpPr>
        <p:spPr>
          <a:xfrm>
            <a:off x="6931785" y="4794737"/>
            <a:ext cx="54864" cy="640080"/>
          </a:xfrm>
          <a:prstGeom prst="rect">
            <a:avLst/>
          </a:prstGeom>
          <a:solidFill>
            <a:srgbClr val="10B981"/>
          </a:solidFill>
          <a:ln/>
        </p:spPr>
      </p:sp>
      <p:sp>
        <p:nvSpPr>
          <p:cNvPr id="46" name="Text 15">
            <a:extLst>
              <a:ext uri="{FF2B5EF4-FFF2-40B4-BE49-F238E27FC236}">
                <a16:creationId xmlns:a16="http://schemas.microsoft.com/office/drawing/2014/main" id="{629846B8-F804-D3A4-E87C-CD4B3D7B663A}"/>
              </a:ext>
            </a:extLst>
          </p:cNvPr>
          <p:cNvSpPr/>
          <p:nvPr/>
        </p:nvSpPr>
        <p:spPr>
          <a:xfrm>
            <a:off x="7169763" y="4794737"/>
            <a:ext cx="4572000" cy="320040"/>
          </a:xfrm>
          <a:prstGeom prst="rect">
            <a:avLst/>
          </a:prstGeom>
          <a:noFill/>
          <a:ln/>
        </p:spPr>
        <p:txBody>
          <a:bodyPr wrap="square" lIns="0" tIns="0" rIns="0" bIns="0" rtlCol="0" anchor="ctr"/>
          <a:lstStyle/>
          <a:p>
            <a:pPr marL="0" indent="0">
              <a:buNone/>
            </a:pPr>
            <a:r>
              <a:rPr lang="en-US" sz="1600" b="1" dirty="0">
                <a:latin typeface="+mj-lt"/>
                <a:ea typeface="Calibri" pitchFamily="34" charset="-122"/>
                <a:cs typeface="Calibri" pitchFamily="34" charset="-120"/>
              </a:rPr>
              <a:t>HD95 (mm)</a:t>
            </a:r>
            <a:endParaRPr lang="en-US" sz="1600" dirty="0">
              <a:latin typeface="+mj-lt"/>
            </a:endParaRPr>
          </a:p>
        </p:txBody>
      </p:sp>
      <p:sp>
        <p:nvSpPr>
          <p:cNvPr id="47" name="Text 16">
            <a:extLst>
              <a:ext uri="{FF2B5EF4-FFF2-40B4-BE49-F238E27FC236}">
                <a16:creationId xmlns:a16="http://schemas.microsoft.com/office/drawing/2014/main" id="{EA6347F1-BFFF-9CC3-BE3B-8E8DFB49AB44}"/>
              </a:ext>
            </a:extLst>
          </p:cNvPr>
          <p:cNvSpPr/>
          <p:nvPr/>
        </p:nvSpPr>
        <p:spPr>
          <a:xfrm>
            <a:off x="7169763" y="5087345"/>
            <a:ext cx="4572000" cy="32004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95th percentile Hausdorff distance — surface accuracy</a:t>
            </a:r>
            <a:endParaRPr lang="en-US" sz="1400" dirty="0">
              <a:latin typeface="+mj-lt"/>
            </a:endParaRPr>
          </a:p>
        </p:txBody>
      </p:sp>
      <p:sp>
        <p:nvSpPr>
          <p:cNvPr id="48" name="Shape 17">
            <a:extLst>
              <a:ext uri="{FF2B5EF4-FFF2-40B4-BE49-F238E27FC236}">
                <a16:creationId xmlns:a16="http://schemas.microsoft.com/office/drawing/2014/main" id="{63DA5E4F-AFE4-2171-E2C3-1AC789011386}"/>
              </a:ext>
            </a:extLst>
          </p:cNvPr>
          <p:cNvSpPr/>
          <p:nvPr/>
        </p:nvSpPr>
        <p:spPr>
          <a:xfrm>
            <a:off x="6931785" y="5754857"/>
            <a:ext cx="54864" cy="640080"/>
          </a:xfrm>
          <a:prstGeom prst="rect">
            <a:avLst/>
          </a:prstGeom>
          <a:solidFill>
            <a:srgbClr val="EF4444"/>
          </a:solidFill>
          <a:ln/>
        </p:spPr>
      </p:sp>
      <p:sp>
        <p:nvSpPr>
          <p:cNvPr id="49" name="Text 18">
            <a:extLst>
              <a:ext uri="{FF2B5EF4-FFF2-40B4-BE49-F238E27FC236}">
                <a16:creationId xmlns:a16="http://schemas.microsoft.com/office/drawing/2014/main" id="{ECBB2256-AC48-E6AE-CDBD-E71B376B25ED}"/>
              </a:ext>
            </a:extLst>
          </p:cNvPr>
          <p:cNvSpPr/>
          <p:nvPr/>
        </p:nvSpPr>
        <p:spPr>
          <a:xfrm>
            <a:off x="7160385" y="5754857"/>
            <a:ext cx="4572000" cy="320040"/>
          </a:xfrm>
          <a:prstGeom prst="rect">
            <a:avLst/>
          </a:prstGeom>
          <a:noFill/>
          <a:ln/>
        </p:spPr>
        <p:txBody>
          <a:bodyPr wrap="square" lIns="0" tIns="0" rIns="0" bIns="0" rtlCol="0" anchor="ctr"/>
          <a:lstStyle/>
          <a:p>
            <a:pPr marL="0" indent="0">
              <a:buNone/>
            </a:pPr>
            <a:r>
              <a:rPr lang="en-US" sz="1600" b="1" dirty="0">
                <a:latin typeface="+mj-lt"/>
                <a:ea typeface="Calibri" pitchFamily="34" charset="-122"/>
                <a:cs typeface="Calibri" pitchFamily="34" charset="-120"/>
              </a:rPr>
              <a:t>Betti-0 Error</a:t>
            </a:r>
            <a:endParaRPr lang="en-US" sz="1600" dirty="0">
              <a:latin typeface="+mj-lt"/>
            </a:endParaRPr>
          </a:p>
        </p:txBody>
      </p:sp>
      <p:sp>
        <p:nvSpPr>
          <p:cNvPr id="50" name="Text 19">
            <a:extLst>
              <a:ext uri="{FF2B5EF4-FFF2-40B4-BE49-F238E27FC236}">
                <a16:creationId xmlns:a16="http://schemas.microsoft.com/office/drawing/2014/main" id="{79A7CD71-57C5-C2F1-817B-54C46E448704}"/>
              </a:ext>
            </a:extLst>
          </p:cNvPr>
          <p:cNvSpPr/>
          <p:nvPr/>
        </p:nvSpPr>
        <p:spPr>
          <a:xfrm>
            <a:off x="7160385" y="6047465"/>
            <a:ext cx="4572000" cy="32004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Connected component mismatch — topological correctness</a:t>
            </a:r>
            <a:endParaRPr lang="en-US" sz="1400" dirty="0">
              <a:latin typeface="+mj-lt"/>
            </a:endParaRPr>
          </a:p>
        </p:txBody>
      </p:sp>
      <p:sp>
        <p:nvSpPr>
          <p:cNvPr id="54" name="Shape 3">
            <a:extLst>
              <a:ext uri="{FF2B5EF4-FFF2-40B4-BE49-F238E27FC236}">
                <a16:creationId xmlns:a16="http://schemas.microsoft.com/office/drawing/2014/main" id="{F2422498-535B-C03B-EEF0-67A282748F8C}"/>
              </a:ext>
            </a:extLst>
          </p:cNvPr>
          <p:cNvSpPr/>
          <p:nvPr/>
        </p:nvSpPr>
        <p:spPr>
          <a:xfrm>
            <a:off x="570653" y="2150533"/>
            <a:ext cx="5303520" cy="4572000"/>
          </a:xfrm>
          <a:prstGeom prst="rect">
            <a:avLst/>
          </a:prstGeom>
          <a:solidFill>
            <a:schemeClr val="tx2">
              <a:lumMod val="10000"/>
              <a:lumOff val="90000"/>
            </a:schemeClr>
          </a:solidFill>
          <a:ln/>
          <a:effectLst>
            <a:outerShdw blurRad="50800" dist="25400" dir="8100000" algn="bl" rotWithShape="0">
              <a:srgbClr val="000000">
                <a:alpha val="20000"/>
              </a:srgbClr>
            </a:outerShdw>
          </a:effectLst>
        </p:spPr>
        <p:txBody>
          <a:bodyPr/>
          <a:lstStyle/>
          <a:p>
            <a:endParaRPr lang="en-US" dirty="0"/>
          </a:p>
        </p:txBody>
      </p:sp>
      <p:sp>
        <p:nvSpPr>
          <p:cNvPr id="55" name="Text 4">
            <a:extLst>
              <a:ext uri="{FF2B5EF4-FFF2-40B4-BE49-F238E27FC236}">
                <a16:creationId xmlns:a16="http://schemas.microsoft.com/office/drawing/2014/main" id="{479F5F05-DAFD-5587-7AB1-2C6513C4E31B}"/>
              </a:ext>
            </a:extLst>
          </p:cNvPr>
          <p:cNvSpPr/>
          <p:nvPr/>
        </p:nvSpPr>
        <p:spPr>
          <a:xfrm>
            <a:off x="890693" y="2241973"/>
            <a:ext cx="4572000" cy="457200"/>
          </a:xfrm>
          <a:prstGeom prst="rect">
            <a:avLst/>
          </a:prstGeom>
          <a:noFill/>
          <a:ln/>
        </p:spPr>
        <p:txBody>
          <a:bodyPr wrap="square" lIns="0" tIns="0" rIns="0" bIns="0" rtlCol="0" anchor="ctr"/>
          <a:lstStyle/>
          <a:p>
            <a:pPr marL="0" indent="0">
              <a:buNone/>
            </a:pPr>
            <a:r>
              <a:rPr lang="en-US" sz="2800" b="1" dirty="0">
                <a:solidFill>
                  <a:schemeClr val="tx2">
                    <a:lumMod val="75000"/>
                    <a:lumOff val="25000"/>
                  </a:schemeClr>
                </a:solidFill>
                <a:latin typeface="+mj-lt"/>
                <a:ea typeface="Calibri" pitchFamily="34" charset="-122"/>
                <a:cs typeface="Calibri" pitchFamily="34" charset="-120"/>
              </a:rPr>
              <a:t>Challenge Overview</a:t>
            </a:r>
            <a:endParaRPr lang="en-US" sz="2800" dirty="0">
              <a:solidFill>
                <a:schemeClr val="tx2">
                  <a:lumMod val="75000"/>
                  <a:lumOff val="25000"/>
                </a:schemeClr>
              </a:solidFill>
              <a:latin typeface="+mj-lt"/>
            </a:endParaRPr>
          </a:p>
        </p:txBody>
      </p:sp>
      <p:sp>
        <p:nvSpPr>
          <p:cNvPr id="56" name="Text 5">
            <a:extLst>
              <a:ext uri="{FF2B5EF4-FFF2-40B4-BE49-F238E27FC236}">
                <a16:creationId xmlns:a16="http://schemas.microsoft.com/office/drawing/2014/main" id="{9B12B8FD-158A-03A2-8922-F62ADF8BAC45}"/>
              </a:ext>
            </a:extLst>
          </p:cNvPr>
          <p:cNvSpPr/>
          <p:nvPr/>
        </p:nvSpPr>
        <p:spPr>
          <a:xfrm>
            <a:off x="890693" y="2810215"/>
            <a:ext cx="4754880" cy="3237250"/>
          </a:xfrm>
          <a:prstGeom prst="rect">
            <a:avLst/>
          </a:prstGeom>
          <a:noFill/>
          <a:ln/>
        </p:spPr>
        <p:txBody>
          <a:bodyPr wrap="square" lIns="0" tIns="0" rIns="0" bIns="0" rtlCol="0" anchor="ctr"/>
          <a:lstStyle/>
          <a:p>
            <a:pPr marL="0" indent="0">
              <a:buNone/>
            </a:pPr>
            <a:r>
              <a:rPr lang="en-US" b="1" dirty="0">
                <a:latin typeface="+mj-lt"/>
                <a:ea typeface="Calibri" pitchFamily="34" charset="-122"/>
                <a:cs typeface="Calibri" pitchFamily="34" charset="-120"/>
              </a:rPr>
              <a:t>MICCAI 2024 Challenge</a:t>
            </a:r>
            <a:endParaRPr lang="en-US" dirty="0">
              <a:latin typeface="+mj-lt"/>
            </a:endParaRPr>
          </a:p>
          <a:p>
            <a:pPr marL="0" indent="0">
              <a:buNone/>
            </a:pPr>
            <a:r>
              <a:rPr lang="en-US" sz="1600" dirty="0">
                <a:latin typeface="+mj-lt"/>
                <a:ea typeface="Calibri" pitchFamily="34" charset="-122"/>
                <a:cs typeface="Calibri" pitchFamily="34" charset="-120"/>
              </a:rPr>
              <a:t>Topology-aware anatomical segmentation of the Circle of Willis for CTA and MRA</a:t>
            </a:r>
            <a:endParaRPr lang="en-US" dirty="0">
              <a:latin typeface="+mj-lt"/>
            </a:endParaRPr>
          </a:p>
          <a:p>
            <a:pPr marL="0" indent="0">
              <a:buNone/>
            </a:pPr>
            <a:endParaRPr lang="en-US" dirty="0">
              <a:latin typeface="+mj-lt"/>
            </a:endParaRPr>
          </a:p>
          <a:p>
            <a:pPr marL="0" indent="0">
              <a:buNone/>
            </a:pPr>
            <a:r>
              <a:rPr lang="en-US" b="1" dirty="0">
                <a:latin typeface="+mj-lt"/>
                <a:ea typeface="Calibri" pitchFamily="34" charset="-122"/>
                <a:cs typeface="Calibri" pitchFamily="34" charset="-120"/>
              </a:rPr>
              <a:t>125 CTA + 125 MRA volumes</a:t>
            </a:r>
            <a:endParaRPr lang="en-US" dirty="0">
              <a:latin typeface="+mj-lt"/>
            </a:endParaRPr>
          </a:p>
          <a:p>
            <a:pPr marL="0" indent="0">
              <a:buNone/>
            </a:pPr>
            <a:r>
              <a:rPr lang="en-US" sz="1600" dirty="0">
                <a:latin typeface="+mj-lt"/>
                <a:ea typeface="Calibri" pitchFamily="34" charset="-122"/>
                <a:cs typeface="Calibri" pitchFamily="34" charset="-120"/>
              </a:rPr>
              <a:t>Expert voxel-level annotations for 13 vessel classes</a:t>
            </a:r>
            <a:endParaRPr lang="en-US" dirty="0">
              <a:latin typeface="+mj-lt"/>
            </a:endParaRPr>
          </a:p>
          <a:p>
            <a:pPr marL="0" indent="0">
              <a:buNone/>
            </a:pPr>
            <a:endParaRPr lang="en-US" dirty="0">
              <a:latin typeface="+mj-lt"/>
            </a:endParaRPr>
          </a:p>
          <a:p>
            <a:pPr marL="0" indent="0">
              <a:buNone/>
            </a:pPr>
            <a:r>
              <a:rPr lang="en-US" b="1" dirty="0">
                <a:latin typeface="+mj-lt"/>
                <a:ea typeface="Calibri" pitchFamily="34" charset="-122"/>
                <a:cs typeface="Calibri" pitchFamily="34" charset="-120"/>
              </a:rPr>
              <a:t>Key finding from challenge:</a:t>
            </a:r>
            <a:endParaRPr lang="en-US" dirty="0">
              <a:latin typeface="+mj-lt"/>
            </a:endParaRPr>
          </a:p>
          <a:p>
            <a:pPr marL="0" indent="0">
              <a:buNone/>
            </a:pPr>
            <a:r>
              <a:rPr lang="en-US" b="1" dirty="0">
                <a:solidFill>
                  <a:srgbClr val="F59E0B"/>
                </a:solidFill>
                <a:latin typeface="+mj-lt"/>
                <a:ea typeface="Calibri" pitchFamily="34" charset="-122"/>
                <a:cs typeface="Calibri" pitchFamily="34" charset="-120"/>
              </a:rPr>
              <a:t>Even top teams achieve good aggregate Dice while producing topologically incorrect segmentations</a:t>
            </a:r>
            <a:endParaRPr lang="en-US" b="1" dirty="0">
              <a:latin typeface="+mj-lt"/>
            </a:endParaRPr>
          </a:p>
        </p:txBody>
      </p:sp>
    </p:spTree>
    <p:extLst>
      <p:ext uri="{BB962C8B-B14F-4D97-AF65-F5344CB8AC3E}">
        <p14:creationId xmlns:p14="http://schemas.microsoft.com/office/powerpoint/2010/main" val="2386184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2">
            <a:extLst>
              <a:ext uri="{FF2B5EF4-FFF2-40B4-BE49-F238E27FC236}">
                <a16:creationId xmlns:a16="http://schemas.microsoft.com/office/drawing/2014/main" id="{72B80B0F-4A74-4A62-AD9B-D6BEDD2DF717}"/>
              </a:ext>
            </a:extLst>
          </p:cNvPr>
          <p:cNvSpPr/>
          <p:nvPr/>
        </p:nvSpPr>
        <p:spPr>
          <a:xfrm>
            <a:off x="640080" y="1343841"/>
            <a:ext cx="10058400" cy="640080"/>
          </a:xfrm>
          <a:prstGeom prst="rect">
            <a:avLst/>
          </a:prstGeom>
          <a:noFill/>
          <a:ln/>
        </p:spPr>
        <p:txBody>
          <a:bodyPr wrap="square" lIns="0" tIns="0" rIns="0" bIns="0" rtlCol="0" anchor="ctr"/>
          <a:lstStyle/>
          <a:p>
            <a:pPr marL="0" indent="0">
              <a:buNone/>
            </a:pPr>
            <a:r>
              <a:rPr lang="en-US" sz="3600" b="1" dirty="0">
                <a:solidFill>
                  <a:srgbClr val="1E293B"/>
                </a:solidFill>
                <a:latin typeface="+mj-lt"/>
                <a:ea typeface="Calibri" pitchFamily="34" charset="-122"/>
                <a:cs typeface="Calibri" pitchFamily="34" charset="-120"/>
              </a:rPr>
              <a:t>Related Work &amp; State of the Art</a:t>
            </a:r>
            <a:endParaRPr lang="en-US" sz="3600" dirty="0">
              <a:latin typeface="+mj-lt"/>
            </a:endParaRPr>
          </a:p>
        </p:txBody>
      </p:sp>
      <p:sp>
        <p:nvSpPr>
          <p:cNvPr id="14" name="Shape 3">
            <a:extLst>
              <a:ext uri="{FF2B5EF4-FFF2-40B4-BE49-F238E27FC236}">
                <a16:creationId xmlns:a16="http://schemas.microsoft.com/office/drawing/2014/main" id="{01EE8E58-2F1A-4CFE-B3D0-95CD7AE0BEF9}"/>
              </a:ext>
            </a:extLst>
          </p:cNvPr>
          <p:cNvSpPr/>
          <p:nvPr/>
        </p:nvSpPr>
        <p:spPr>
          <a:xfrm>
            <a:off x="487680" y="2418588"/>
            <a:ext cx="3611880" cy="3730752"/>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5" name="Text 4">
            <a:extLst>
              <a:ext uri="{FF2B5EF4-FFF2-40B4-BE49-F238E27FC236}">
                <a16:creationId xmlns:a16="http://schemas.microsoft.com/office/drawing/2014/main" id="{72171E25-4D4C-0C19-2463-646EA329A326}"/>
              </a:ext>
            </a:extLst>
          </p:cNvPr>
          <p:cNvSpPr/>
          <p:nvPr/>
        </p:nvSpPr>
        <p:spPr>
          <a:xfrm>
            <a:off x="640080" y="2423160"/>
            <a:ext cx="3200400" cy="411480"/>
          </a:xfrm>
          <a:prstGeom prst="rect">
            <a:avLst/>
          </a:prstGeom>
          <a:noFill/>
          <a:ln/>
        </p:spPr>
        <p:txBody>
          <a:bodyPr wrap="square" lIns="0" tIns="0" rIns="0" bIns="0" rtlCol="0" anchor="ctr"/>
          <a:lstStyle/>
          <a:p>
            <a:pPr marL="0" indent="0">
              <a:buNone/>
            </a:pPr>
            <a:r>
              <a:rPr lang="en-US" b="1" dirty="0">
                <a:solidFill>
                  <a:srgbClr val="0077B6"/>
                </a:solidFill>
                <a:latin typeface="+mj-lt"/>
                <a:ea typeface="Calibri" pitchFamily="34" charset="-122"/>
                <a:cs typeface="Calibri" pitchFamily="34" charset="-120"/>
              </a:rPr>
              <a:t>Segmentation Backbone</a:t>
            </a:r>
            <a:endParaRPr lang="en-US" dirty="0">
              <a:latin typeface="+mj-lt"/>
            </a:endParaRPr>
          </a:p>
        </p:txBody>
      </p:sp>
      <p:sp>
        <p:nvSpPr>
          <p:cNvPr id="16" name="Text 5">
            <a:extLst>
              <a:ext uri="{FF2B5EF4-FFF2-40B4-BE49-F238E27FC236}">
                <a16:creationId xmlns:a16="http://schemas.microsoft.com/office/drawing/2014/main" id="{18C505B3-8B33-D174-CACC-66B907C4E6F1}"/>
              </a:ext>
            </a:extLst>
          </p:cNvPr>
          <p:cNvSpPr/>
          <p:nvPr/>
        </p:nvSpPr>
        <p:spPr>
          <a:xfrm>
            <a:off x="640080" y="2971800"/>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nnU-Net</a:t>
            </a:r>
            <a:endParaRPr lang="en-US" sz="1600" dirty="0">
              <a:latin typeface="+mj-lt"/>
            </a:endParaRPr>
          </a:p>
        </p:txBody>
      </p:sp>
      <p:sp>
        <p:nvSpPr>
          <p:cNvPr id="17" name="Text 6">
            <a:extLst>
              <a:ext uri="{FF2B5EF4-FFF2-40B4-BE49-F238E27FC236}">
                <a16:creationId xmlns:a16="http://schemas.microsoft.com/office/drawing/2014/main" id="{AF52F438-6CC4-35F2-2B61-DDB9A67DEDDD}"/>
              </a:ext>
            </a:extLst>
          </p:cNvPr>
          <p:cNvSpPr/>
          <p:nvPr/>
        </p:nvSpPr>
        <p:spPr>
          <a:xfrm>
            <a:off x="640080" y="3209544"/>
            <a:ext cx="3200400" cy="201168"/>
          </a:xfrm>
          <a:prstGeom prst="rect">
            <a:avLst/>
          </a:prstGeom>
          <a:noFill/>
          <a:ln/>
        </p:spPr>
        <p:txBody>
          <a:bodyPr wrap="square" lIns="0" tIns="0" rIns="0" bIns="0" rtlCol="0" anchor="ctr"/>
          <a:lstStyle/>
          <a:p>
            <a:pPr marL="0" indent="0">
              <a:buNone/>
            </a:pPr>
            <a:r>
              <a:rPr lang="en-US" sz="1100" i="1" dirty="0">
                <a:solidFill>
                  <a:srgbClr val="0077B6"/>
                </a:solidFill>
                <a:latin typeface="+mj-lt"/>
                <a:ea typeface="Calibri" pitchFamily="34" charset="-122"/>
                <a:cs typeface="Calibri" pitchFamily="34" charset="-120"/>
              </a:rPr>
              <a:t>Isensee et al., Nat. Methods 2021</a:t>
            </a:r>
            <a:endParaRPr lang="en-US" sz="1100" dirty="0">
              <a:latin typeface="+mj-lt"/>
            </a:endParaRPr>
          </a:p>
        </p:txBody>
      </p:sp>
      <p:sp>
        <p:nvSpPr>
          <p:cNvPr id="18" name="Text 7">
            <a:extLst>
              <a:ext uri="{FF2B5EF4-FFF2-40B4-BE49-F238E27FC236}">
                <a16:creationId xmlns:a16="http://schemas.microsoft.com/office/drawing/2014/main" id="{F0B94533-D987-7913-8265-BF3FFB6C3A3D}"/>
              </a:ext>
            </a:extLst>
          </p:cNvPr>
          <p:cNvSpPr/>
          <p:nvPr/>
        </p:nvSpPr>
        <p:spPr>
          <a:xfrm>
            <a:off x="640080" y="3429000"/>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Self-configuring 3D U-Net. Established Dice+CE as standard. Dominant framework.</a:t>
            </a:r>
            <a:endParaRPr lang="en-US" sz="1400" dirty="0">
              <a:latin typeface="+mj-lt"/>
            </a:endParaRPr>
          </a:p>
        </p:txBody>
      </p:sp>
      <p:sp>
        <p:nvSpPr>
          <p:cNvPr id="19" name="Text 8">
            <a:extLst>
              <a:ext uri="{FF2B5EF4-FFF2-40B4-BE49-F238E27FC236}">
                <a16:creationId xmlns:a16="http://schemas.microsoft.com/office/drawing/2014/main" id="{F06B1C4C-84FD-230E-6A5D-DC5CD3063AD3}"/>
              </a:ext>
            </a:extLst>
          </p:cNvPr>
          <p:cNvSpPr/>
          <p:nvPr/>
        </p:nvSpPr>
        <p:spPr>
          <a:xfrm>
            <a:off x="670560" y="4251960"/>
            <a:ext cx="3200400" cy="256032"/>
          </a:xfrm>
          <a:prstGeom prst="rect">
            <a:avLst/>
          </a:prstGeom>
          <a:noFill/>
          <a:ln/>
        </p:spPr>
        <p:txBody>
          <a:bodyPr wrap="square" lIns="0" tIns="0" rIns="0" bIns="0" rtlCol="0" anchor="ctr"/>
          <a:lstStyle/>
          <a:p>
            <a:pPr marL="0" indent="0">
              <a:buNone/>
            </a:pPr>
            <a:r>
              <a:rPr lang="en-US" sz="1300" b="1" dirty="0">
                <a:solidFill>
                  <a:srgbClr val="1E293B"/>
                </a:solidFill>
                <a:latin typeface="+mj-lt"/>
                <a:ea typeface="Calibri" pitchFamily="34" charset="-122"/>
                <a:cs typeface="Calibri" pitchFamily="34" charset="-120"/>
              </a:rPr>
              <a:t>nnU-Net Revisited</a:t>
            </a:r>
            <a:endParaRPr lang="en-US" sz="1300" dirty="0">
              <a:latin typeface="+mj-lt"/>
            </a:endParaRPr>
          </a:p>
        </p:txBody>
      </p:sp>
      <p:sp>
        <p:nvSpPr>
          <p:cNvPr id="20" name="Text 9">
            <a:extLst>
              <a:ext uri="{FF2B5EF4-FFF2-40B4-BE49-F238E27FC236}">
                <a16:creationId xmlns:a16="http://schemas.microsoft.com/office/drawing/2014/main" id="{E266F265-C516-82DD-B4F9-A10A55C118CF}"/>
              </a:ext>
            </a:extLst>
          </p:cNvPr>
          <p:cNvSpPr/>
          <p:nvPr/>
        </p:nvSpPr>
        <p:spPr>
          <a:xfrm>
            <a:off x="640080" y="4489704"/>
            <a:ext cx="3200400" cy="201168"/>
          </a:xfrm>
          <a:prstGeom prst="rect">
            <a:avLst/>
          </a:prstGeom>
          <a:noFill/>
          <a:ln/>
        </p:spPr>
        <p:txBody>
          <a:bodyPr wrap="square" lIns="0" tIns="0" rIns="0" bIns="0" rtlCol="0" anchor="ctr"/>
          <a:lstStyle/>
          <a:p>
            <a:pPr marL="0" indent="0">
              <a:buNone/>
            </a:pPr>
            <a:r>
              <a:rPr lang="en-US" sz="1100" i="1" dirty="0">
                <a:solidFill>
                  <a:srgbClr val="0077B6"/>
                </a:solidFill>
                <a:latin typeface="+mj-lt"/>
                <a:ea typeface="Calibri" pitchFamily="34" charset="-122"/>
                <a:cs typeface="Calibri" pitchFamily="34" charset="-120"/>
              </a:rPr>
              <a:t>Isensee et al., MICCAI 2024</a:t>
            </a:r>
            <a:endParaRPr lang="en-US" sz="1100" dirty="0">
              <a:latin typeface="+mj-lt"/>
            </a:endParaRPr>
          </a:p>
        </p:txBody>
      </p:sp>
      <p:sp>
        <p:nvSpPr>
          <p:cNvPr id="21" name="Text 10">
            <a:extLst>
              <a:ext uri="{FF2B5EF4-FFF2-40B4-BE49-F238E27FC236}">
                <a16:creationId xmlns:a16="http://schemas.microsoft.com/office/drawing/2014/main" id="{D23DF808-32D9-7654-F570-DB4091A0664D}"/>
              </a:ext>
            </a:extLst>
          </p:cNvPr>
          <p:cNvSpPr/>
          <p:nvPr/>
        </p:nvSpPr>
        <p:spPr>
          <a:xfrm>
            <a:off x="640080" y="4709160"/>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Call for rigorous validation in 3D medical image segmentation.</a:t>
            </a:r>
            <a:endParaRPr lang="en-US" sz="1400" dirty="0">
              <a:latin typeface="+mj-lt"/>
            </a:endParaRPr>
          </a:p>
        </p:txBody>
      </p:sp>
      <p:sp>
        <p:nvSpPr>
          <p:cNvPr id="22" name="Shape 11">
            <a:extLst>
              <a:ext uri="{FF2B5EF4-FFF2-40B4-BE49-F238E27FC236}">
                <a16:creationId xmlns:a16="http://schemas.microsoft.com/office/drawing/2014/main" id="{392B5D2D-B2E2-A903-366B-2230BA2FB30E}"/>
              </a:ext>
            </a:extLst>
          </p:cNvPr>
          <p:cNvSpPr/>
          <p:nvPr/>
        </p:nvSpPr>
        <p:spPr>
          <a:xfrm>
            <a:off x="4297680" y="2395728"/>
            <a:ext cx="3611880" cy="3730752"/>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23" name="Text 12">
            <a:extLst>
              <a:ext uri="{FF2B5EF4-FFF2-40B4-BE49-F238E27FC236}">
                <a16:creationId xmlns:a16="http://schemas.microsoft.com/office/drawing/2014/main" id="{085C5AE0-0881-2B01-BD82-6104E34E5AA4}"/>
              </a:ext>
            </a:extLst>
          </p:cNvPr>
          <p:cNvSpPr/>
          <p:nvPr/>
        </p:nvSpPr>
        <p:spPr>
          <a:xfrm>
            <a:off x="4391297" y="2418588"/>
            <a:ext cx="3200400" cy="411480"/>
          </a:xfrm>
          <a:prstGeom prst="rect">
            <a:avLst/>
          </a:prstGeom>
          <a:noFill/>
          <a:ln/>
        </p:spPr>
        <p:txBody>
          <a:bodyPr wrap="square" lIns="0" tIns="0" rIns="0" bIns="0" rtlCol="0" anchor="ctr"/>
          <a:lstStyle/>
          <a:p>
            <a:pPr marL="0" indent="0">
              <a:buNone/>
            </a:pPr>
            <a:r>
              <a:rPr lang="en-US" b="1" dirty="0">
                <a:solidFill>
                  <a:srgbClr val="D97706"/>
                </a:solidFill>
                <a:latin typeface="+mj-lt"/>
                <a:ea typeface="Calibri" pitchFamily="34" charset="-122"/>
                <a:cs typeface="Calibri" pitchFamily="34" charset="-120"/>
              </a:rPr>
              <a:t>Topology-Preserving Losses</a:t>
            </a:r>
            <a:endParaRPr lang="en-US" dirty="0">
              <a:latin typeface="+mj-lt"/>
            </a:endParaRPr>
          </a:p>
        </p:txBody>
      </p:sp>
      <p:sp>
        <p:nvSpPr>
          <p:cNvPr id="24" name="Text 13">
            <a:extLst>
              <a:ext uri="{FF2B5EF4-FFF2-40B4-BE49-F238E27FC236}">
                <a16:creationId xmlns:a16="http://schemas.microsoft.com/office/drawing/2014/main" id="{A5D9F5F3-B662-170F-5746-E59AF4CBA085}"/>
              </a:ext>
            </a:extLst>
          </p:cNvPr>
          <p:cNvSpPr/>
          <p:nvPr/>
        </p:nvSpPr>
        <p:spPr>
          <a:xfrm>
            <a:off x="4391297" y="296722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clDice</a:t>
            </a:r>
            <a:endParaRPr lang="en-US" sz="1600" dirty="0">
              <a:latin typeface="+mj-lt"/>
            </a:endParaRPr>
          </a:p>
        </p:txBody>
      </p:sp>
      <p:sp>
        <p:nvSpPr>
          <p:cNvPr id="25" name="Text 14">
            <a:extLst>
              <a:ext uri="{FF2B5EF4-FFF2-40B4-BE49-F238E27FC236}">
                <a16:creationId xmlns:a16="http://schemas.microsoft.com/office/drawing/2014/main" id="{15F57789-0250-115E-D11A-D582FFF74D51}"/>
              </a:ext>
            </a:extLst>
          </p:cNvPr>
          <p:cNvSpPr/>
          <p:nvPr/>
        </p:nvSpPr>
        <p:spPr>
          <a:xfrm>
            <a:off x="4391297" y="3204972"/>
            <a:ext cx="3200400" cy="201168"/>
          </a:xfrm>
          <a:prstGeom prst="rect">
            <a:avLst/>
          </a:prstGeom>
          <a:noFill/>
          <a:ln/>
        </p:spPr>
        <p:txBody>
          <a:bodyPr wrap="square" lIns="0" tIns="0" rIns="0" bIns="0" rtlCol="0" anchor="ctr"/>
          <a:lstStyle/>
          <a:p>
            <a:pPr marL="0" indent="0">
              <a:buNone/>
            </a:pPr>
            <a:r>
              <a:rPr lang="en-US" sz="1100" i="1" dirty="0">
                <a:solidFill>
                  <a:srgbClr val="D97706"/>
                </a:solidFill>
                <a:latin typeface="+mj-lt"/>
                <a:ea typeface="Calibri" pitchFamily="34" charset="-122"/>
                <a:cs typeface="Calibri" pitchFamily="34" charset="-120"/>
              </a:rPr>
              <a:t>Shit et al., CVPR 2021</a:t>
            </a:r>
            <a:endParaRPr lang="en-US" sz="1100" dirty="0">
              <a:latin typeface="+mj-lt"/>
            </a:endParaRPr>
          </a:p>
        </p:txBody>
      </p:sp>
      <p:sp>
        <p:nvSpPr>
          <p:cNvPr id="26" name="Text 15">
            <a:extLst>
              <a:ext uri="{FF2B5EF4-FFF2-40B4-BE49-F238E27FC236}">
                <a16:creationId xmlns:a16="http://schemas.microsoft.com/office/drawing/2014/main" id="{CA94E4CC-540D-1F98-E982-EC64E446F808}"/>
              </a:ext>
            </a:extLst>
          </p:cNvPr>
          <p:cNvSpPr/>
          <p:nvPr/>
        </p:nvSpPr>
        <p:spPr>
          <a:xfrm>
            <a:off x="4391297" y="3424428"/>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Differentiable soft-skeletonization. First topology-preserving loss for tubular structures.</a:t>
            </a:r>
            <a:endParaRPr lang="en-US" sz="1400" dirty="0">
              <a:latin typeface="+mj-lt"/>
            </a:endParaRPr>
          </a:p>
        </p:txBody>
      </p:sp>
      <p:sp>
        <p:nvSpPr>
          <p:cNvPr id="27" name="Text 16">
            <a:extLst>
              <a:ext uri="{FF2B5EF4-FFF2-40B4-BE49-F238E27FC236}">
                <a16:creationId xmlns:a16="http://schemas.microsoft.com/office/drawing/2014/main" id="{4D5D23DB-D88F-2F26-D5AA-B3873C68F26E}"/>
              </a:ext>
            </a:extLst>
          </p:cNvPr>
          <p:cNvSpPr/>
          <p:nvPr/>
        </p:nvSpPr>
        <p:spPr>
          <a:xfrm>
            <a:off x="4391297" y="424738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Skeleton Recall</a:t>
            </a:r>
            <a:endParaRPr lang="en-US" sz="1600" dirty="0">
              <a:latin typeface="+mj-lt"/>
            </a:endParaRPr>
          </a:p>
        </p:txBody>
      </p:sp>
      <p:sp>
        <p:nvSpPr>
          <p:cNvPr id="28" name="Text 17">
            <a:extLst>
              <a:ext uri="{FF2B5EF4-FFF2-40B4-BE49-F238E27FC236}">
                <a16:creationId xmlns:a16="http://schemas.microsoft.com/office/drawing/2014/main" id="{160D1574-595F-8227-C721-01E678999C2E}"/>
              </a:ext>
            </a:extLst>
          </p:cNvPr>
          <p:cNvSpPr/>
          <p:nvPr/>
        </p:nvSpPr>
        <p:spPr>
          <a:xfrm>
            <a:off x="4391297" y="4485132"/>
            <a:ext cx="3200400" cy="201168"/>
          </a:xfrm>
          <a:prstGeom prst="rect">
            <a:avLst/>
          </a:prstGeom>
          <a:noFill/>
          <a:ln/>
        </p:spPr>
        <p:txBody>
          <a:bodyPr wrap="square" lIns="0" tIns="0" rIns="0" bIns="0" rtlCol="0" anchor="ctr"/>
          <a:lstStyle/>
          <a:p>
            <a:pPr marL="0" indent="0">
              <a:buNone/>
            </a:pPr>
            <a:r>
              <a:rPr lang="en-US" sz="1100" i="1" dirty="0">
                <a:solidFill>
                  <a:srgbClr val="D97706"/>
                </a:solidFill>
                <a:latin typeface="+mj-lt"/>
                <a:ea typeface="Calibri" pitchFamily="34" charset="-122"/>
                <a:cs typeface="Calibri" pitchFamily="34" charset="-120"/>
              </a:rPr>
              <a:t>Kirchhoff et al., ECCV 2024</a:t>
            </a:r>
            <a:endParaRPr lang="en-US" sz="1100" dirty="0">
              <a:latin typeface="+mj-lt"/>
            </a:endParaRPr>
          </a:p>
        </p:txBody>
      </p:sp>
      <p:sp>
        <p:nvSpPr>
          <p:cNvPr id="29" name="Text 18">
            <a:extLst>
              <a:ext uri="{FF2B5EF4-FFF2-40B4-BE49-F238E27FC236}">
                <a16:creationId xmlns:a16="http://schemas.microsoft.com/office/drawing/2014/main" id="{39ED69BD-4DDA-DC4D-2E60-07680630823A}"/>
              </a:ext>
            </a:extLst>
          </p:cNvPr>
          <p:cNvSpPr/>
          <p:nvPr/>
        </p:nvSpPr>
        <p:spPr>
          <a:xfrm>
            <a:off x="4391297" y="4704588"/>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CPU-precomputed skeletons. Efficient centerline recall.</a:t>
            </a:r>
            <a:endParaRPr lang="en-US" sz="1400" dirty="0">
              <a:latin typeface="+mj-lt"/>
            </a:endParaRPr>
          </a:p>
        </p:txBody>
      </p:sp>
      <p:sp>
        <p:nvSpPr>
          <p:cNvPr id="30" name="Text 19">
            <a:extLst>
              <a:ext uri="{FF2B5EF4-FFF2-40B4-BE49-F238E27FC236}">
                <a16:creationId xmlns:a16="http://schemas.microsoft.com/office/drawing/2014/main" id="{7E7CC209-24D4-67F0-CD2F-EE1FA75F0C98}"/>
              </a:ext>
            </a:extLst>
          </p:cNvPr>
          <p:cNvSpPr/>
          <p:nvPr/>
        </p:nvSpPr>
        <p:spPr>
          <a:xfrm>
            <a:off x="4391297" y="552754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CBD-Loss</a:t>
            </a:r>
            <a:endParaRPr lang="en-US" sz="1600" dirty="0">
              <a:latin typeface="+mj-lt"/>
            </a:endParaRPr>
          </a:p>
        </p:txBody>
      </p:sp>
      <p:sp>
        <p:nvSpPr>
          <p:cNvPr id="31" name="Text 20">
            <a:extLst>
              <a:ext uri="{FF2B5EF4-FFF2-40B4-BE49-F238E27FC236}">
                <a16:creationId xmlns:a16="http://schemas.microsoft.com/office/drawing/2014/main" id="{A16EAEE3-6671-14C9-3800-8B2EC713BBA6}"/>
              </a:ext>
            </a:extLst>
          </p:cNvPr>
          <p:cNvSpPr/>
          <p:nvPr/>
        </p:nvSpPr>
        <p:spPr>
          <a:xfrm>
            <a:off x="4391297" y="5765292"/>
            <a:ext cx="3200400" cy="201168"/>
          </a:xfrm>
          <a:prstGeom prst="rect">
            <a:avLst/>
          </a:prstGeom>
          <a:noFill/>
          <a:ln/>
        </p:spPr>
        <p:txBody>
          <a:bodyPr wrap="square" lIns="0" tIns="0" rIns="0" bIns="0" rtlCol="0" anchor="ctr"/>
          <a:lstStyle/>
          <a:p>
            <a:pPr marL="0" indent="0">
              <a:buNone/>
            </a:pPr>
            <a:r>
              <a:rPr lang="en-US" sz="1100" i="1" dirty="0">
                <a:solidFill>
                  <a:srgbClr val="D97706"/>
                </a:solidFill>
                <a:latin typeface="+mj-lt"/>
                <a:ea typeface="Calibri" pitchFamily="34" charset="-122"/>
                <a:cs typeface="Calibri" pitchFamily="34" charset="-120"/>
              </a:rPr>
              <a:t>Shi et al., MICCAI 2024</a:t>
            </a:r>
            <a:endParaRPr lang="en-US" sz="1100" dirty="0">
              <a:latin typeface="+mj-lt"/>
            </a:endParaRPr>
          </a:p>
        </p:txBody>
      </p:sp>
      <p:sp>
        <p:nvSpPr>
          <p:cNvPr id="32" name="Text 21">
            <a:extLst>
              <a:ext uri="{FF2B5EF4-FFF2-40B4-BE49-F238E27FC236}">
                <a16:creationId xmlns:a16="http://schemas.microsoft.com/office/drawing/2014/main" id="{04BA8110-B3D9-F868-9EDF-02CBFDF1B489}"/>
              </a:ext>
            </a:extLst>
          </p:cNvPr>
          <p:cNvSpPr/>
          <p:nvPr/>
        </p:nvSpPr>
        <p:spPr>
          <a:xfrm>
            <a:off x="4421777" y="5984748"/>
            <a:ext cx="3200400" cy="502920"/>
          </a:xfrm>
          <a:prstGeom prst="rect">
            <a:avLst/>
          </a:prstGeom>
          <a:noFill/>
          <a:ln/>
        </p:spPr>
        <p:txBody>
          <a:bodyPr wrap="square" lIns="0" tIns="0" rIns="0" bIns="0" rtlCol="0" anchor="ctr"/>
          <a:lstStyle/>
          <a:p>
            <a:pPr marL="0" indent="0">
              <a:buNone/>
            </a:pPr>
            <a:r>
              <a:rPr lang="en-US" sz="1100" dirty="0">
                <a:solidFill>
                  <a:srgbClr val="64748B"/>
                </a:solidFill>
                <a:latin typeface="+mj-lt"/>
                <a:ea typeface="Calibri" pitchFamily="34" charset="-122"/>
                <a:cs typeface="Calibri" pitchFamily="34" charset="-120"/>
              </a:rPr>
              <a:t>Joint centerline + boundary optimization.</a:t>
            </a:r>
            <a:endParaRPr lang="en-US" sz="1100" dirty="0">
              <a:latin typeface="+mj-lt"/>
            </a:endParaRPr>
          </a:p>
        </p:txBody>
      </p:sp>
      <p:sp>
        <p:nvSpPr>
          <p:cNvPr id="33" name="Shape 22">
            <a:extLst>
              <a:ext uri="{FF2B5EF4-FFF2-40B4-BE49-F238E27FC236}">
                <a16:creationId xmlns:a16="http://schemas.microsoft.com/office/drawing/2014/main" id="{A6D1913F-635B-F5C3-3095-6F3D2B79E363}"/>
              </a:ext>
            </a:extLst>
          </p:cNvPr>
          <p:cNvSpPr/>
          <p:nvPr/>
        </p:nvSpPr>
        <p:spPr>
          <a:xfrm>
            <a:off x="8138160" y="2418588"/>
            <a:ext cx="3611880" cy="3707892"/>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34" name="Text 23">
            <a:extLst>
              <a:ext uri="{FF2B5EF4-FFF2-40B4-BE49-F238E27FC236}">
                <a16:creationId xmlns:a16="http://schemas.microsoft.com/office/drawing/2014/main" id="{BDED66D8-6875-B8B5-2E04-3A6B034FDBE1}"/>
              </a:ext>
            </a:extLst>
          </p:cNvPr>
          <p:cNvSpPr/>
          <p:nvPr/>
        </p:nvSpPr>
        <p:spPr>
          <a:xfrm>
            <a:off x="8231777" y="2418588"/>
            <a:ext cx="3200400" cy="411480"/>
          </a:xfrm>
          <a:prstGeom prst="rect">
            <a:avLst/>
          </a:prstGeom>
          <a:noFill/>
          <a:ln/>
        </p:spPr>
        <p:txBody>
          <a:bodyPr wrap="square" lIns="0" tIns="0" rIns="0" bIns="0" rtlCol="0" anchor="ctr"/>
          <a:lstStyle/>
          <a:p>
            <a:pPr marL="0" indent="0">
              <a:buNone/>
            </a:pPr>
            <a:r>
              <a:rPr lang="en-US" b="1" dirty="0">
                <a:solidFill>
                  <a:srgbClr val="059669"/>
                </a:solidFill>
                <a:latin typeface="+mj-lt"/>
                <a:ea typeface="Calibri" pitchFamily="34" charset="-122"/>
                <a:cs typeface="Calibri" pitchFamily="34" charset="-120"/>
              </a:rPr>
              <a:t>Other Approaches</a:t>
            </a:r>
            <a:endParaRPr lang="en-US" dirty="0">
              <a:latin typeface="+mj-lt"/>
            </a:endParaRPr>
          </a:p>
        </p:txBody>
      </p:sp>
      <p:sp>
        <p:nvSpPr>
          <p:cNvPr id="35" name="Text 24">
            <a:extLst>
              <a:ext uri="{FF2B5EF4-FFF2-40B4-BE49-F238E27FC236}">
                <a16:creationId xmlns:a16="http://schemas.microsoft.com/office/drawing/2014/main" id="{A0DC6091-191A-0AB4-671A-3550F5FA452A}"/>
              </a:ext>
            </a:extLst>
          </p:cNvPr>
          <p:cNvSpPr/>
          <p:nvPr/>
        </p:nvSpPr>
        <p:spPr>
          <a:xfrm>
            <a:off x="8231777" y="296722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Persistent Homology</a:t>
            </a:r>
            <a:endParaRPr lang="en-US" sz="1600" dirty="0">
              <a:latin typeface="+mj-lt"/>
            </a:endParaRPr>
          </a:p>
        </p:txBody>
      </p:sp>
      <p:sp>
        <p:nvSpPr>
          <p:cNvPr id="36" name="Text 25">
            <a:extLst>
              <a:ext uri="{FF2B5EF4-FFF2-40B4-BE49-F238E27FC236}">
                <a16:creationId xmlns:a16="http://schemas.microsoft.com/office/drawing/2014/main" id="{8C8420AD-2773-561F-AC94-EE929CDF4AAD}"/>
              </a:ext>
            </a:extLst>
          </p:cNvPr>
          <p:cNvSpPr/>
          <p:nvPr/>
        </p:nvSpPr>
        <p:spPr>
          <a:xfrm>
            <a:off x="8231777" y="3204972"/>
            <a:ext cx="3200400" cy="201168"/>
          </a:xfrm>
          <a:prstGeom prst="rect">
            <a:avLst/>
          </a:prstGeom>
          <a:noFill/>
          <a:ln/>
        </p:spPr>
        <p:txBody>
          <a:bodyPr wrap="square" lIns="0" tIns="0" rIns="0" bIns="0" rtlCol="0" anchor="ctr"/>
          <a:lstStyle/>
          <a:p>
            <a:pPr marL="0" indent="0">
              <a:buNone/>
            </a:pPr>
            <a:r>
              <a:rPr lang="en-US" sz="1100" i="1" dirty="0">
                <a:solidFill>
                  <a:srgbClr val="059669"/>
                </a:solidFill>
                <a:latin typeface="+mj-lt"/>
                <a:ea typeface="Calibri" pitchFamily="34" charset="-122"/>
                <a:cs typeface="Calibri" pitchFamily="34" charset="-120"/>
              </a:rPr>
              <a:t>Berger, Stucki (MICCAI/ICML)</a:t>
            </a:r>
            <a:endParaRPr lang="en-US" sz="1100" dirty="0">
              <a:latin typeface="+mj-lt"/>
            </a:endParaRPr>
          </a:p>
        </p:txBody>
      </p:sp>
      <p:sp>
        <p:nvSpPr>
          <p:cNvPr id="37" name="Text 26">
            <a:extLst>
              <a:ext uri="{FF2B5EF4-FFF2-40B4-BE49-F238E27FC236}">
                <a16:creationId xmlns:a16="http://schemas.microsoft.com/office/drawing/2014/main" id="{00C34260-9A0D-DA34-C287-CFFA93742EE7}"/>
              </a:ext>
            </a:extLst>
          </p:cNvPr>
          <p:cNvSpPr/>
          <p:nvPr/>
        </p:nvSpPr>
        <p:spPr>
          <a:xfrm>
            <a:off x="8231777" y="3424428"/>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Topological loss via persistence barcodes.</a:t>
            </a:r>
            <a:endParaRPr lang="en-US" sz="1400" dirty="0">
              <a:latin typeface="+mj-lt"/>
            </a:endParaRPr>
          </a:p>
        </p:txBody>
      </p:sp>
      <p:sp>
        <p:nvSpPr>
          <p:cNvPr id="38" name="Text 27">
            <a:extLst>
              <a:ext uri="{FF2B5EF4-FFF2-40B4-BE49-F238E27FC236}">
                <a16:creationId xmlns:a16="http://schemas.microsoft.com/office/drawing/2014/main" id="{9826846B-01C4-8BF3-E4AD-772909948F68}"/>
              </a:ext>
            </a:extLst>
          </p:cNvPr>
          <p:cNvSpPr/>
          <p:nvPr/>
        </p:nvSpPr>
        <p:spPr>
          <a:xfrm>
            <a:off x="8231777" y="424738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NexToU</a:t>
            </a:r>
            <a:endParaRPr lang="en-US" sz="1600" dirty="0">
              <a:latin typeface="+mj-lt"/>
            </a:endParaRPr>
          </a:p>
        </p:txBody>
      </p:sp>
      <p:sp>
        <p:nvSpPr>
          <p:cNvPr id="39" name="Text 28">
            <a:extLst>
              <a:ext uri="{FF2B5EF4-FFF2-40B4-BE49-F238E27FC236}">
                <a16:creationId xmlns:a16="http://schemas.microsoft.com/office/drawing/2014/main" id="{C255AFAF-7575-14A8-BFB0-F8285B3D6796}"/>
              </a:ext>
            </a:extLst>
          </p:cNvPr>
          <p:cNvSpPr/>
          <p:nvPr/>
        </p:nvSpPr>
        <p:spPr>
          <a:xfrm>
            <a:off x="8231777" y="4485132"/>
            <a:ext cx="3200400" cy="201168"/>
          </a:xfrm>
          <a:prstGeom prst="rect">
            <a:avLst/>
          </a:prstGeom>
          <a:noFill/>
          <a:ln/>
        </p:spPr>
        <p:txBody>
          <a:bodyPr wrap="square" lIns="0" tIns="0" rIns="0" bIns="0" rtlCol="0" anchor="ctr"/>
          <a:lstStyle/>
          <a:p>
            <a:pPr marL="0" indent="0">
              <a:buNone/>
            </a:pPr>
            <a:r>
              <a:rPr lang="en-US" sz="1100" i="1" dirty="0">
                <a:solidFill>
                  <a:srgbClr val="059669"/>
                </a:solidFill>
                <a:latin typeface="+mj-lt"/>
                <a:ea typeface="Calibri" pitchFamily="34" charset="-122"/>
                <a:cs typeface="Calibri" pitchFamily="34" charset="-120"/>
              </a:rPr>
              <a:t>Shi et al., 2023</a:t>
            </a:r>
            <a:endParaRPr lang="en-US" sz="1100" dirty="0">
              <a:latin typeface="+mj-lt"/>
            </a:endParaRPr>
          </a:p>
        </p:txBody>
      </p:sp>
      <p:sp>
        <p:nvSpPr>
          <p:cNvPr id="40" name="Text 29">
            <a:extLst>
              <a:ext uri="{FF2B5EF4-FFF2-40B4-BE49-F238E27FC236}">
                <a16:creationId xmlns:a16="http://schemas.microsoft.com/office/drawing/2014/main" id="{38C48BDC-511E-D0AB-9281-2436BCC60E12}"/>
              </a:ext>
            </a:extLst>
          </p:cNvPr>
          <p:cNvSpPr/>
          <p:nvPr/>
        </p:nvSpPr>
        <p:spPr>
          <a:xfrm>
            <a:off x="8231777" y="4704588"/>
            <a:ext cx="3200400" cy="502920"/>
          </a:xfrm>
          <a:prstGeom prst="rect">
            <a:avLst/>
          </a:prstGeom>
          <a:noFill/>
          <a:ln/>
        </p:spPr>
        <p:txBody>
          <a:bodyPr wrap="square" lIns="0" tIns="0" rIns="0" bIns="0" rtlCol="0" anchor="ctr"/>
          <a:lstStyle/>
          <a:p>
            <a:pPr marL="0" indent="0">
              <a:buNone/>
            </a:pPr>
            <a:r>
              <a:rPr lang="en-US" sz="1400" dirty="0">
                <a:latin typeface="+mj-lt"/>
                <a:ea typeface="Calibri" pitchFamily="34" charset="-122"/>
                <a:cs typeface="Calibri" pitchFamily="34" charset="-120"/>
              </a:rPr>
              <a:t>Topology-aware U-Net architecture.</a:t>
            </a:r>
            <a:endParaRPr lang="en-US" sz="1400" dirty="0">
              <a:latin typeface="+mj-lt"/>
            </a:endParaRPr>
          </a:p>
        </p:txBody>
      </p:sp>
      <p:sp>
        <p:nvSpPr>
          <p:cNvPr id="41" name="Text 30">
            <a:extLst>
              <a:ext uri="{FF2B5EF4-FFF2-40B4-BE49-F238E27FC236}">
                <a16:creationId xmlns:a16="http://schemas.microsoft.com/office/drawing/2014/main" id="{C63D093C-1B11-E837-A65F-2D4114DE61EC}"/>
              </a:ext>
            </a:extLst>
          </p:cNvPr>
          <p:cNvSpPr/>
          <p:nvPr/>
        </p:nvSpPr>
        <p:spPr>
          <a:xfrm>
            <a:off x="8262257" y="5527548"/>
            <a:ext cx="3200400" cy="256032"/>
          </a:xfrm>
          <a:prstGeom prst="rect">
            <a:avLst/>
          </a:prstGeom>
          <a:noFill/>
          <a:ln/>
        </p:spPr>
        <p:txBody>
          <a:bodyPr wrap="square" lIns="0" tIns="0" rIns="0" bIns="0" rtlCol="0" anchor="ctr"/>
          <a:lstStyle/>
          <a:p>
            <a:pPr marL="0" indent="0">
              <a:buNone/>
            </a:pPr>
            <a:r>
              <a:rPr lang="en-US" sz="1600" b="1" dirty="0">
                <a:solidFill>
                  <a:srgbClr val="1E293B"/>
                </a:solidFill>
                <a:latin typeface="+mj-lt"/>
                <a:ea typeface="Calibri" pitchFamily="34" charset="-122"/>
                <a:cs typeface="Calibri" pitchFamily="34" charset="-120"/>
              </a:rPr>
              <a:t>Cascaded U-Net</a:t>
            </a:r>
            <a:endParaRPr lang="en-US" sz="1600" dirty="0">
              <a:latin typeface="+mj-lt"/>
            </a:endParaRPr>
          </a:p>
        </p:txBody>
      </p:sp>
      <p:sp>
        <p:nvSpPr>
          <p:cNvPr id="42" name="Text 31">
            <a:extLst>
              <a:ext uri="{FF2B5EF4-FFF2-40B4-BE49-F238E27FC236}">
                <a16:creationId xmlns:a16="http://schemas.microsoft.com/office/drawing/2014/main" id="{2F7C061C-5EC9-B6D4-AE62-BC3A960A2ABC}"/>
              </a:ext>
            </a:extLst>
          </p:cNvPr>
          <p:cNvSpPr/>
          <p:nvPr/>
        </p:nvSpPr>
        <p:spPr>
          <a:xfrm>
            <a:off x="8262257" y="5765292"/>
            <a:ext cx="3200400" cy="201168"/>
          </a:xfrm>
          <a:prstGeom prst="rect">
            <a:avLst/>
          </a:prstGeom>
          <a:noFill/>
          <a:ln/>
        </p:spPr>
        <p:txBody>
          <a:bodyPr wrap="square" lIns="0" tIns="0" rIns="0" bIns="0" rtlCol="0" anchor="ctr"/>
          <a:lstStyle/>
          <a:p>
            <a:pPr marL="0" indent="0">
              <a:buNone/>
            </a:pPr>
            <a:r>
              <a:rPr lang="en-US" sz="1100" i="1" dirty="0">
                <a:solidFill>
                  <a:srgbClr val="059669"/>
                </a:solidFill>
                <a:latin typeface="+mj-lt"/>
                <a:ea typeface="Calibri" pitchFamily="34" charset="-122"/>
                <a:cs typeface="Calibri" pitchFamily="34" charset="-120"/>
              </a:rPr>
              <a:t>Rougé et al., PLOS ONE 2024</a:t>
            </a:r>
            <a:endParaRPr lang="en-US" sz="1100" dirty="0">
              <a:latin typeface="+mj-lt"/>
            </a:endParaRPr>
          </a:p>
        </p:txBody>
      </p:sp>
      <p:sp>
        <p:nvSpPr>
          <p:cNvPr id="43" name="Text 32">
            <a:extLst>
              <a:ext uri="{FF2B5EF4-FFF2-40B4-BE49-F238E27FC236}">
                <a16:creationId xmlns:a16="http://schemas.microsoft.com/office/drawing/2014/main" id="{582B835A-11B9-3CC8-0866-A11D3295AFA4}"/>
              </a:ext>
            </a:extLst>
          </p:cNvPr>
          <p:cNvSpPr/>
          <p:nvPr/>
        </p:nvSpPr>
        <p:spPr>
          <a:xfrm>
            <a:off x="8262257" y="5984748"/>
            <a:ext cx="3200400" cy="502920"/>
          </a:xfrm>
          <a:prstGeom prst="rect">
            <a:avLst/>
          </a:prstGeom>
          <a:noFill/>
          <a:ln/>
        </p:spPr>
        <p:txBody>
          <a:bodyPr wrap="square" lIns="0" tIns="0" rIns="0" bIns="0" rtlCol="0" anchor="ctr"/>
          <a:lstStyle/>
          <a:p>
            <a:pPr marL="0" indent="0">
              <a:buNone/>
            </a:pPr>
            <a:r>
              <a:rPr lang="en-US" sz="1100" dirty="0">
                <a:solidFill>
                  <a:srgbClr val="64748B"/>
                </a:solidFill>
                <a:latin typeface="+mj-lt"/>
                <a:ea typeface="Calibri" pitchFamily="34" charset="-122"/>
                <a:cs typeface="Calibri" pitchFamily="34" charset="-120"/>
              </a:rPr>
              <a:t>Topology-aware multi-task approach.</a:t>
            </a:r>
            <a:endParaRPr lang="en-US" sz="1100" dirty="0">
              <a:latin typeface="+mj-lt"/>
            </a:endParaRPr>
          </a:p>
        </p:txBody>
      </p:sp>
      <p:sp>
        <p:nvSpPr>
          <p:cNvPr id="44" name="Shape 33">
            <a:extLst>
              <a:ext uri="{FF2B5EF4-FFF2-40B4-BE49-F238E27FC236}">
                <a16:creationId xmlns:a16="http://schemas.microsoft.com/office/drawing/2014/main" id="{12F2D2BF-0900-825F-5217-CC356663C7B8}"/>
              </a:ext>
            </a:extLst>
          </p:cNvPr>
          <p:cNvSpPr/>
          <p:nvPr/>
        </p:nvSpPr>
        <p:spPr>
          <a:xfrm>
            <a:off x="457200" y="6035040"/>
            <a:ext cx="11247120" cy="548640"/>
          </a:xfrm>
          <a:prstGeom prst="rect">
            <a:avLst/>
          </a:prstGeom>
          <a:solidFill>
            <a:srgbClr val="DBEAFE"/>
          </a:solidFill>
          <a:ln/>
        </p:spPr>
        <p:txBody>
          <a:bodyPr/>
          <a:lstStyle/>
          <a:p>
            <a:endParaRPr lang="en-US">
              <a:latin typeface="+mj-lt"/>
            </a:endParaRPr>
          </a:p>
        </p:txBody>
      </p:sp>
      <p:sp>
        <p:nvSpPr>
          <p:cNvPr id="45" name="Text 34">
            <a:extLst>
              <a:ext uri="{FF2B5EF4-FFF2-40B4-BE49-F238E27FC236}">
                <a16:creationId xmlns:a16="http://schemas.microsoft.com/office/drawing/2014/main" id="{2E2AF469-7E26-70ED-EBEF-A7DE2DF4B564}"/>
              </a:ext>
            </a:extLst>
          </p:cNvPr>
          <p:cNvSpPr/>
          <p:nvPr/>
        </p:nvSpPr>
        <p:spPr>
          <a:xfrm>
            <a:off x="640080" y="6062472"/>
            <a:ext cx="10972800" cy="502920"/>
          </a:xfrm>
          <a:prstGeom prst="rect">
            <a:avLst/>
          </a:prstGeom>
          <a:noFill/>
          <a:ln/>
        </p:spPr>
        <p:txBody>
          <a:bodyPr wrap="square" rtlCol="0" anchor="ctr"/>
          <a:lstStyle/>
          <a:p>
            <a:pPr marL="0" indent="0" algn="ctr">
              <a:buNone/>
            </a:pPr>
            <a:r>
              <a:rPr lang="en-US" sz="1400" b="1" dirty="0">
                <a:solidFill>
                  <a:srgbClr val="0077B6"/>
                </a:solidFill>
                <a:latin typeface="+mj-lt"/>
                <a:ea typeface="Calibri" pitchFamily="34" charset="-122"/>
                <a:cs typeface="Calibri" pitchFamily="34" charset="-120"/>
              </a:rPr>
              <a:t>Gap: Existing evaluations confound loss function effects with architectural changes or aggregate-only challenge metrics</a:t>
            </a:r>
            <a:endParaRPr lang="en-US" sz="1400" dirty="0">
              <a:latin typeface="+mj-lt"/>
            </a:endParaRPr>
          </a:p>
        </p:txBody>
      </p:sp>
    </p:spTree>
    <p:extLst>
      <p:ext uri="{BB962C8B-B14F-4D97-AF65-F5344CB8AC3E}">
        <p14:creationId xmlns:p14="http://schemas.microsoft.com/office/powerpoint/2010/main" val="4024564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2">
            <a:extLst>
              <a:ext uri="{FF2B5EF4-FFF2-40B4-BE49-F238E27FC236}">
                <a16:creationId xmlns:a16="http://schemas.microsoft.com/office/drawing/2014/main" id="{C8275F66-1967-71E4-2A86-C454D62B0831}"/>
              </a:ext>
            </a:extLst>
          </p:cNvPr>
          <p:cNvSpPr/>
          <p:nvPr/>
        </p:nvSpPr>
        <p:spPr>
          <a:xfrm>
            <a:off x="599143" y="1322800"/>
            <a:ext cx="10058400" cy="640080"/>
          </a:xfrm>
          <a:prstGeom prst="rect">
            <a:avLst/>
          </a:prstGeom>
          <a:noFill/>
          <a:ln/>
        </p:spPr>
        <p:txBody>
          <a:bodyPr wrap="square" lIns="0" tIns="0" rIns="0" bIns="0" rtlCol="0" anchor="ctr"/>
          <a:lstStyle/>
          <a:p>
            <a:pPr marL="0" indent="0">
              <a:buNone/>
            </a:pPr>
            <a:r>
              <a:rPr lang="en-US" sz="4400" b="1" dirty="0">
                <a:solidFill>
                  <a:srgbClr val="1E293B"/>
                </a:solidFill>
                <a:latin typeface="+mj-lt"/>
                <a:ea typeface="Calibri" pitchFamily="34" charset="-122"/>
                <a:cs typeface="Calibri" pitchFamily="34" charset="-120"/>
              </a:rPr>
              <a:t>Hypothesis &amp; Approach</a:t>
            </a:r>
            <a:endParaRPr lang="en-US" sz="4400" dirty="0">
              <a:latin typeface="+mj-lt"/>
            </a:endParaRPr>
          </a:p>
        </p:txBody>
      </p:sp>
      <p:sp>
        <p:nvSpPr>
          <p:cNvPr id="9" name="Shape 3">
            <a:extLst>
              <a:ext uri="{FF2B5EF4-FFF2-40B4-BE49-F238E27FC236}">
                <a16:creationId xmlns:a16="http://schemas.microsoft.com/office/drawing/2014/main" id="{5420DA17-D1F4-D591-3910-359058A62F28}"/>
              </a:ext>
            </a:extLst>
          </p:cNvPr>
          <p:cNvSpPr/>
          <p:nvPr/>
        </p:nvSpPr>
        <p:spPr>
          <a:xfrm>
            <a:off x="487681" y="2263951"/>
            <a:ext cx="10972800" cy="1463040"/>
          </a:xfrm>
          <a:prstGeom prst="rect">
            <a:avLst/>
          </a:prstGeom>
          <a:solidFill>
            <a:srgbClr val="1E3A5F"/>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0" name="Text 4">
            <a:extLst>
              <a:ext uri="{FF2B5EF4-FFF2-40B4-BE49-F238E27FC236}">
                <a16:creationId xmlns:a16="http://schemas.microsoft.com/office/drawing/2014/main" id="{54BF3E57-2BB4-42DD-C3E7-4AB94FA76BE2}"/>
              </a:ext>
            </a:extLst>
          </p:cNvPr>
          <p:cNvSpPr/>
          <p:nvPr/>
        </p:nvSpPr>
        <p:spPr>
          <a:xfrm>
            <a:off x="762001" y="2309671"/>
            <a:ext cx="4572000" cy="320040"/>
          </a:xfrm>
          <a:prstGeom prst="rect">
            <a:avLst/>
          </a:prstGeom>
          <a:noFill/>
          <a:ln/>
        </p:spPr>
        <p:txBody>
          <a:bodyPr wrap="square" lIns="0" tIns="0" rIns="0" bIns="0" rtlCol="0" anchor="ctr"/>
          <a:lstStyle/>
          <a:p>
            <a:pPr marL="0" indent="0">
              <a:buNone/>
            </a:pPr>
            <a:r>
              <a:rPr lang="en-US" sz="1600" b="1" dirty="0">
                <a:solidFill>
                  <a:srgbClr val="0077B6"/>
                </a:solidFill>
                <a:latin typeface="+mj-lt"/>
                <a:ea typeface="Calibri" pitchFamily="34" charset="-122"/>
                <a:cs typeface="Calibri" pitchFamily="34" charset="-120"/>
              </a:rPr>
              <a:t>HYPOTHESIS</a:t>
            </a:r>
            <a:endParaRPr lang="en-US" sz="1600" b="1" dirty="0">
              <a:latin typeface="+mj-lt"/>
            </a:endParaRPr>
          </a:p>
        </p:txBody>
      </p:sp>
      <p:sp>
        <p:nvSpPr>
          <p:cNvPr id="11" name="Text 5">
            <a:extLst>
              <a:ext uri="{FF2B5EF4-FFF2-40B4-BE49-F238E27FC236}">
                <a16:creationId xmlns:a16="http://schemas.microsoft.com/office/drawing/2014/main" id="{43CADBBD-4873-CFC9-B215-8F6EE04E99F3}"/>
              </a:ext>
            </a:extLst>
          </p:cNvPr>
          <p:cNvSpPr/>
          <p:nvPr/>
        </p:nvSpPr>
        <p:spPr>
          <a:xfrm>
            <a:off x="762001" y="2675431"/>
            <a:ext cx="10424160" cy="822960"/>
          </a:xfrm>
          <a:prstGeom prst="rect">
            <a:avLst/>
          </a:prstGeom>
          <a:noFill/>
          <a:ln/>
        </p:spPr>
        <p:txBody>
          <a:bodyPr wrap="square" lIns="0" tIns="0" rIns="0" bIns="0" rtlCol="0" anchor="ctr"/>
          <a:lstStyle/>
          <a:p>
            <a:pPr marL="0" indent="0">
              <a:buNone/>
            </a:pPr>
            <a:r>
              <a:rPr lang="en-US" sz="2000" b="1" dirty="0">
                <a:solidFill>
                  <a:srgbClr val="FFFFFF"/>
                </a:solidFill>
                <a:latin typeface="+mj-lt"/>
                <a:ea typeface="Calibri" pitchFamily="34" charset="-122"/>
                <a:cs typeface="Calibri" pitchFamily="34" charset="-120"/>
              </a:rPr>
              <a:t>Topology-aware loss functions will disproportionately improve</a:t>
            </a:r>
            <a:endParaRPr lang="en-US" sz="2000" dirty="0">
              <a:latin typeface="+mj-lt"/>
            </a:endParaRPr>
          </a:p>
          <a:p>
            <a:pPr marL="0" indent="0">
              <a:buNone/>
            </a:pPr>
            <a:r>
              <a:rPr lang="en-US" sz="2000" b="1" dirty="0">
                <a:solidFill>
                  <a:srgbClr val="FFFFFF"/>
                </a:solidFill>
                <a:latin typeface="+mj-lt"/>
                <a:ea typeface="Calibri" pitchFamily="34" charset="-122"/>
                <a:cs typeface="Calibri" pitchFamily="34" charset="-120"/>
              </a:rPr>
              <a:t>segmentation of thin communicating arteries (Acom, Pcom)</a:t>
            </a:r>
            <a:endParaRPr lang="en-US" sz="2000" dirty="0">
              <a:latin typeface="+mj-lt"/>
            </a:endParaRPr>
          </a:p>
        </p:txBody>
      </p:sp>
      <p:sp>
        <p:nvSpPr>
          <p:cNvPr id="12" name="Shape 6">
            <a:extLst>
              <a:ext uri="{FF2B5EF4-FFF2-40B4-BE49-F238E27FC236}">
                <a16:creationId xmlns:a16="http://schemas.microsoft.com/office/drawing/2014/main" id="{1631D495-5A14-63F2-04D8-9A38A341284E}"/>
              </a:ext>
            </a:extLst>
          </p:cNvPr>
          <p:cNvSpPr/>
          <p:nvPr/>
        </p:nvSpPr>
        <p:spPr>
          <a:xfrm>
            <a:off x="487681" y="3977640"/>
            <a:ext cx="3566160" cy="192024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3" name="Text 7">
            <a:extLst>
              <a:ext uri="{FF2B5EF4-FFF2-40B4-BE49-F238E27FC236}">
                <a16:creationId xmlns:a16="http://schemas.microsoft.com/office/drawing/2014/main" id="{647A1261-A664-8914-A644-31D4CC2D5748}"/>
              </a:ext>
            </a:extLst>
          </p:cNvPr>
          <p:cNvSpPr/>
          <p:nvPr/>
        </p:nvSpPr>
        <p:spPr>
          <a:xfrm>
            <a:off x="670561" y="4069080"/>
            <a:ext cx="3200400" cy="320040"/>
          </a:xfrm>
          <a:prstGeom prst="rect">
            <a:avLst/>
          </a:prstGeom>
          <a:noFill/>
          <a:ln/>
        </p:spPr>
        <p:txBody>
          <a:bodyPr wrap="square" lIns="0" tIns="0" rIns="0" bIns="0" rtlCol="0" anchor="ctr"/>
          <a:lstStyle/>
          <a:p>
            <a:pPr marL="0" indent="0">
              <a:buNone/>
            </a:pPr>
            <a:r>
              <a:rPr lang="en-US" sz="1200" dirty="0">
                <a:latin typeface="+mj-lt"/>
                <a:ea typeface="Calibri" pitchFamily="34" charset="-122"/>
                <a:cs typeface="Calibri" pitchFamily="34" charset="-120"/>
              </a:rPr>
              <a:t>Config 1</a:t>
            </a:r>
            <a:endParaRPr lang="en-US" sz="1200" dirty="0">
              <a:latin typeface="+mj-lt"/>
            </a:endParaRPr>
          </a:p>
        </p:txBody>
      </p:sp>
      <p:sp>
        <p:nvSpPr>
          <p:cNvPr id="14" name="Text 8">
            <a:extLst>
              <a:ext uri="{FF2B5EF4-FFF2-40B4-BE49-F238E27FC236}">
                <a16:creationId xmlns:a16="http://schemas.microsoft.com/office/drawing/2014/main" id="{1E1ABEA3-7E59-D2C9-3D02-B06B8BA442AC}"/>
              </a:ext>
            </a:extLst>
          </p:cNvPr>
          <p:cNvSpPr/>
          <p:nvPr/>
        </p:nvSpPr>
        <p:spPr>
          <a:xfrm>
            <a:off x="670561" y="4389120"/>
            <a:ext cx="3200400" cy="411480"/>
          </a:xfrm>
          <a:prstGeom prst="rect">
            <a:avLst/>
          </a:prstGeom>
          <a:noFill/>
          <a:ln/>
        </p:spPr>
        <p:txBody>
          <a:bodyPr wrap="square" lIns="0" tIns="0" rIns="0" bIns="0" rtlCol="0" anchor="ctr"/>
          <a:lstStyle/>
          <a:p>
            <a:pPr marL="0" indent="0">
              <a:buNone/>
            </a:pPr>
            <a:r>
              <a:rPr lang="en-US" sz="1700" b="1" dirty="0">
                <a:solidFill>
                  <a:srgbClr val="0077B6"/>
                </a:solidFill>
                <a:latin typeface="+mj-lt"/>
                <a:ea typeface="Calibri" pitchFamily="34" charset="-122"/>
                <a:cs typeface="Calibri" pitchFamily="34" charset="-120"/>
              </a:rPr>
              <a:t>Dice + CE</a:t>
            </a:r>
            <a:endParaRPr lang="en-US" sz="1700" dirty="0">
              <a:latin typeface="+mj-lt"/>
            </a:endParaRPr>
          </a:p>
        </p:txBody>
      </p:sp>
      <p:sp>
        <p:nvSpPr>
          <p:cNvPr id="15" name="Text 9">
            <a:extLst>
              <a:ext uri="{FF2B5EF4-FFF2-40B4-BE49-F238E27FC236}">
                <a16:creationId xmlns:a16="http://schemas.microsoft.com/office/drawing/2014/main" id="{D009E530-5893-C667-525A-1107BA2AD1F4}"/>
              </a:ext>
            </a:extLst>
          </p:cNvPr>
          <p:cNvSpPr/>
          <p:nvPr/>
        </p:nvSpPr>
        <p:spPr>
          <a:xfrm>
            <a:off x="670561" y="4846320"/>
            <a:ext cx="3200400" cy="731520"/>
          </a:xfrm>
          <a:prstGeom prst="rect">
            <a:avLst/>
          </a:prstGeom>
          <a:noFill/>
          <a:ln/>
        </p:spPr>
        <p:txBody>
          <a:bodyPr wrap="square" lIns="0" tIns="0" rIns="0" bIns="0" rtlCol="0" anchor="ctr"/>
          <a:lstStyle/>
          <a:p>
            <a:pPr marL="0" indent="0">
              <a:buNone/>
            </a:pPr>
            <a:r>
              <a:rPr lang="en-US" sz="1300" dirty="0">
                <a:latin typeface="+mj-lt"/>
                <a:ea typeface="Calibri" pitchFamily="34" charset="-122"/>
                <a:cs typeface="Calibri" pitchFamily="34" charset="-120"/>
              </a:rPr>
              <a:t>Baseline — overlap only</a:t>
            </a:r>
            <a:endParaRPr lang="en-US" sz="1300" dirty="0">
              <a:latin typeface="+mj-lt"/>
            </a:endParaRPr>
          </a:p>
          <a:p>
            <a:pPr marL="0" indent="0">
              <a:buNone/>
            </a:pPr>
            <a:r>
              <a:rPr lang="en-US" sz="1300" dirty="0">
                <a:latin typeface="+mj-lt"/>
                <a:ea typeface="Calibri" pitchFamily="34" charset="-122"/>
                <a:cs typeface="Calibri" pitchFamily="34" charset="-120"/>
              </a:rPr>
              <a:t>nnU-Net default</a:t>
            </a:r>
            <a:endParaRPr lang="en-US" sz="1300" dirty="0">
              <a:latin typeface="+mj-lt"/>
            </a:endParaRPr>
          </a:p>
        </p:txBody>
      </p:sp>
      <p:sp>
        <p:nvSpPr>
          <p:cNvPr id="16" name="Shape 10">
            <a:extLst>
              <a:ext uri="{FF2B5EF4-FFF2-40B4-BE49-F238E27FC236}">
                <a16:creationId xmlns:a16="http://schemas.microsoft.com/office/drawing/2014/main" id="{2C2CC0CD-2741-EA80-3E8D-BC39F5367B20}"/>
              </a:ext>
            </a:extLst>
          </p:cNvPr>
          <p:cNvSpPr/>
          <p:nvPr/>
        </p:nvSpPr>
        <p:spPr>
          <a:xfrm>
            <a:off x="4312920" y="3977640"/>
            <a:ext cx="3566160" cy="192024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7" name="Text 11">
            <a:extLst>
              <a:ext uri="{FF2B5EF4-FFF2-40B4-BE49-F238E27FC236}">
                <a16:creationId xmlns:a16="http://schemas.microsoft.com/office/drawing/2014/main" id="{EDCA591D-1D20-3211-316D-9C7154BE6753}"/>
              </a:ext>
            </a:extLst>
          </p:cNvPr>
          <p:cNvSpPr/>
          <p:nvPr/>
        </p:nvSpPr>
        <p:spPr>
          <a:xfrm>
            <a:off x="4495800" y="4069080"/>
            <a:ext cx="3200400" cy="320040"/>
          </a:xfrm>
          <a:prstGeom prst="rect">
            <a:avLst/>
          </a:prstGeom>
          <a:noFill/>
          <a:ln/>
        </p:spPr>
        <p:txBody>
          <a:bodyPr wrap="square" lIns="0" tIns="0" rIns="0" bIns="0" rtlCol="0" anchor="ctr"/>
          <a:lstStyle/>
          <a:p>
            <a:pPr marL="0" indent="0">
              <a:buNone/>
            </a:pPr>
            <a:r>
              <a:rPr lang="en-US" sz="1200" dirty="0">
                <a:latin typeface="+mj-lt"/>
                <a:ea typeface="Calibri" pitchFamily="34" charset="-122"/>
                <a:cs typeface="Calibri" pitchFamily="34" charset="-120"/>
              </a:rPr>
              <a:t>Config 2</a:t>
            </a:r>
            <a:endParaRPr lang="en-US" sz="1200" dirty="0">
              <a:latin typeface="+mj-lt"/>
            </a:endParaRPr>
          </a:p>
        </p:txBody>
      </p:sp>
      <p:sp>
        <p:nvSpPr>
          <p:cNvPr id="18" name="Text 12">
            <a:extLst>
              <a:ext uri="{FF2B5EF4-FFF2-40B4-BE49-F238E27FC236}">
                <a16:creationId xmlns:a16="http://schemas.microsoft.com/office/drawing/2014/main" id="{4C338D86-C735-EB2D-53BE-83DBB328F8D7}"/>
              </a:ext>
            </a:extLst>
          </p:cNvPr>
          <p:cNvSpPr/>
          <p:nvPr/>
        </p:nvSpPr>
        <p:spPr>
          <a:xfrm>
            <a:off x="4495800" y="4389120"/>
            <a:ext cx="3200400" cy="411480"/>
          </a:xfrm>
          <a:prstGeom prst="rect">
            <a:avLst/>
          </a:prstGeom>
          <a:noFill/>
          <a:ln/>
        </p:spPr>
        <p:txBody>
          <a:bodyPr wrap="square" lIns="0" tIns="0" rIns="0" bIns="0" rtlCol="0" anchor="ctr"/>
          <a:lstStyle/>
          <a:p>
            <a:pPr marL="0" indent="0">
              <a:buNone/>
            </a:pPr>
            <a:r>
              <a:rPr lang="en-US" sz="1700" b="1" dirty="0">
                <a:solidFill>
                  <a:srgbClr val="D97706"/>
                </a:solidFill>
                <a:latin typeface="+mj-lt"/>
                <a:ea typeface="Calibri" pitchFamily="34" charset="-122"/>
                <a:cs typeface="Calibri" pitchFamily="34" charset="-120"/>
              </a:rPr>
              <a:t>Dice + CE + clDice</a:t>
            </a:r>
            <a:endParaRPr lang="en-US" sz="1700" dirty="0">
              <a:latin typeface="+mj-lt"/>
            </a:endParaRPr>
          </a:p>
        </p:txBody>
      </p:sp>
      <p:sp>
        <p:nvSpPr>
          <p:cNvPr id="19" name="Text 13">
            <a:extLst>
              <a:ext uri="{FF2B5EF4-FFF2-40B4-BE49-F238E27FC236}">
                <a16:creationId xmlns:a16="http://schemas.microsoft.com/office/drawing/2014/main" id="{3F81D30C-6138-379E-2567-D9960007747B}"/>
              </a:ext>
            </a:extLst>
          </p:cNvPr>
          <p:cNvSpPr/>
          <p:nvPr/>
        </p:nvSpPr>
        <p:spPr>
          <a:xfrm>
            <a:off x="4495800" y="4846320"/>
            <a:ext cx="3200400" cy="731520"/>
          </a:xfrm>
          <a:prstGeom prst="rect">
            <a:avLst/>
          </a:prstGeom>
          <a:noFill/>
          <a:ln/>
        </p:spPr>
        <p:txBody>
          <a:bodyPr wrap="square" lIns="0" tIns="0" rIns="0" bIns="0" rtlCol="0" anchor="ctr"/>
          <a:lstStyle/>
          <a:p>
            <a:pPr marL="0" indent="0">
              <a:buNone/>
            </a:pPr>
            <a:r>
              <a:rPr lang="en-US" sz="1300" dirty="0">
                <a:latin typeface="+mj-lt"/>
                <a:ea typeface="Calibri" pitchFamily="34" charset="-122"/>
                <a:cs typeface="Calibri" pitchFamily="34" charset="-120"/>
              </a:rPr>
              <a:t>Centerline matching</a:t>
            </a:r>
            <a:endParaRPr lang="en-US" sz="1300" dirty="0">
              <a:latin typeface="+mj-lt"/>
            </a:endParaRPr>
          </a:p>
          <a:p>
            <a:pPr marL="0" indent="0">
              <a:buNone/>
            </a:pPr>
            <a:r>
              <a:rPr lang="en-US" sz="1300" dirty="0">
                <a:latin typeface="+mj-lt"/>
                <a:ea typeface="Calibri" pitchFamily="34" charset="-122"/>
                <a:cs typeface="Calibri" pitchFamily="34" charset="-120"/>
              </a:rPr>
              <a:t>Shit et al., CVPR 2021</a:t>
            </a:r>
            <a:endParaRPr lang="en-US" sz="1300" dirty="0">
              <a:latin typeface="+mj-lt"/>
            </a:endParaRPr>
          </a:p>
        </p:txBody>
      </p:sp>
      <p:sp>
        <p:nvSpPr>
          <p:cNvPr id="20" name="Shape 14">
            <a:extLst>
              <a:ext uri="{FF2B5EF4-FFF2-40B4-BE49-F238E27FC236}">
                <a16:creationId xmlns:a16="http://schemas.microsoft.com/office/drawing/2014/main" id="{473841E0-A02F-D07C-EE05-876E8EE66656}"/>
              </a:ext>
            </a:extLst>
          </p:cNvPr>
          <p:cNvSpPr/>
          <p:nvPr/>
        </p:nvSpPr>
        <p:spPr>
          <a:xfrm>
            <a:off x="8138159" y="3977640"/>
            <a:ext cx="3566160" cy="192024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21" name="Text 15">
            <a:extLst>
              <a:ext uri="{FF2B5EF4-FFF2-40B4-BE49-F238E27FC236}">
                <a16:creationId xmlns:a16="http://schemas.microsoft.com/office/drawing/2014/main" id="{50C48563-E511-89C8-3456-279D0268AC86}"/>
              </a:ext>
            </a:extLst>
          </p:cNvPr>
          <p:cNvSpPr/>
          <p:nvPr/>
        </p:nvSpPr>
        <p:spPr>
          <a:xfrm>
            <a:off x="8321039" y="4069080"/>
            <a:ext cx="3200400" cy="320040"/>
          </a:xfrm>
          <a:prstGeom prst="rect">
            <a:avLst/>
          </a:prstGeom>
          <a:noFill/>
          <a:ln/>
        </p:spPr>
        <p:txBody>
          <a:bodyPr wrap="square" lIns="0" tIns="0" rIns="0" bIns="0" rtlCol="0" anchor="ctr"/>
          <a:lstStyle/>
          <a:p>
            <a:pPr marL="0" indent="0">
              <a:buNone/>
            </a:pPr>
            <a:r>
              <a:rPr lang="en-US" sz="1200" dirty="0">
                <a:latin typeface="+mj-lt"/>
                <a:ea typeface="Calibri" pitchFamily="34" charset="-122"/>
                <a:cs typeface="Calibri" pitchFamily="34" charset="-120"/>
              </a:rPr>
              <a:t>Config 3</a:t>
            </a:r>
            <a:endParaRPr lang="en-US" sz="1200" dirty="0">
              <a:latin typeface="+mj-lt"/>
            </a:endParaRPr>
          </a:p>
        </p:txBody>
      </p:sp>
      <p:sp>
        <p:nvSpPr>
          <p:cNvPr id="22" name="Text 16">
            <a:extLst>
              <a:ext uri="{FF2B5EF4-FFF2-40B4-BE49-F238E27FC236}">
                <a16:creationId xmlns:a16="http://schemas.microsoft.com/office/drawing/2014/main" id="{3F1260AB-F7BF-25A9-7279-C0FBF551864B}"/>
              </a:ext>
            </a:extLst>
          </p:cNvPr>
          <p:cNvSpPr/>
          <p:nvPr/>
        </p:nvSpPr>
        <p:spPr>
          <a:xfrm>
            <a:off x="8321039" y="4389120"/>
            <a:ext cx="3200400" cy="411480"/>
          </a:xfrm>
          <a:prstGeom prst="rect">
            <a:avLst/>
          </a:prstGeom>
          <a:noFill/>
          <a:ln/>
        </p:spPr>
        <p:txBody>
          <a:bodyPr wrap="square" lIns="0" tIns="0" rIns="0" bIns="0" rtlCol="0" anchor="ctr"/>
          <a:lstStyle/>
          <a:p>
            <a:pPr marL="0" indent="0">
              <a:buNone/>
            </a:pPr>
            <a:r>
              <a:rPr lang="en-US" sz="1700" b="1" dirty="0">
                <a:solidFill>
                  <a:srgbClr val="059669"/>
                </a:solidFill>
                <a:latin typeface="+mj-lt"/>
                <a:ea typeface="Calibri" pitchFamily="34" charset="-122"/>
                <a:cs typeface="Calibri" pitchFamily="34" charset="-120"/>
              </a:rPr>
              <a:t>Dice + CE + Skeleton Recall</a:t>
            </a:r>
            <a:endParaRPr lang="en-US" sz="1700" dirty="0">
              <a:latin typeface="+mj-lt"/>
            </a:endParaRPr>
          </a:p>
        </p:txBody>
      </p:sp>
      <p:sp>
        <p:nvSpPr>
          <p:cNvPr id="23" name="Text 17">
            <a:extLst>
              <a:ext uri="{FF2B5EF4-FFF2-40B4-BE49-F238E27FC236}">
                <a16:creationId xmlns:a16="http://schemas.microsoft.com/office/drawing/2014/main" id="{45E742EB-E842-621C-DF6D-148931EE1602}"/>
              </a:ext>
            </a:extLst>
          </p:cNvPr>
          <p:cNvSpPr/>
          <p:nvPr/>
        </p:nvSpPr>
        <p:spPr>
          <a:xfrm>
            <a:off x="8321039" y="4846320"/>
            <a:ext cx="3200400" cy="731520"/>
          </a:xfrm>
          <a:prstGeom prst="rect">
            <a:avLst/>
          </a:prstGeom>
          <a:noFill/>
          <a:ln/>
        </p:spPr>
        <p:txBody>
          <a:bodyPr wrap="square" lIns="0" tIns="0" rIns="0" bIns="0" rtlCol="0" anchor="ctr"/>
          <a:lstStyle/>
          <a:p>
            <a:pPr marL="0" indent="0">
              <a:buNone/>
            </a:pPr>
            <a:r>
              <a:rPr lang="en-US" sz="1300" dirty="0">
                <a:latin typeface="+mj-lt"/>
                <a:ea typeface="Calibri" pitchFamily="34" charset="-122"/>
                <a:cs typeface="Calibri" pitchFamily="34" charset="-120"/>
              </a:rPr>
              <a:t>Centerline recall</a:t>
            </a:r>
            <a:endParaRPr lang="en-US" sz="1300" dirty="0">
              <a:latin typeface="+mj-lt"/>
            </a:endParaRPr>
          </a:p>
          <a:p>
            <a:pPr marL="0" indent="0">
              <a:buNone/>
            </a:pPr>
            <a:r>
              <a:rPr lang="en-US" sz="1300" dirty="0">
                <a:latin typeface="+mj-lt"/>
                <a:ea typeface="Calibri" pitchFamily="34" charset="-122"/>
                <a:cs typeface="Calibri" pitchFamily="34" charset="-120"/>
              </a:rPr>
              <a:t>Kirchhoff et al., ECCV 2024</a:t>
            </a:r>
            <a:endParaRPr lang="en-US" sz="1300" dirty="0">
              <a:latin typeface="+mj-lt"/>
            </a:endParaRPr>
          </a:p>
        </p:txBody>
      </p:sp>
      <p:sp>
        <p:nvSpPr>
          <p:cNvPr id="24" name="Text 18">
            <a:extLst>
              <a:ext uri="{FF2B5EF4-FFF2-40B4-BE49-F238E27FC236}">
                <a16:creationId xmlns:a16="http://schemas.microsoft.com/office/drawing/2014/main" id="{2361BD38-92D8-5DE5-3D2B-086F2963C827}"/>
              </a:ext>
            </a:extLst>
          </p:cNvPr>
          <p:cNvSpPr/>
          <p:nvPr/>
        </p:nvSpPr>
        <p:spPr>
          <a:xfrm>
            <a:off x="599143" y="6148529"/>
            <a:ext cx="10972800" cy="457200"/>
          </a:xfrm>
          <a:prstGeom prst="rect">
            <a:avLst/>
          </a:prstGeom>
          <a:noFill/>
          <a:ln/>
        </p:spPr>
        <p:txBody>
          <a:bodyPr wrap="square" rtlCol="0" anchor="ctr"/>
          <a:lstStyle/>
          <a:p>
            <a:pPr marL="0" indent="0" algn="ctr">
              <a:buNone/>
            </a:pPr>
            <a:r>
              <a:rPr lang="en-US" dirty="0">
                <a:solidFill>
                  <a:srgbClr val="64748B"/>
                </a:solidFill>
                <a:latin typeface="+mj-lt"/>
                <a:ea typeface="Calibri" pitchFamily="34" charset="-122"/>
                <a:cs typeface="Calibri" pitchFamily="34" charset="-120"/>
              </a:rPr>
              <a:t>Controlled ablation: same architecture, same data, same hardware — only the loss function changes</a:t>
            </a:r>
            <a:endParaRPr lang="en-US" dirty="0">
              <a:latin typeface="+mj-lt"/>
            </a:endParaRPr>
          </a:p>
        </p:txBody>
      </p:sp>
    </p:spTree>
    <p:extLst>
      <p:ext uri="{BB962C8B-B14F-4D97-AF65-F5344CB8AC3E}">
        <p14:creationId xmlns:p14="http://schemas.microsoft.com/office/powerpoint/2010/main" val="923926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descr="Human brain nerve cells">
            <a:extLst>
              <a:ext uri="{FF2B5EF4-FFF2-40B4-BE49-F238E27FC236}">
                <a16:creationId xmlns:a16="http://schemas.microsoft.com/office/drawing/2014/main" id="{51A584F6-1325-29EA-9FCF-26104E5BF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6120" y="-39175"/>
            <a:ext cx="9196233" cy="6897175"/>
          </a:xfrm>
          <a:prstGeom prst="rect">
            <a:avLst/>
          </a:prstGeom>
          <a:ln>
            <a:noFill/>
          </a:ln>
          <a:effectLst>
            <a:softEdge rad="112500"/>
          </a:effectLst>
        </p:spPr>
      </p:pic>
      <p:sp>
        <p:nvSpPr>
          <p:cNvPr id="2" name="Title 1">
            <a:extLst>
              <a:ext uri="{FF2B5EF4-FFF2-40B4-BE49-F238E27FC236}">
                <a16:creationId xmlns:a16="http://schemas.microsoft.com/office/drawing/2014/main" id="{07857F53-3491-C15E-3435-12143F15EE94}"/>
              </a:ext>
            </a:extLst>
          </p:cNvPr>
          <p:cNvSpPr>
            <a:spLocks noGrp="1"/>
          </p:cNvSpPr>
          <p:nvPr>
            <p:ph type="title"/>
          </p:nvPr>
        </p:nvSpPr>
        <p:spPr/>
        <p:txBody>
          <a:bodyPr/>
          <a:lstStyle/>
          <a:p>
            <a:r>
              <a:rPr lang="en-US" dirty="0"/>
              <a:t>Datasets	</a:t>
            </a:r>
          </a:p>
        </p:txBody>
      </p:sp>
      <p:graphicFrame>
        <p:nvGraphicFramePr>
          <p:cNvPr id="7" name="Content Placeholder 2">
            <a:extLst>
              <a:ext uri="{FF2B5EF4-FFF2-40B4-BE49-F238E27FC236}">
                <a16:creationId xmlns:a16="http://schemas.microsoft.com/office/drawing/2014/main" id="{04F2F71E-6550-B565-5B79-5747BE90B44C}"/>
              </a:ext>
            </a:extLst>
          </p:cNvPr>
          <p:cNvGraphicFramePr>
            <a:graphicFrameLocks noGrp="1"/>
          </p:cNvGraphicFramePr>
          <p:nvPr>
            <p:ph sz="half" idx="1"/>
            <p:extLst>
              <p:ext uri="{D42A27DB-BD31-4B8C-83A1-F6EECF244321}">
                <p14:modId xmlns:p14="http://schemas.microsoft.com/office/powerpoint/2010/main" val="1644649863"/>
              </p:ext>
            </p:extLst>
          </p:nvPr>
        </p:nvGraphicFramePr>
        <p:xfrm>
          <a:off x="640080" y="2633472"/>
          <a:ext cx="5212080" cy="35661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Rectangle: Rounded Corners 16">
            <a:extLst>
              <a:ext uri="{FF2B5EF4-FFF2-40B4-BE49-F238E27FC236}">
                <a16:creationId xmlns:a16="http://schemas.microsoft.com/office/drawing/2014/main" id="{4CCBEC2A-2E4C-BA8E-6470-467B15B8C091}"/>
              </a:ext>
            </a:extLst>
          </p:cNvPr>
          <p:cNvSpPr/>
          <p:nvPr/>
        </p:nvSpPr>
        <p:spPr>
          <a:xfrm>
            <a:off x="6339842" y="2633472"/>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18" name="Rectangle 17" descr="Checkmark">
            <a:extLst>
              <a:ext uri="{FF2B5EF4-FFF2-40B4-BE49-F238E27FC236}">
                <a16:creationId xmlns:a16="http://schemas.microsoft.com/office/drawing/2014/main" id="{14A3713D-FE18-7680-2338-419F969F88DA}"/>
              </a:ext>
            </a:extLst>
          </p:cNvPr>
          <p:cNvSpPr/>
          <p:nvPr/>
        </p:nvSpPr>
        <p:spPr>
          <a:xfrm>
            <a:off x="6466733" y="2727854"/>
            <a:ext cx="230712" cy="230712"/>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9" name="Group 18">
            <a:extLst>
              <a:ext uri="{FF2B5EF4-FFF2-40B4-BE49-F238E27FC236}">
                <a16:creationId xmlns:a16="http://schemas.microsoft.com/office/drawing/2014/main" id="{12320202-B55C-1250-888B-8A1235390D32}"/>
              </a:ext>
            </a:extLst>
          </p:cNvPr>
          <p:cNvGrpSpPr/>
          <p:nvPr/>
        </p:nvGrpSpPr>
        <p:grpSpPr>
          <a:xfrm>
            <a:off x="6824337" y="2633472"/>
            <a:ext cx="4727584" cy="419476"/>
            <a:chOff x="484495" y="304"/>
            <a:chExt cx="4727584" cy="419476"/>
          </a:xfrm>
        </p:grpSpPr>
        <p:sp>
          <p:nvSpPr>
            <p:cNvPr id="50" name="Rectangle 49">
              <a:extLst>
                <a:ext uri="{FF2B5EF4-FFF2-40B4-BE49-F238E27FC236}">
                  <a16:creationId xmlns:a16="http://schemas.microsoft.com/office/drawing/2014/main" id="{BF73BE9C-9E62-68A0-C4FF-980AB87F696B}"/>
                </a:ext>
              </a:extLst>
            </p:cNvPr>
            <p:cNvSpPr/>
            <p:nvPr/>
          </p:nvSpPr>
          <p:spPr>
            <a:xfrm>
              <a:off x="484495" y="304"/>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51" name="TextBox 50">
              <a:extLst>
                <a:ext uri="{FF2B5EF4-FFF2-40B4-BE49-F238E27FC236}">
                  <a16:creationId xmlns:a16="http://schemas.microsoft.com/office/drawing/2014/main" id="{083F4C53-B007-078E-171C-6A8F935DEA48}"/>
                </a:ext>
              </a:extLst>
            </p:cNvPr>
            <p:cNvSpPr txBox="1"/>
            <p:nvPr/>
          </p:nvSpPr>
          <p:spPr>
            <a:xfrm>
              <a:off x="484495" y="304"/>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b="1" kern="1200" dirty="0" err="1">
                  <a:solidFill>
                    <a:schemeClr val="tx1"/>
                  </a:solidFill>
                </a:rPr>
                <a:t>TopBrain</a:t>
              </a:r>
              <a:r>
                <a:rPr lang="en-US" b="1" kern="1200" dirty="0">
                  <a:solidFill>
                    <a:schemeClr val="tx1"/>
                  </a:solidFill>
                </a:rPr>
                <a:t> 2025</a:t>
              </a:r>
            </a:p>
          </p:txBody>
        </p:sp>
      </p:grpSp>
      <p:sp>
        <p:nvSpPr>
          <p:cNvPr id="20" name="Rectangle: Rounded Corners 19">
            <a:extLst>
              <a:ext uri="{FF2B5EF4-FFF2-40B4-BE49-F238E27FC236}">
                <a16:creationId xmlns:a16="http://schemas.microsoft.com/office/drawing/2014/main" id="{430D187A-D44A-1246-EDE0-2B9DD1C594D6}"/>
              </a:ext>
            </a:extLst>
          </p:cNvPr>
          <p:cNvSpPr/>
          <p:nvPr/>
        </p:nvSpPr>
        <p:spPr>
          <a:xfrm>
            <a:off x="6339842" y="3157818"/>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21" name="Rectangle 20" descr="Bar chart">
            <a:extLst>
              <a:ext uri="{FF2B5EF4-FFF2-40B4-BE49-F238E27FC236}">
                <a16:creationId xmlns:a16="http://schemas.microsoft.com/office/drawing/2014/main" id="{C9616D58-3A41-BF5E-2D61-AB21EC5B5C85}"/>
              </a:ext>
            </a:extLst>
          </p:cNvPr>
          <p:cNvSpPr/>
          <p:nvPr/>
        </p:nvSpPr>
        <p:spPr>
          <a:xfrm>
            <a:off x="6466733" y="3252200"/>
            <a:ext cx="230712" cy="230712"/>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22" name="Group 21">
            <a:extLst>
              <a:ext uri="{FF2B5EF4-FFF2-40B4-BE49-F238E27FC236}">
                <a16:creationId xmlns:a16="http://schemas.microsoft.com/office/drawing/2014/main" id="{8CAA067B-3E51-0156-11AE-EDC4F0CA703F}"/>
              </a:ext>
            </a:extLst>
          </p:cNvPr>
          <p:cNvGrpSpPr/>
          <p:nvPr/>
        </p:nvGrpSpPr>
        <p:grpSpPr>
          <a:xfrm>
            <a:off x="6824337" y="3157818"/>
            <a:ext cx="4727584" cy="419476"/>
            <a:chOff x="484495" y="524650"/>
            <a:chExt cx="4727584" cy="419476"/>
          </a:xfrm>
        </p:grpSpPr>
        <p:sp>
          <p:nvSpPr>
            <p:cNvPr id="48" name="Rectangle 47">
              <a:extLst>
                <a:ext uri="{FF2B5EF4-FFF2-40B4-BE49-F238E27FC236}">
                  <a16:creationId xmlns:a16="http://schemas.microsoft.com/office/drawing/2014/main" id="{C6E8E0C1-07F7-A231-744F-BB798B075C76}"/>
                </a:ext>
              </a:extLst>
            </p:cNvPr>
            <p:cNvSpPr/>
            <p:nvPr/>
          </p:nvSpPr>
          <p:spPr>
            <a:xfrm>
              <a:off x="484495" y="524650"/>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9" name="TextBox 48">
              <a:extLst>
                <a:ext uri="{FF2B5EF4-FFF2-40B4-BE49-F238E27FC236}">
                  <a16:creationId xmlns:a16="http://schemas.microsoft.com/office/drawing/2014/main" id="{2F48DDE5-83FA-4C69-BA27-6B888BEA7882}"/>
                </a:ext>
              </a:extLst>
            </p:cNvPr>
            <p:cNvSpPr txBox="1"/>
            <p:nvPr/>
          </p:nvSpPr>
          <p:spPr>
            <a:xfrm>
              <a:off x="484495" y="524650"/>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dirty="0"/>
                <a:t>Extended Annotations – Same Scans </a:t>
              </a:r>
              <a:endParaRPr lang="en-US" sz="1400" kern="1200" dirty="0"/>
            </a:p>
          </p:txBody>
        </p:sp>
      </p:grpSp>
      <p:sp>
        <p:nvSpPr>
          <p:cNvPr id="23" name="Rectangle: Rounded Corners 22">
            <a:extLst>
              <a:ext uri="{FF2B5EF4-FFF2-40B4-BE49-F238E27FC236}">
                <a16:creationId xmlns:a16="http://schemas.microsoft.com/office/drawing/2014/main" id="{EE631422-F415-37C2-2F6B-F458E903ADD7}"/>
              </a:ext>
            </a:extLst>
          </p:cNvPr>
          <p:cNvSpPr/>
          <p:nvPr/>
        </p:nvSpPr>
        <p:spPr>
          <a:xfrm>
            <a:off x="6339842" y="3682164"/>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24" name="Rectangle 23" descr="User">
            <a:extLst>
              <a:ext uri="{FF2B5EF4-FFF2-40B4-BE49-F238E27FC236}">
                <a16:creationId xmlns:a16="http://schemas.microsoft.com/office/drawing/2014/main" id="{B4AF4B73-B6DA-865C-A679-93299D30D7E9}"/>
              </a:ext>
            </a:extLst>
          </p:cNvPr>
          <p:cNvSpPr/>
          <p:nvPr/>
        </p:nvSpPr>
        <p:spPr>
          <a:xfrm>
            <a:off x="6466733" y="3776546"/>
            <a:ext cx="230712" cy="230712"/>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25" name="Group 24">
            <a:extLst>
              <a:ext uri="{FF2B5EF4-FFF2-40B4-BE49-F238E27FC236}">
                <a16:creationId xmlns:a16="http://schemas.microsoft.com/office/drawing/2014/main" id="{497C5D20-34F3-32EB-A17F-323D8F38DD50}"/>
              </a:ext>
            </a:extLst>
          </p:cNvPr>
          <p:cNvGrpSpPr/>
          <p:nvPr/>
        </p:nvGrpSpPr>
        <p:grpSpPr>
          <a:xfrm>
            <a:off x="6824337" y="3682164"/>
            <a:ext cx="4727584" cy="419476"/>
            <a:chOff x="484495" y="1048996"/>
            <a:chExt cx="4727584" cy="419476"/>
          </a:xfrm>
        </p:grpSpPr>
        <p:sp>
          <p:nvSpPr>
            <p:cNvPr id="46" name="Rectangle 45">
              <a:extLst>
                <a:ext uri="{FF2B5EF4-FFF2-40B4-BE49-F238E27FC236}">
                  <a16:creationId xmlns:a16="http://schemas.microsoft.com/office/drawing/2014/main" id="{FD9A37C0-3BF4-4242-5366-170546DD8CE9}"/>
                </a:ext>
              </a:extLst>
            </p:cNvPr>
            <p:cNvSpPr/>
            <p:nvPr/>
          </p:nvSpPr>
          <p:spPr>
            <a:xfrm>
              <a:off x="484495" y="1048996"/>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7" name="TextBox 46">
              <a:extLst>
                <a:ext uri="{FF2B5EF4-FFF2-40B4-BE49-F238E27FC236}">
                  <a16:creationId xmlns:a16="http://schemas.microsoft.com/office/drawing/2014/main" id="{EBC042BA-4026-DB7C-3EAF-E929DC4F02E4}"/>
                </a:ext>
              </a:extLst>
            </p:cNvPr>
            <p:cNvSpPr txBox="1"/>
            <p:nvPr/>
          </p:nvSpPr>
          <p:spPr>
            <a:xfrm>
              <a:off x="484495" y="1048996"/>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dirty="0"/>
                <a:t>25 CTA V</a:t>
              </a:r>
              <a:r>
                <a:rPr lang="en-US" sz="1400" b="1" dirty="0"/>
                <a:t>olumes (same scans as </a:t>
              </a:r>
              <a:r>
                <a:rPr lang="en-US" sz="1400" b="1" dirty="0" err="1"/>
                <a:t>TopCow</a:t>
              </a:r>
              <a:r>
                <a:rPr lang="en-US" sz="1400" b="1" dirty="0"/>
                <a:t> subset) </a:t>
              </a:r>
              <a:endParaRPr lang="en-US" sz="1400" kern="1200" dirty="0"/>
            </a:p>
          </p:txBody>
        </p:sp>
      </p:grpSp>
      <p:sp>
        <p:nvSpPr>
          <p:cNvPr id="26" name="Rectangle: Rounded Corners 25">
            <a:extLst>
              <a:ext uri="{FF2B5EF4-FFF2-40B4-BE49-F238E27FC236}">
                <a16:creationId xmlns:a16="http://schemas.microsoft.com/office/drawing/2014/main" id="{EC5A5AAB-4A4D-9311-A975-BDB31D8B54D6}"/>
              </a:ext>
            </a:extLst>
          </p:cNvPr>
          <p:cNvSpPr/>
          <p:nvPr/>
        </p:nvSpPr>
        <p:spPr>
          <a:xfrm>
            <a:off x="6339842" y="4206509"/>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27" name="Rectangle 26" descr="Pencil">
            <a:extLst>
              <a:ext uri="{FF2B5EF4-FFF2-40B4-BE49-F238E27FC236}">
                <a16:creationId xmlns:a16="http://schemas.microsoft.com/office/drawing/2014/main" id="{912D71F7-1A9D-1EBA-533A-7A31EDC00E93}"/>
              </a:ext>
            </a:extLst>
          </p:cNvPr>
          <p:cNvSpPr/>
          <p:nvPr/>
        </p:nvSpPr>
        <p:spPr>
          <a:xfrm>
            <a:off x="6466733" y="4300891"/>
            <a:ext cx="230712" cy="230712"/>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28" name="Group 27">
            <a:extLst>
              <a:ext uri="{FF2B5EF4-FFF2-40B4-BE49-F238E27FC236}">
                <a16:creationId xmlns:a16="http://schemas.microsoft.com/office/drawing/2014/main" id="{232214DE-09C2-4CAA-336C-C350F449B6C2}"/>
              </a:ext>
            </a:extLst>
          </p:cNvPr>
          <p:cNvGrpSpPr/>
          <p:nvPr/>
        </p:nvGrpSpPr>
        <p:grpSpPr>
          <a:xfrm>
            <a:off x="6824337" y="4206509"/>
            <a:ext cx="4727584" cy="419476"/>
            <a:chOff x="484495" y="1573341"/>
            <a:chExt cx="4727584" cy="419476"/>
          </a:xfrm>
        </p:grpSpPr>
        <p:sp>
          <p:nvSpPr>
            <p:cNvPr id="44" name="Rectangle 43">
              <a:extLst>
                <a:ext uri="{FF2B5EF4-FFF2-40B4-BE49-F238E27FC236}">
                  <a16:creationId xmlns:a16="http://schemas.microsoft.com/office/drawing/2014/main" id="{AE4FECD5-9BC1-5B50-2EEF-85FD8125B3DF}"/>
                </a:ext>
              </a:extLst>
            </p:cNvPr>
            <p:cNvSpPr/>
            <p:nvPr/>
          </p:nvSpPr>
          <p:spPr>
            <a:xfrm>
              <a:off x="484495" y="1573341"/>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5" name="TextBox 44">
              <a:extLst>
                <a:ext uri="{FF2B5EF4-FFF2-40B4-BE49-F238E27FC236}">
                  <a16:creationId xmlns:a16="http://schemas.microsoft.com/office/drawing/2014/main" id="{B1320320-7D85-9A96-5D95-BD410C20BF0C}"/>
                </a:ext>
              </a:extLst>
            </p:cNvPr>
            <p:cNvSpPr txBox="1"/>
            <p:nvPr/>
          </p:nvSpPr>
          <p:spPr>
            <a:xfrm>
              <a:off x="484495" y="1573341"/>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dirty="0"/>
                <a:t>40 vessel classes – 2x more coverage </a:t>
              </a:r>
              <a:endParaRPr lang="en-US" sz="1400" kern="1200" dirty="0"/>
            </a:p>
          </p:txBody>
        </p:sp>
      </p:grpSp>
      <p:sp>
        <p:nvSpPr>
          <p:cNvPr id="29" name="Rectangle: Rounded Corners 28">
            <a:extLst>
              <a:ext uri="{FF2B5EF4-FFF2-40B4-BE49-F238E27FC236}">
                <a16:creationId xmlns:a16="http://schemas.microsoft.com/office/drawing/2014/main" id="{AE2690B9-33D0-8D69-D80A-CEB1654B15F1}"/>
              </a:ext>
            </a:extLst>
          </p:cNvPr>
          <p:cNvSpPr/>
          <p:nvPr/>
        </p:nvSpPr>
        <p:spPr>
          <a:xfrm>
            <a:off x="6339842" y="4730855"/>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0" name="Rectangle 29" descr="Train">
            <a:extLst>
              <a:ext uri="{FF2B5EF4-FFF2-40B4-BE49-F238E27FC236}">
                <a16:creationId xmlns:a16="http://schemas.microsoft.com/office/drawing/2014/main" id="{803F864F-AE65-DAFA-6E59-3A60B38FCDA1}"/>
              </a:ext>
            </a:extLst>
          </p:cNvPr>
          <p:cNvSpPr/>
          <p:nvPr/>
        </p:nvSpPr>
        <p:spPr>
          <a:xfrm>
            <a:off x="6466733" y="4825237"/>
            <a:ext cx="230712" cy="230712"/>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31" name="Group 30">
            <a:extLst>
              <a:ext uri="{FF2B5EF4-FFF2-40B4-BE49-F238E27FC236}">
                <a16:creationId xmlns:a16="http://schemas.microsoft.com/office/drawing/2014/main" id="{095B771C-D546-E25E-E9B3-50FBB7FE29A0}"/>
              </a:ext>
            </a:extLst>
          </p:cNvPr>
          <p:cNvGrpSpPr/>
          <p:nvPr/>
        </p:nvGrpSpPr>
        <p:grpSpPr>
          <a:xfrm>
            <a:off x="6824337" y="4730855"/>
            <a:ext cx="4727584" cy="419476"/>
            <a:chOff x="484495" y="2097687"/>
            <a:chExt cx="4727584" cy="419476"/>
          </a:xfrm>
        </p:grpSpPr>
        <p:sp>
          <p:nvSpPr>
            <p:cNvPr id="42" name="Rectangle 41">
              <a:extLst>
                <a:ext uri="{FF2B5EF4-FFF2-40B4-BE49-F238E27FC236}">
                  <a16:creationId xmlns:a16="http://schemas.microsoft.com/office/drawing/2014/main" id="{287A5A36-43C5-CA2F-FB5E-2E3D97D4EFB1}"/>
                </a:ext>
              </a:extLst>
            </p:cNvPr>
            <p:cNvSpPr/>
            <p:nvPr/>
          </p:nvSpPr>
          <p:spPr>
            <a:xfrm>
              <a:off x="484495" y="2097687"/>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3" name="TextBox 42">
              <a:extLst>
                <a:ext uri="{FF2B5EF4-FFF2-40B4-BE49-F238E27FC236}">
                  <a16:creationId xmlns:a16="http://schemas.microsoft.com/office/drawing/2014/main" id="{DB365703-DF8D-0BCA-96D9-16B8933ECE77}"/>
                </a:ext>
              </a:extLst>
            </p:cNvPr>
            <p:cNvSpPr txBox="1"/>
            <p:nvPr/>
          </p:nvSpPr>
          <p:spPr>
            <a:xfrm>
              <a:off x="484495" y="2097687"/>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dirty="0"/>
                <a:t>New: </a:t>
              </a:r>
              <a:r>
                <a:rPr lang="en-US" sz="1400" dirty="0"/>
                <a:t>Distal branches, posterior fossa, small arteries, venous sinuses </a:t>
              </a:r>
              <a:endParaRPr lang="en-US" sz="1400" kern="1200" dirty="0"/>
            </a:p>
          </p:txBody>
        </p:sp>
      </p:grpSp>
      <p:sp>
        <p:nvSpPr>
          <p:cNvPr id="32" name="Rectangle: Rounded Corners 31">
            <a:extLst>
              <a:ext uri="{FF2B5EF4-FFF2-40B4-BE49-F238E27FC236}">
                <a16:creationId xmlns:a16="http://schemas.microsoft.com/office/drawing/2014/main" id="{43C7A4A9-B7C2-D2B8-0AC2-17578C1EB78D}"/>
              </a:ext>
            </a:extLst>
          </p:cNvPr>
          <p:cNvSpPr/>
          <p:nvPr/>
        </p:nvSpPr>
        <p:spPr>
          <a:xfrm>
            <a:off x="6339842" y="5255201"/>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3" name="Rectangle 32" descr="Doctor">
            <a:extLst>
              <a:ext uri="{FF2B5EF4-FFF2-40B4-BE49-F238E27FC236}">
                <a16:creationId xmlns:a16="http://schemas.microsoft.com/office/drawing/2014/main" id="{82DE4DE5-1E65-B01F-8E56-1E76DFB5B528}"/>
              </a:ext>
            </a:extLst>
          </p:cNvPr>
          <p:cNvSpPr/>
          <p:nvPr/>
        </p:nvSpPr>
        <p:spPr>
          <a:xfrm>
            <a:off x="6466733" y="5349583"/>
            <a:ext cx="230712" cy="230712"/>
          </a:xfrm>
          <a:prstGeom prst="rect">
            <a:avLst/>
          </a:prstGeom>
          <a: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34" name="Group 33">
            <a:extLst>
              <a:ext uri="{FF2B5EF4-FFF2-40B4-BE49-F238E27FC236}">
                <a16:creationId xmlns:a16="http://schemas.microsoft.com/office/drawing/2014/main" id="{D5131222-4B24-44DC-82BD-87DBB52857D0}"/>
              </a:ext>
            </a:extLst>
          </p:cNvPr>
          <p:cNvGrpSpPr/>
          <p:nvPr/>
        </p:nvGrpSpPr>
        <p:grpSpPr>
          <a:xfrm>
            <a:off x="6824337" y="5255201"/>
            <a:ext cx="4727584" cy="419476"/>
            <a:chOff x="484495" y="2622033"/>
            <a:chExt cx="4727584" cy="419476"/>
          </a:xfrm>
        </p:grpSpPr>
        <p:sp>
          <p:nvSpPr>
            <p:cNvPr id="40" name="Rectangle 39">
              <a:extLst>
                <a:ext uri="{FF2B5EF4-FFF2-40B4-BE49-F238E27FC236}">
                  <a16:creationId xmlns:a16="http://schemas.microsoft.com/office/drawing/2014/main" id="{D2442F28-ACA6-E313-8E23-DC8D4D816032}"/>
                </a:ext>
              </a:extLst>
            </p:cNvPr>
            <p:cNvSpPr/>
            <p:nvPr/>
          </p:nvSpPr>
          <p:spPr>
            <a:xfrm>
              <a:off x="484495" y="2622033"/>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41" name="TextBox 40">
              <a:extLst>
                <a:ext uri="{FF2B5EF4-FFF2-40B4-BE49-F238E27FC236}">
                  <a16:creationId xmlns:a16="http://schemas.microsoft.com/office/drawing/2014/main" id="{9136B217-84ED-3897-6AB8-4E656719CB67}"/>
                </a:ext>
              </a:extLst>
            </p:cNvPr>
            <p:cNvSpPr txBox="1"/>
            <p:nvPr/>
          </p:nvSpPr>
          <p:spPr>
            <a:xfrm>
              <a:off x="484495" y="2622033"/>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dirty="0"/>
                <a:t>Binarized:</a:t>
              </a:r>
              <a:r>
                <a:rPr lang="en-US" sz="1400" dirty="0"/>
                <a:t> GT covers far more vasculature </a:t>
              </a:r>
              <a:endParaRPr lang="en-US" sz="1400" b="1" kern="1200" dirty="0"/>
            </a:p>
          </p:txBody>
        </p:sp>
      </p:grpSp>
      <p:sp>
        <p:nvSpPr>
          <p:cNvPr id="35" name="Rectangle: Rounded Corners 34">
            <a:extLst>
              <a:ext uri="{FF2B5EF4-FFF2-40B4-BE49-F238E27FC236}">
                <a16:creationId xmlns:a16="http://schemas.microsoft.com/office/drawing/2014/main" id="{806521F4-F01A-922C-7F5C-9D6118BCFA3D}"/>
              </a:ext>
            </a:extLst>
          </p:cNvPr>
          <p:cNvSpPr/>
          <p:nvPr/>
        </p:nvSpPr>
        <p:spPr>
          <a:xfrm>
            <a:off x="6339842" y="5779546"/>
            <a:ext cx="5212080" cy="41947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6" name="Rectangle 35" descr="Programmer">
            <a:extLst>
              <a:ext uri="{FF2B5EF4-FFF2-40B4-BE49-F238E27FC236}">
                <a16:creationId xmlns:a16="http://schemas.microsoft.com/office/drawing/2014/main" id="{318B5318-FFE7-41A6-40FD-2FA3D409E4D7}"/>
              </a:ext>
            </a:extLst>
          </p:cNvPr>
          <p:cNvSpPr/>
          <p:nvPr/>
        </p:nvSpPr>
        <p:spPr>
          <a:xfrm>
            <a:off x="6466733" y="5873928"/>
            <a:ext cx="230712" cy="230712"/>
          </a:xfrm>
          <a:prstGeom prst="rect">
            <a:avLst/>
          </a:prstGeom>
          <a: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37" name="Group 36">
            <a:extLst>
              <a:ext uri="{FF2B5EF4-FFF2-40B4-BE49-F238E27FC236}">
                <a16:creationId xmlns:a16="http://schemas.microsoft.com/office/drawing/2014/main" id="{F89EEDB8-B913-A859-9C9B-ED786F826FF5}"/>
              </a:ext>
            </a:extLst>
          </p:cNvPr>
          <p:cNvGrpSpPr/>
          <p:nvPr/>
        </p:nvGrpSpPr>
        <p:grpSpPr>
          <a:xfrm>
            <a:off x="6824337" y="5779546"/>
            <a:ext cx="4727584" cy="419476"/>
            <a:chOff x="484495" y="3146378"/>
            <a:chExt cx="4727584" cy="419476"/>
          </a:xfrm>
        </p:grpSpPr>
        <p:sp>
          <p:nvSpPr>
            <p:cNvPr id="38" name="Rectangle 37">
              <a:extLst>
                <a:ext uri="{FF2B5EF4-FFF2-40B4-BE49-F238E27FC236}">
                  <a16:creationId xmlns:a16="http://schemas.microsoft.com/office/drawing/2014/main" id="{680AD66E-1ABB-2E5A-BA8D-9990958E0EA5}"/>
                </a:ext>
              </a:extLst>
            </p:cNvPr>
            <p:cNvSpPr/>
            <p:nvPr/>
          </p:nvSpPr>
          <p:spPr>
            <a:xfrm>
              <a:off x="484495" y="3146378"/>
              <a:ext cx="4727584" cy="41947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9" name="TextBox 38">
              <a:extLst>
                <a:ext uri="{FF2B5EF4-FFF2-40B4-BE49-F238E27FC236}">
                  <a16:creationId xmlns:a16="http://schemas.microsoft.com/office/drawing/2014/main" id="{F80185A5-AD0F-F27C-6E18-E524CC35AE3A}"/>
                </a:ext>
              </a:extLst>
            </p:cNvPr>
            <p:cNvSpPr txBox="1"/>
            <p:nvPr/>
          </p:nvSpPr>
          <p:spPr>
            <a:xfrm>
              <a:off x="484495" y="3146378"/>
              <a:ext cx="4727584" cy="41947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4395" tIns="44395" rIns="44395" bIns="44395" numCol="1" spcCol="1270" anchor="ctr" anchorCtr="0">
              <a:noAutofit/>
            </a:bodyPr>
            <a:lstStyle/>
            <a:p>
              <a:pPr marL="0" lvl="0" indent="0" algn="l" defTabSz="622300">
                <a:lnSpc>
                  <a:spcPct val="100000"/>
                </a:lnSpc>
                <a:spcBef>
                  <a:spcPct val="0"/>
                </a:spcBef>
                <a:spcAft>
                  <a:spcPct val="35000"/>
                </a:spcAft>
                <a:buNone/>
              </a:pPr>
              <a:r>
                <a:rPr lang="en-US" sz="1400" b="1" kern="1200" dirty="0"/>
                <a:t>Used for</a:t>
              </a:r>
              <a:r>
                <a:rPr lang="en-US" sz="1400" b="1" dirty="0"/>
                <a:t>: </a:t>
              </a:r>
              <a:r>
                <a:rPr lang="en-US" sz="1400" dirty="0"/>
                <a:t>Fine tuning and transfer evaluation </a:t>
              </a:r>
              <a:endParaRPr lang="en-US" sz="1400" kern="1200" dirty="0"/>
            </a:p>
          </p:txBody>
        </p:sp>
      </p:grpSp>
    </p:spTree>
    <p:extLst>
      <p:ext uri="{BB962C8B-B14F-4D97-AF65-F5344CB8AC3E}">
        <p14:creationId xmlns:p14="http://schemas.microsoft.com/office/powerpoint/2010/main" val="1656684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9" name="Straight Connector 7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34" name="Rectangle 7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9E8CAA-27D7-A456-1760-6802232D4D80}"/>
              </a:ext>
            </a:extLst>
          </p:cNvPr>
          <p:cNvSpPr>
            <a:spLocks noGrp="1"/>
          </p:cNvSpPr>
          <p:nvPr>
            <p:ph type="title"/>
          </p:nvPr>
        </p:nvSpPr>
        <p:spPr>
          <a:xfrm>
            <a:off x="9049623" y="398606"/>
            <a:ext cx="2811879" cy="1807048"/>
          </a:xfrm>
        </p:spPr>
        <p:txBody>
          <a:bodyPr vert="horz" lIns="91440" tIns="45720" rIns="91440" bIns="45720" rtlCol="0" anchor="b">
            <a:normAutofit/>
          </a:bodyPr>
          <a:lstStyle/>
          <a:p>
            <a:r>
              <a:rPr lang="en-US" dirty="0"/>
              <a:t>Architecture: 3D U-Net</a:t>
            </a:r>
          </a:p>
        </p:txBody>
      </p:sp>
      <p:pic>
        <p:nvPicPr>
          <p:cNvPr id="6" name="Picture Placeholder 5" descr="A screenshot of a computer&#10;&#10;Description automatically generated">
            <a:extLst>
              <a:ext uri="{FF2B5EF4-FFF2-40B4-BE49-F238E27FC236}">
                <a16:creationId xmlns:a16="http://schemas.microsoft.com/office/drawing/2014/main" id="{AD37780A-4B7E-5B1F-ED44-626D5E36DBF4}"/>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11089" r="9383" b="2"/>
          <a:stretch>
            <a:fillRect/>
          </a:stretch>
        </p:blipFill>
        <p:spPr>
          <a:xfrm>
            <a:off x="17784" y="184679"/>
            <a:ext cx="8701341" cy="6359239"/>
          </a:xfrm>
          <a:prstGeom prst="rect">
            <a:avLst/>
          </a:prstGeom>
        </p:spPr>
      </p:pic>
      <p:cxnSp>
        <p:nvCxnSpPr>
          <p:cNvPr id="139" name="Straight Connector 74">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155FAEEE-E9D1-B4D5-292E-CEFE24456F0E}"/>
              </a:ext>
            </a:extLst>
          </p:cNvPr>
          <p:cNvSpPr>
            <a:spLocks noGrp="1"/>
          </p:cNvSpPr>
          <p:nvPr>
            <p:ph type="body" sz="half" idx="2"/>
          </p:nvPr>
        </p:nvSpPr>
        <p:spPr>
          <a:xfrm>
            <a:off x="8736909" y="2338578"/>
            <a:ext cx="3437307" cy="3621295"/>
          </a:xfrm>
        </p:spPr>
        <p:txBody>
          <a:bodyPr vert="horz" lIns="91440" tIns="45720" rIns="91440" bIns="45720" rtlCol="0" anchor="t">
            <a:normAutofit fontScale="92500" lnSpcReduction="10000"/>
          </a:bodyPr>
          <a:lstStyle/>
          <a:p>
            <a:pPr>
              <a:lnSpc>
                <a:spcPct val="110000"/>
              </a:lnSpc>
              <a:buFont typeface="Arial" panose="020B0604020202020204" pitchFamily="34" charset="0"/>
              <a:buChar char="•"/>
            </a:pPr>
            <a:r>
              <a:rPr lang="en-US" sz="1400" b="1" dirty="0"/>
              <a:t> </a:t>
            </a:r>
            <a:r>
              <a:rPr lang="en-US" sz="1400" b="1" dirty="0">
                <a:solidFill>
                  <a:schemeClr val="accent1"/>
                </a:solidFill>
              </a:rPr>
              <a:t>Encoder</a:t>
            </a:r>
            <a:r>
              <a:rPr lang="en-US" sz="1400" b="1" dirty="0"/>
              <a:t> </a:t>
            </a:r>
            <a:r>
              <a:rPr lang="en-US" sz="1400" dirty="0"/>
              <a:t>5 stages: 32 → 64 → 128 → 256 → 512 </a:t>
            </a:r>
            <a:r>
              <a:rPr lang="en-US" sz="1400" dirty="0" err="1"/>
              <a:t>ch</a:t>
            </a:r>
            <a:endParaRPr lang="en-US" sz="1400" dirty="0"/>
          </a:p>
          <a:p>
            <a:pPr>
              <a:lnSpc>
                <a:spcPct val="110000"/>
              </a:lnSpc>
              <a:buFont typeface="Arial" panose="020B0604020202020204" pitchFamily="34" charset="0"/>
              <a:buChar char="•"/>
            </a:pPr>
            <a:r>
              <a:rPr lang="en-US" sz="1400" b="1" dirty="0">
                <a:solidFill>
                  <a:schemeClr val="accent1"/>
                </a:solidFill>
              </a:rPr>
              <a:t>Blocks</a:t>
            </a:r>
            <a:r>
              <a:rPr lang="en-US" sz="1400" b="1" dirty="0"/>
              <a:t>: 2x Conv3D(3</a:t>
            </a:r>
            <a:r>
              <a:rPr lang="en-US" sz="1400" b="1" baseline="30000" dirty="0"/>
              <a:t>3</a:t>
            </a:r>
            <a:r>
              <a:rPr lang="en-US" sz="1400" b="1" dirty="0"/>
              <a:t>) + </a:t>
            </a:r>
            <a:r>
              <a:rPr lang="en-US" sz="1400" b="1" dirty="0" err="1"/>
              <a:t>InstanceNorm</a:t>
            </a:r>
            <a:r>
              <a:rPr lang="en-US" sz="1400" b="1" dirty="0"/>
              <a:t> + </a:t>
            </a:r>
            <a:r>
              <a:rPr lang="en-US" sz="1400" b="1" dirty="0" err="1"/>
              <a:t>LeakyReLU</a:t>
            </a:r>
            <a:r>
              <a:rPr lang="en-US" sz="1400" b="1" dirty="0"/>
              <a:t> (α=0.01) + residual </a:t>
            </a:r>
            <a:endParaRPr lang="en-US" sz="1400" b="1" baseline="30000" dirty="0"/>
          </a:p>
          <a:p>
            <a:pPr>
              <a:lnSpc>
                <a:spcPct val="110000"/>
              </a:lnSpc>
              <a:buFont typeface="Arial" panose="020B0604020202020204" pitchFamily="34" charset="0"/>
              <a:buChar char="•"/>
            </a:pPr>
            <a:r>
              <a:rPr lang="en-US" sz="1400" b="1" dirty="0" err="1">
                <a:solidFill>
                  <a:schemeClr val="accent1"/>
                </a:solidFill>
              </a:rPr>
              <a:t>DownSampling</a:t>
            </a:r>
            <a:r>
              <a:rPr lang="en-US" sz="1400" b="1" dirty="0"/>
              <a:t>: </a:t>
            </a:r>
            <a:r>
              <a:rPr lang="en-US" sz="1400" b="1" dirty="0" err="1"/>
              <a:t>Strided</a:t>
            </a:r>
            <a:r>
              <a:rPr lang="en-US" sz="1400" b="1" dirty="0"/>
              <a:t> 2</a:t>
            </a:r>
            <a:r>
              <a:rPr lang="en-US" sz="1400" b="1" baseline="30000" dirty="0"/>
              <a:t>3 </a:t>
            </a:r>
            <a:r>
              <a:rPr lang="en-US" sz="1400" b="1" dirty="0"/>
              <a:t>convolutions (learnable, no max-pool)</a:t>
            </a:r>
          </a:p>
          <a:p>
            <a:pPr>
              <a:lnSpc>
                <a:spcPct val="110000"/>
              </a:lnSpc>
              <a:buFont typeface="Arial" panose="020B0604020202020204" pitchFamily="34" charset="0"/>
              <a:buChar char="•"/>
            </a:pPr>
            <a:r>
              <a:rPr lang="en-US" sz="1400" b="1" dirty="0" err="1">
                <a:solidFill>
                  <a:schemeClr val="accent1"/>
                </a:solidFill>
              </a:rPr>
              <a:t>Upsampling</a:t>
            </a:r>
            <a:r>
              <a:rPr lang="en-US" sz="1400" b="1" dirty="0"/>
              <a:t>: Transposed convolutions + skip connections (</a:t>
            </a:r>
            <a:r>
              <a:rPr lang="en-US" sz="1400" b="1" dirty="0" err="1"/>
              <a:t>concat</a:t>
            </a:r>
            <a:r>
              <a:rPr lang="en-US" sz="1400" b="1" dirty="0"/>
              <a:t>) </a:t>
            </a:r>
          </a:p>
          <a:p>
            <a:pPr>
              <a:lnSpc>
                <a:spcPct val="110000"/>
              </a:lnSpc>
              <a:buFont typeface="Arial" panose="020B0604020202020204" pitchFamily="34" charset="0"/>
              <a:buChar char="•"/>
            </a:pPr>
            <a:r>
              <a:rPr lang="en-US" sz="1400" b="1" dirty="0">
                <a:solidFill>
                  <a:schemeClr val="accent1"/>
                </a:solidFill>
              </a:rPr>
              <a:t>Deep Supervision</a:t>
            </a:r>
            <a:r>
              <a:rPr lang="en-US" sz="1400" b="1" dirty="0"/>
              <a:t>: 1x1 heads at each decoder level, weights: 1.0, 0.5, 0.25, 0.125</a:t>
            </a:r>
          </a:p>
          <a:p>
            <a:pPr>
              <a:lnSpc>
                <a:spcPct val="110000"/>
              </a:lnSpc>
              <a:buFont typeface="Arial" panose="020B0604020202020204" pitchFamily="34" charset="0"/>
              <a:buChar char="•"/>
            </a:pPr>
            <a:r>
              <a:rPr lang="en-US" sz="1400" b="1" dirty="0">
                <a:solidFill>
                  <a:schemeClr val="accent1"/>
                </a:solidFill>
              </a:rPr>
              <a:t>Parameters</a:t>
            </a:r>
            <a:r>
              <a:rPr lang="en-US" sz="1400" b="1" dirty="0"/>
              <a:t>: 24.9M (</a:t>
            </a:r>
            <a:r>
              <a:rPr lang="en-US" sz="1400" b="1" dirty="0" err="1"/>
              <a:t>Kaiming</a:t>
            </a:r>
            <a:r>
              <a:rPr lang="en-US" sz="1400" b="1" dirty="0"/>
              <a:t> normal </a:t>
            </a:r>
            <a:r>
              <a:rPr lang="en-US" sz="1400" b="1" dirty="0" err="1"/>
              <a:t>init</a:t>
            </a:r>
            <a:r>
              <a:rPr lang="en-US" sz="1400" b="1" dirty="0"/>
              <a:t>)</a:t>
            </a:r>
          </a:p>
          <a:p>
            <a:pPr>
              <a:lnSpc>
                <a:spcPct val="110000"/>
              </a:lnSpc>
              <a:buFont typeface="Arial" panose="020B0604020202020204" pitchFamily="34" charset="0"/>
              <a:buChar char="•"/>
            </a:pPr>
            <a:r>
              <a:rPr lang="en-US" sz="1400" b="1" dirty="0">
                <a:solidFill>
                  <a:schemeClr val="accent1"/>
                </a:solidFill>
              </a:rPr>
              <a:t>Design</a:t>
            </a:r>
            <a:r>
              <a:rPr lang="en-US" sz="1400" b="1" dirty="0"/>
              <a:t>: </a:t>
            </a:r>
            <a:r>
              <a:rPr lang="en-US" sz="1400" b="1" dirty="0" err="1"/>
              <a:t>nnU</a:t>
            </a:r>
            <a:r>
              <a:rPr lang="en-US" sz="1400" b="1" dirty="0"/>
              <a:t>-Net philosophy (</a:t>
            </a:r>
            <a:r>
              <a:rPr lang="en-US" sz="1400" b="1" dirty="0" err="1"/>
              <a:t>Isensee</a:t>
            </a:r>
            <a:r>
              <a:rPr lang="en-US" sz="1400" b="1" dirty="0"/>
              <a:t> et al., 2021) </a:t>
            </a:r>
          </a:p>
        </p:txBody>
      </p:sp>
      <p:sp>
        <p:nvSpPr>
          <p:cNvPr id="144" name="Shape 24">
            <a:extLst>
              <a:ext uri="{FF2B5EF4-FFF2-40B4-BE49-F238E27FC236}">
                <a16:creationId xmlns:a16="http://schemas.microsoft.com/office/drawing/2014/main" id="{D2DE2655-6BCE-FB7C-5756-0CF301E6631B}"/>
              </a:ext>
            </a:extLst>
          </p:cNvPr>
          <p:cNvSpPr/>
          <p:nvPr/>
        </p:nvSpPr>
        <p:spPr>
          <a:xfrm>
            <a:off x="-2" y="6281530"/>
            <a:ext cx="12192002" cy="582427"/>
          </a:xfrm>
          <a:prstGeom prst="rect">
            <a:avLst/>
          </a:prstGeom>
          <a:solidFill>
            <a:srgbClr val="EDF2F7"/>
          </a:solidFill>
          <a:ln/>
        </p:spPr>
        <p:txBody>
          <a:bodyPr/>
          <a:lstStyle/>
          <a:p>
            <a:endParaRPr lang="en-US"/>
          </a:p>
        </p:txBody>
      </p:sp>
      <p:sp>
        <p:nvSpPr>
          <p:cNvPr id="150" name="Text 25">
            <a:extLst>
              <a:ext uri="{FF2B5EF4-FFF2-40B4-BE49-F238E27FC236}">
                <a16:creationId xmlns:a16="http://schemas.microsoft.com/office/drawing/2014/main" id="{276AD60C-0B0F-C6FE-18DD-BC7D562BA77C}"/>
              </a:ext>
            </a:extLst>
          </p:cNvPr>
          <p:cNvSpPr/>
          <p:nvPr/>
        </p:nvSpPr>
        <p:spPr>
          <a:xfrm>
            <a:off x="713232" y="6328966"/>
            <a:ext cx="10132797" cy="499223"/>
          </a:xfrm>
          <a:prstGeom prst="rect">
            <a:avLst/>
          </a:prstGeom>
          <a:noFill/>
          <a:ln/>
        </p:spPr>
        <p:txBody>
          <a:bodyPr wrap="square" rtlCol="0" anchor="ctr"/>
          <a:lstStyle/>
          <a:p>
            <a:pPr marL="0" indent="0" algn="ctr">
              <a:buNone/>
            </a:pPr>
            <a:r>
              <a:rPr lang="en-US" sz="1600" b="1" dirty="0">
                <a:solidFill>
                  <a:srgbClr val="64748B"/>
                </a:solidFill>
                <a:latin typeface="+mj-lt"/>
                <a:ea typeface="Calibri" pitchFamily="34" charset="-122"/>
                <a:cs typeface="Calibri" pitchFamily="34" charset="-120"/>
              </a:rPr>
              <a:t>Why 3D U-Net?  Strongest controlled baseline — any performance difference attributable to the loss function, not the architecture</a:t>
            </a:r>
            <a:endParaRPr lang="en-US" sz="1600" b="1" dirty="0">
              <a:latin typeface="+mj-lt"/>
            </a:endParaRPr>
          </a:p>
        </p:txBody>
      </p:sp>
    </p:spTree>
    <p:extLst>
      <p:ext uri="{BB962C8B-B14F-4D97-AF65-F5344CB8AC3E}">
        <p14:creationId xmlns:p14="http://schemas.microsoft.com/office/powerpoint/2010/main" val="82998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ABC9-82CE-9823-02D2-B141E213C01F}"/>
              </a:ext>
            </a:extLst>
          </p:cNvPr>
          <p:cNvSpPr>
            <a:spLocks noGrp="1"/>
          </p:cNvSpPr>
          <p:nvPr>
            <p:ph type="title"/>
          </p:nvPr>
        </p:nvSpPr>
        <p:spPr/>
        <p:txBody>
          <a:bodyPr>
            <a:normAutofit fontScale="90000"/>
          </a:bodyPr>
          <a:lstStyle/>
          <a:p>
            <a:r>
              <a:rPr lang="en-US" dirty="0"/>
              <a:t>Loss Functions: Dice + Cross-Entropy (Baseline)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BCCA377-AEBD-D8CA-A4EE-3922A806FA99}"/>
                  </a:ext>
                </a:extLst>
              </p:cNvPr>
              <p:cNvSpPr>
                <a:spLocks noGrp="1"/>
              </p:cNvSpPr>
              <p:nvPr>
                <p:ph sz="half" idx="1"/>
              </p:nvPr>
            </p:nvSpPr>
            <p:spPr>
              <a:xfrm>
                <a:off x="576469" y="2227956"/>
                <a:ext cx="5212080" cy="3566160"/>
              </a:xfrm>
            </p:spPr>
            <p:txBody>
              <a:bodyPr>
                <a:normAutofit lnSpcReduction="10000"/>
              </a:bodyPr>
              <a:lstStyle/>
              <a:p>
                <a:pPr marL="0" indent="0">
                  <a:buNone/>
                </a:pPr>
                <a:r>
                  <a:rPr lang="en-US" sz="2400" b="1" dirty="0">
                    <a:solidFill>
                      <a:schemeClr val="accent1"/>
                    </a:solidFill>
                  </a:rPr>
                  <a:t>Soft Dice Loss</a:t>
                </a:r>
                <a:endParaRPr lang="en-US" b="1" dirty="0">
                  <a:solidFill>
                    <a:schemeClr val="accent1"/>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rPr>
                            <m:t>𝑫𝒊𝒄𝒆</m:t>
                          </m:r>
                        </m:sub>
                      </m:sSub>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 </m:t>
                      </m:r>
                      <m:f>
                        <m:fPr>
                          <m:ctrlPr>
                            <a:rPr lang="en-US" b="1" i="1" smtClean="0">
                              <a:latin typeface="Cambria Math" panose="02040503050406030204" pitchFamily="18" charset="0"/>
                            </a:rPr>
                          </m:ctrlPr>
                        </m:fPr>
                        <m:num>
                          <m:r>
                            <a:rPr lang="en-US" b="1" i="1" smtClean="0">
                              <a:latin typeface="Cambria Math" panose="02040503050406030204" pitchFamily="18" charset="0"/>
                            </a:rPr>
                            <m:t>𝟐</m:t>
                          </m:r>
                          <m:r>
                            <a:rPr lang="en-US" b="1" i="1" smtClean="0">
                              <a:latin typeface="Cambria Math" panose="02040503050406030204" pitchFamily="18" charset="0"/>
                            </a:rPr>
                            <m:t> </m:t>
                          </m:r>
                          <m:nary>
                            <m:naryPr>
                              <m:chr m:val="∑"/>
                              <m:supHide m:val="on"/>
                              <m:ctrlPr>
                                <a:rPr lang="en-US" b="1" i="1" smtClean="0">
                                  <a:latin typeface="Cambria Math" panose="02040503050406030204" pitchFamily="18" charset="0"/>
                                </a:rPr>
                              </m:ctrlPr>
                            </m:naryPr>
                            <m:sub>
                              <m:r>
                                <m:rPr>
                                  <m:brk m:alnAt="7"/>
                                </m:rPr>
                                <a:rPr lang="en-US" b="1" i="1" smtClean="0">
                                  <a:latin typeface="Cambria Math" panose="02040503050406030204" pitchFamily="18" charset="0"/>
                                </a:rPr>
                                <m:t>𝒊</m:t>
                              </m:r>
                            </m:sub>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𝒊</m:t>
                                  </m:r>
                                </m:sub>
                              </m:sSub>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𝒊</m:t>
                                  </m:r>
                                </m:sub>
                              </m:sSub>
                              <m:r>
                                <a:rPr lang="en-US" b="1" i="1" smtClean="0">
                                  <a:latin typeface="Cambria Math" panose="02040503050406030204" pitchFamily="18" charset="0"/>
                                </a:rPr>
                                <m:t>+ </m:t>
                              </m:r>
                              <m:r>
                                <a:rPr lang="en-US" b="1" i="1">
                                  <a:latin typeface="Cambria Math" panose="02040503050406030204" pitchFamily="18" charset="0"/>
                                  <a:ea typeface="Cambria Math" panose="02040503050406030204" pitchFamily="18" charset="0"/>
                                </a:rPr>
                                <m:t>𝝐</m:t>
                              </m:r>
                            </m:e>
                          </m:nary>
                        </m:num>
                        <m:den>
                          <m:nary>
                            <m:naryPr>
                              <m:chr m:val="∑"/>
                              <m:limLoc m:val="subSup"/>
                              <m:supHide m:val="on"/>
                              <m:ctrlPr>
                                <a:rPr lang="en-US" b="1" i="1" smtClean="0">
                                  <a:latin typeface="Cambria Math" panose="02040503050406030204" pitchFamily="18" charset="0"/>
                                </a:rPr>
                              </m:ctrlPr>
                            </m:naryPr>
                            <m:sub>
                              <m:r>
                                <m:rPr>
                                  <m:brk m:alnAt="9"/>
                                </m:rPr>
                                <a:rPr lang="en-US" b="1" i="1" smtClean="0">
                                  <a:latin typeface="Cambria Math" panose="02040503050406030204" pitchFamily="18" charset="0"/>
                                </a:rPr>
                                <m:t>𝒊</m:t>
                              </m:r>
                            </m:sub>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𝒊</m:t>
                                  </m:r>
                                </m:sub>
                              </m:sSub>
                              <m:r>
                                <a:rPr lang="en-US" b="1" i="1" smtClean="0">
                                  <a:latin typeface="Cambria Math" panose="02040503050406030204" pitchFamily="18" charset="0"/>
                                </a:rPr>
                                <m:t>+</m:t>
                              </m:r>
                              <m:nary>
                                <m:naryPr>
                                  <m:chr m:val="∑"/>
                                  <m:limLoc m:val="subSup"/>
                                  <m:supHide m:val="on"/>
                                  <m:ctrlPr>
                                    <a:rPr lang="en-US" b="1" i="1" smtClean="0">
                                      <a:latin typeface="Cambria Math" panose="02040503050406030204" pitchFamily="18" charset="0"/>
                                    </a:rPr>
                                  </m:ctrlPr>
                                </m:naryPr>
                                <m:sub>
                                  <m:r>
                                    <m:rPr>
                                      <m:brk m:alnAt="9"/>
                                    </m:rPr>
                                    <a:rPr lang="en-US" b="1" i="1" smtClean="0">
                                      <a:latin typeface="Cambria Math" panose="02040503050406030204" pitchFamily="18" charset="0"/>
                                    </a:rPr>
                                    <m:t>𝒊</m:t>
                                  </m:r>
                                </m:sub>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𝒊</m:t>
                                      </m:r>
                                    </m:sub>
                                  </m:sSub>
                                  <m:r>
                                    <a:rPr lang="en-US" b="1"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𝝐</m:t>
                                      </m:r>
                                    </m:e>
                                    <m:sup>
                                      <m:r>
                                        <a:rPr lang="en-US" b="1" i="1" smtClean="0">
                                          <a:latin typeface="Cambria Math" panose="02040503050406030204" pitchFamily="18" charset="0"/>
                                        </a:rPr>
                                        <m:t>′</m:t>
                                      </m:r>
                                    </m:sup>
                                  </m:sSup>
                                </m:e>
                              </m:nary>
                            </m:e>
                          </m:nary>
                        </m:den>
                      </m:f>
                    </m:oMath>
                  </m:oMathPara>
                </a14:m>
                <a:endParaRPr lang="en-US" b="1" dirty="0"/>
              </a:p>
              <a:p>
                <a:pPr marL="0" indent="0">
                  <a:buNone/>
                </a:pPr>
                <a:r>
                  <a:rPr lang="en-US" sz="1600" b="1" dirty="0"/>
                  <a:t>p</a:t>
                </a:r>
                <a:r>
                  <a:rPr lang="en-US" sz="1600" b="1" baseline="-25000" dirty="0"/>
                  <a:t>i</a:t>
                </a:r>
                <a:r>
                  <a:rPr lang="en-US" sz="1600" b="1" dirty="0"/>
                  <a:t> = predicted probability at voxel </a:t>
                </a:r>
                <a:r>
                  <a:rPr lang="en-US" sz="1600" b="1" dirty="0" err="1"/>
                  <a:t>i</a:t>
                </a:r>
                <a:r>
                  <a:rPr lang="en-US" sz="1600" b="1" dirty="0"/>
                  <a:t> </a:t>
                </a:r>
              </a:p>
              <a:p>
                <a:pPr marL="0" indent="0">
                  <a:buNone/>
                </a:pPr>
                <a:r>
                  <a:rPr lang="en-US" sz="1600" b="1" dirty="0" err="1"/>
                  <a:t>g</a:t>
                </a:r>
                <a:r>
                  <a:rPr lang="en-US" sz="1600" b="1" baseline="-25000" dirty="0" err="1"/>
                  <a:t>i</a:t>
                </a:r>
                <a:r>
                  <a:rPr lang="en-US" sz="1600" b="1" dirty="0"/>
                  <a:t> = ground truth label at voxel </a:t>
                </a:r>
                <a:r>
                  <a:rPr lang="en-US" sz="1600" b="1" dirty="0" err="1"/>
                  <a:t>i</a:t>
                </a:r>
                <a:r>
                  <a:rPr lang="en-US" sz="1600" b="1" dirty="0"/>
                  <a:t> </a:t>
                </a:r>
                <a:r>
                  <a:rPr lang="en-US" sz="1600" b="1" baseline="-25000" dirty="0"/>
                  <a:t> </a:t>
                </a:r>
              </a:p>
              <a:p>
                <a:pPr marL="0" indent="0">
                  <a:buNone/>
                </a:pPr>
                <a:r>
                  <a:rPr lang="en-US" b="1" baseline="-25000" dirty="0"/>
                  <a:t>ɛ = 10</a:t>
                </a:r>
                <a:r>
                  <a:rPr lang="en-US" b="1" baseline="30000" dirty="0"/>
                  <a:t>-5 </a:t>
                </a:r>
                <a:r>
                  <a:rPr lang="en-US" sz="1600" b="1" dirty="0"/>
                  <a:t>(numerical stability)</a:t>
                </a:r>
              </a:p>
              <a:p>
                <a:pPr marL="0" indent="0">
                  <a:buNone/>
                </a:pPr>
                <a:endParaRPr lang="en-US" sz="1600" b="1" dirty="0"/>
              </a:p>
              <a:p>
                <a:pPr marL="0" indent="0">
                  <a:buNone/>
                </a:pPr>
                <a:r>
                  <a:rPr lang="en-US" sz="1600" b="1" dirty="0"/>
                  <a:t>Measures region-level overlap. Per-class computation (excluding background), then averaged </a:t>
                </a:r>
              </a:p>
            </p:txBody>
          </p:sp>
        </mc:Choice>
        <mc:Fallback>
          <p:sp>
            <p:nvSpPr>
              <p:cNvPr id="3" name="Content Placeholder 2">
                <a:extLst>
                  <a:ext uri="{FF2B5EF4-FFF2-40B4-BE49-F238E27FC236}">
                    <a16:creationId xmlns:a16="http://schemas.microsoft.com/office/drawing/2014/main" id="{8BCCA377-AEBD-D8CA-A4EE-3922A806FA99}"/>
                  </a:ext>
                </a:extLst>
              </p:cNvPr>
              <p:cNvSpPr>
                <a:spLocks noGrp="1" noRot="1" noChangeAspect="1" noMove="1" noResize="1" noEditPoints="1" noAdjustHandles="1" noChangeArrowheads="1" noChangeShapeType="1" noTextEdit="1"/>
              </p:cNvSpPr>
              <p:nvPr>
                <p:ph sz="half" idx="1"/>
              </p:nvPr>
            </p:nvSpPr>
            <p:spPr>
              <a:xfrm>
                <a:off x="576469" y="2227956"/>
                <a:ext cx="5212080" cy="3566160"/>
              </a:xfrm>
              <a:blipFill>
                <a:blip r:embed="rId3"/>
                <a:stretch>
                  <a:fillRect l="-1871" t="-1368" b="-5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A144060-F7F1-BD8B-2FBC-7BDC45DD8367}"/>
                  </a:ext>
                </a:extLst>
              </p:cNvPr>
              <p:cNvSpPr>
                <a:spLocks noGrp="1"/>
              </p:cNvSpPr>
              <p:nvPr>
                <p:ph sz="half" idx="2"/>
              </p:nvPr>
            </p:nvSpPr>
            <p:spPr>
              <a:xfrm>
                <a:off x="6557467" y="2227956"/>
                <a:ext cx="5212080" cy="3566160"/>
              </a:xfrm>
            </p:spPr>
            <p:txBody>
              <a:bodyPr>
                <a:normAutofit lnSpcReduction="10000"/>
              </a:bodyPr>
              <a:lstStyle/>
              <a:p>
                <a:pPr marL="0" indent="0">
                  <a:buNone/>
                </a:pPr>
                <a:r>
                  <a:rPr lang="en-US" sz="2400" b="1" dirty="0">
                    <a:solidFill>
                      <a:schemeClr val="accent1"/>
                    </a:solidFill>
                  </a:rPr>
                  <a:t>Cross-Entropy</a:t>
                </a:r>
                <a:r>
                  <a:rPr lang="en-US" sz="2800" b="1" dirty="0">
                    <a:solidFill>
                      <a:schemeClr val="accent1"/>
                    </a:solidFill>
                  </a:rPr>
                  <a:t> Loss</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𝐶𝐸</m:t>
                          </m:r>
                        </m:sub>
                      </m:sSub>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𝑖</m:t>
                                      </m:r>
                                    </m:sub>
                                  </m:sSub>
                                </m:e>
                              </m:d>
                            </m:e>
                          </m:func>
                        </m:e>
                      </m:nary>
                    </m:oMath>
                  </m:oMathPara>
                </a14:m>
                <a:endParaRPr lang="en-US" b="0" dirty="0"/>
              </a:p>
              <a:p>
                <a:pPr marL="0" indent="0">
                  <a:buNone/>
                </a:pPr>
                <a:r>
                  <a:rPr lang="en-US" dirty="0"/>
                  <a:t>Standard per-voxel classification loss. Provides sharp gradients for individual voxel decisions.</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𝑏𝑎𝑠𝑒</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𝐶𝐸</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𝐷𝑖𝑐𝑒</m:t>
                          </m:r>
                        </m:sub>
                      </m:sSub>
                    </m:oMath>
                  </m:oMathPara>
                </a14:m>
                <a:endParaRPr lang="en-US" dirty="0"/>
              </a:p>
            </p:txBody>
          </p:sp>
        </mc:Choice>
        <mc:Fallback>
          <p:sp>
            <p:nvSpPr>
              <p:cNvPr id="4" name="Content Placeholder 3">
                <a:extLst>
                  <a:ext uri="{FF2B5EF4-FFF2-40B4-BE49-F238E27FC236}">
                    <a16:creationId xmlns:a16="http://schemas.microsoft.com/office/drawing/2014/main" id="{0A144060-F7F1-BD8B-2FBC-7BDC45DD8367}"/>
                  </a:ext>
                </a:extLst>
              </p:cNvPr>
              <p:cNvSpPr>
                <a:spLocks noGrp="1" noRot="1" noChangeAspect="1" noMove="1" noResize="1" noEditPoints="1" noAdjustHandles="1" noChangeArrowheads="1" noChangeShapeType="1" noTextEdit="1"/>
              </p:cNvSpPr>
              <p:nvPr>
                <p:ph sz="half" idx="2"/>
              </p:nvPr>
            </p:nvSpPr>
            <p:spPr>
              <a:xfrm>
                <a:off x="6557467" y="2227956"/>
                <a:ext cx="5212080" cy="3566160"/>
              </a:xfrm>
              <a:blipFill>
                <a:blip r:embed="rId4"/>
                <a:stretch>
                  <a:fillRect l="-1871" t="-1709" r="-585"/>
                </a:stretch>
              </a:blipFill>
            </p:spPr>
            <p:txBody>
              <a:bodyPr/>
              <a:lstStyle/>
              <a:p>
                <a:r>
                  <a:rPr lang="en-US">
                    <a:noFill/>
                  </a:rPr>
                  <a:t> </a:t>
                </a:r>
              </a:p>
            </p:txBody>
          </p:sp>
        </mc:Fallback>
      </mc:AlternateContent>
      <p:sp>
        <p:nvSpPr>
          <p:cNvPr id="5" name="Shape 16">
            <a:extLst>
              <a:ext uri="{FF2B5EF4-FFF2-40B4-BE49-F238E27FC236}">
                <a16:creationId xmlns:a16="http://schemas.microsoft.com/office/drawing/2014/main" id="{B9784E4E-DB3F-93B3-08DF-7EAF9FF13035}"/>
              </a:ext>
            </a:extLst>
          </p:cNvPr>
          <p:cNvSpPr/>
          <p:nvPr/>
        </p:nvSpPr>
        <p:spPr>
          <a:xfrm>
            <a:off x="558208" y="5932469"/>
            <a:ext cx="10972800" cy="731520"/>
          </a:xfrm>
          <a:prstGeom prst="rect">
            <a:avLst/>
          </a:prstGeom>
          <a:solidFill>
            <a:srgbClr val="FEF2F2"/>
          </a:solidFill>
          <a:ln/>
        </p:spPr>
        <p:txBody>
          <a:bodyPr/>
          <a:lstStyle/>
          <a:p>
            <a:endParaRPr lang="en-US"/>
          </a:p>
        </p:txBody>
      </p:sp>
      <p:sp>
        <p:nvSpPr>
          <p:cNvPr id="6" name="Text 17">
            <a:extLst>
              <a:ext uri="{FF2B5EF4-FFF2-40B4-BE49-F238E27FC236}">
                <a16:creationId xmlns:a16="http://schemas.microsoft.com/office/drawing/2014/main" id="{62831AAB-0AED-6192-0088-EC5FC6B0A0DE}"/>
              </a:ext>
            </a:extLst>
          </p:cNvPr>
          <p:cNvSpPr/>
          <p:nvPr/>
        </p:nvSpPr>
        <p:spPr>
          <a:xfrm>
            <a:off x="741088" y="5978189"/>
            <a:ext cx="10607040" cy="640080"/>
          </a:xfrm>
          <a:prstGeom prst="rect">
            <a:avLst/>
          </a:prstGeom>
          <a:noFill/>
          <a:ln/>
        </p:spPr>
        <p:txBody>
          <a:bodyPr wrap="square" rtlCol="0" anchor="ctr"/>
          <a:lstStyle/>
          <a:p>
            <a:pPr marL="0" indent="0" algn="ctr">
              <a:buNone/>
            </a:pPr>
            <a:r>
              <a:rPr lang="en-US" sz="1600" b="1" dirty="0">
                <a:solidFill>
                  <a:srgbClr val="DC2626"/>
                </a:solidFill>
                <a:latin typeface="+mj-lt"/>
                <a:ea typeface="Calibri" pitchFamily="34" charset="-122"/>
                <a:cs typeface="Calibri" pitchFamily="34" charset="-120"/>
              </a:rPr>
              <a:t>Limitation: Every voxel receives equal weight. A centerline voxel of a 1mm Pcom gets the same gradient as a surface voxel of the 5mm ICA.</a:t>
            </a:r>
            <a:endParaRPr lang="en-US" sz="1600" b="1" dirty="0">
              <a:latin typeface="+mj-lt"/>
            </a:endParaRPr>
          </a:p>
        </p:txBody>
      </p:sp>
    </p:spTree>
    <p:extLst>
      <p:ext uri="{BB962C8B-B14F-4D97-AF65-F5344CB8AC3E}">
        <p14:creationId xmlns:p14="http://schemas.microsoft.com/office/powerpoint/2010/main" val="467347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0E973B5-EB04-1881-70A1-6583FF0C4BBF}"/>
              </a:ext>
            </a:extLst>
          </p:cNvPr>
          <p:cNvSpPr/>
          <p:nvPr/>
        </p:nvSpPr>
        <p:spPr>
          <a:xfrm>
            <a:off x="0" y="0"/>
            <a:ext cx="12188952" cy="54864"/>
          </a:xfrm>
          <a:prstGeom prst="rect">
            <a:avLst/>
          </a:prstGeom>
          <a:solidFill>
            <a:srgbClr val="D97706"/>
          </a:solidFill>
          <a:ln/>
        </p:spPr>
        <p:txBody>
          <a:bodyPr/>
          <a:lstStyle/>
          <a:p>
            <a:endParaRPr lang="en-US">
              <a:latin typeface="+mj-lt"/>
            </a:endParaRPr>
          </a:p>
        </p:txBody>
      </p:sp>
      <p:sp>
        <p:nvSpPr>
          <p:cNvPr id="5" name="Text 2">
            <a:extLst>
              <a:ext uri="{FF2B5EF4-FFF2-40B4-BE49-F238E27FC236}">
                <a16:creationId xmlns:a16="http://schemas.microsoft.com/office/drawing/2014/main" id="{9EFE0CD6-95E0-0527-14BA-70E3401D965C}"/>
              </a:ext>
            </a:extLst>
          </p:cNvPr>
          <p:cNvSpPr/>
          <p:nvPr/>
        </p:nvSpPr>
        <p:spPr>
          <a:xfrm>
            <a:off x="731520" y="277501"/>
            <a:ext cx="10058400" cy="640080"/>
          </a:xfrm>
          <a:prstGeom prst="rect">
            <a:avLst/>
          </a:prstGeom>
          <a:noFill/>
          <a:ln/>
        </p:spPr>
        <p:txBody>
          <a:bodyPr wrap="square" lIns="0" tIns="0" rIns="0" bIns="0" rtlCol="0" anchor="ctr"/>
          <a:lstStyle/>
          <a:p>
            <a:pPr marL="0" indent="0">
              <a:buNone/>
            </a:pPr>
            <a:r>
              <a:rPr lang="en-US" sz="2800" b="1" dirty="0">
                <a:solidFill>
                  <a:srgbClr val="1E293B"/>
                </a:solidFill>
                <a:latin typeface="+mj-lt"/>
                <a:ea typeface="Calibri" pitchFamily="34" charset="-122"/>
                <a:cs typeface="Calibri" pitchFamily="34" charset="-120"/>
              </a:rPr>
              <a:t>Loss Functions: Soft Centerline Dice (clDice)</a:t>
            </a:r>
            <a:endParaRPr lang="en-US" sz="2800" dirty="0">
              <a:latin typeface="+mj-lt"/>
            </a:endParaRPr>
          </a:p>
        </p:txBody>
      </p:sp>
      <p:sp>
        <p:nvSpPr>
          <p:cNvPr id="6" name="Shape 3">
            <a:extLst>
              <a:ext uri="{FF2B5EF4-FFF2-40B4-BE49-F238E27FC236}">
                <a16:creationId xmlns:a16="http://schemas.microsoft.com/office/drawing/2014/main" id="{44A25B74-2AF9-838D-4DB2-87BD9F81EF09}"/>
              </a:ext>
            </a:extLst>
          </p:cNvPr>
          <p:cNvSpPr/>
          <p:nvPr/>
        </p:nvSpPr>
        <p:spPr>
          <a:xfrm>
            <a:off x="548640" y="1280160"/>
            <a:ext cx="6858000" cy="237744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7" name="Text 4">
            <a:extLst>
              <a:ext uri="{FF2B5EF4-FFF2-40B4-BE49-F238E27FC236}">
                <a16:creationId xmlns:a16="http://schemas.microsoft.com/office/drawing/2014/main" id="{D16F727F-2D70-A176-2D08-5990E164BA44}"/>
              </a:ext>
            </a:extLst>
          </p:cNvPr>
          <p:cNvSpPr/>
          <p:nvPr/>
        </p:nvSpPr>
        <p:spPr>
          <a:xfrm>
            <a:off x="822960" y="1371600"/>
            <a:ext cx="6400800" cy="365760"/>
          </a:xfrm>
          <a:prstGeom prst="rect">
            <a:avLst/>
          </a:prstGeom>
          <a:noFill/>
          <a:ln/>
        </p:spPr>
        <p:txBody>
          <a:bodyPr wrap="square" lIns="0" tIns="0" rIns="0" bIns="0" rtlCol="0" anchor="ctr"/>
          <a:lstStyle/>
          <a:p>
            <a:pPr marL="0" indent="0">
              <a:buNone/>
            </a:pPr>
            <a:r>
              <a:rPr lang="en-US" sz="2000" b="1" dirty="0">
                <a:solidFill>
                  <a:srgbClr val="D97706"/>
                </a:solidFill>
                <a:latin typeface="+mj-lt"/>
                <a:ea typeface="Calibri" pitchFamily="34" charset="-122"/>
                <a:cs typeface="Calibri" pitchFamily="34" charset="-120"/>
              </a:rPr>
              <a:t>Differentiable Soft-Skeletonization</a:t>
            </a:r>
            <a:endParaRPr lang="en-US" sz="2000" b="1" dirty="0">
              <a:latin typeface="+mj-lt"/>
            </a:endParaRPr>
          </a:p>
        </p:txBody>
      </p:sp>
      <p:sp>
        <p:nvSpPr>
          <p:cNvPr id="8" name="Shape 5">
            <a:extLst>
              <a:ext uri="{FF2B5EF4-FFF2-40B4-BE49-F238E27FC236}">
                <a16:creationId xmlns:a16="http://schemas.microsoft.com/office/drawing/2014/main" id="{65256664-4211-2729-6A95-B4F9E6FA9981}"/>
              </a:ext>
            </a:extLst>
          </p:cNvPr>
          <p:cNvSpPr/>
          <p:nvPr/>
        </p:nvSpPr>
        <p:spPr>
          <a:xfrm>
            <a:off x="914400" y="1874520"/>
            <a:ext cx="6217920" cy="1554480"/>
          </a:xfrm>
          <a:prstGeom prst="rect">
            <a:avLst/>
          </a:prstGeom>
          <a:solidFill>
            <a:srgbClr val="E8EFF8"/>
          </a:solidFill>
          <a:ln/>
        </p:spPr>
        <p:txBody>
          <a:bodyPr/>
          <a:lstStyle/>
          <a:p>
            <a:endParaRPr lang="en-US">
              <a:latin typeface="+mj-lt"/>
            </a:endParaRPr>
          </a:p>
        </p:txBody>
      </p:sp>
      <mc:AlternateContent xmlns:mc="http://schemas.openxmlformats.org/markup-compatibility/2006">
        <mc:Choice xmlns:a14="http://schemas.microsoft.com/office/drawing/2010/main" Requires="a14">
          <p:sp>
            <p:nvSpPr>
              <p:cNvPr id="9" name="Text 6">
                <a:extLst>
                  <a:ext uri="{FF2B5EF4-FFF2-40B4-BE49-F238E27FC236}">
                    <a16:creationId xmlns:a16="http://schemas.microsoft.com/office/drawing/2014/main" id="{123D43B7-1227-7360-9E36-5FB3E857A418}"/>
                  </a:ext>
                </a:extLst>
              </p:cNvPr>
              <p:cNvSpPr/>
              <p:nvPr/>
            </p:nvSpPr>
            <p:spPr>
              <a:xfrm>
                <a:off x="487679" y="1920240"/>
                <a:ext cx="7185329" cy="1463040"/>
              </a:xfrm>
              <a:prstGeom prst="rect">
                <a:avLst/>
              </a:prstGeom>
              <a:noFill/>
              <a:ln/>
            </p:spPr>
            <p:txBody>
              <a:bodyPr wrap="square" rtlCol="0" anchor="ctr"/>
              <a:lstStyle/>
              <a:p>
                <a:pPr marL="0" indent="0">
                  <a:buNone/>
                </a:pPr>
                <a14:m>
                  <m:oMathPara xmlns:m="http://schemas.openxmlformats.org/officeDocument/2006/math">
                    <m:oMathParaPr>
                      <m:jc m:val="centerGroup"/>
                    </m:oMathParaPr>
                    <m:oMath xmlns:m="http://schemas.openxmlformats.org/officeDocument/2006/math">
                      <m:r>
                        <a:rPr lang="en-US" i="1" dirty="0" smtClean="0">
                          <a:solidFill>
                            <a:srgbClr val="1E293B"/>
                          </a:solidFill>
                          <a:latin typeface="Cambria Math" panose="02040503050406030204" pitchFamily="18" charset="0"/>
                          <a:ea typeface="Calibri" pitchFamily="34" charset="-122"/>
                          <a:cs typeface="Calibri" pitchFamily="34" charset="-120"/>
                        </a:rPr>
                        <m:t>𝑠𝑘𝑒𝑙</m:t>
                      </m:r>
                      <m:r>
                        <a:rPr lang="en-US" i="1" dirty="0" smtClean="0">
                          <a:solidFill>
                            <a:srgbClr val="1E293B"/>
                          </a:solidFill>
                          <a:latin typeface="Cambria Math" panose="02040503050406030204" pitchFamily="18" charset="0"/>
                          <a:ea typeface="Calibri" pitchFamily="34" charset="-122"/>
                          <a:cs typeface="Calibri" pitchFamily="34" charset="-120"/>
                        </a:rPr>
                        <m:t>(</m:t>
                      </m:r>
                      <m:r>
                        <a:rPr lang="en-US" i="1" dirty="0" smtClean="0">
                          <a:solidFill>
                            <a:srgbClr val="1E293B"/>
                          </a:solidFill>
                          <a:latin typeface="Cambria Math" panose="02040503050406030204" pitchFamily="18" charset="0"/>
                          <a:ea typeface="Calibri" pitchFamily="34" charset="-122"/>
                          <a:cs typeface="Calibri" pitchFamily="34" charset="-120"/>
                        </a:rPr>
                        <m:t>𝑥</m:t>
                      </m:r>
                      <m:r>
                        <a:rPr lang="en-US" i="1" dirty="0" smtClean="0">
                          <a:solidFill>
                            <a:srgbClr val="1E293B"/>
                          </a:solidFill>
                          <a:latin typeface="Cambria Math" panose="02040503050406030204" pitchFamily="18" charset="0"/>
                          <a:ea typeface="Calibri" pitchFamily="34" charset="-122"/>
                          <a:cs typeface="Calibri" pitchFamily="34" charset="-120"/>
                        </a:rPr>
                        <m:t>) = </m:t>
                      </m:r>
                      <m:r>
                        <a:rPr lang="en-US" i="1" dirty="0" smtClean="0">
                          <a:solidFill>
                            <a:srgbClr val="1E293B"/>
                          </a:solidFill>
                          <a:latin typeface="Cambria Math" panose="02040503050406030204" pitchFamily="18" charset="0"/>
                          <a:ea typeface="Calibri" pitchFamily="34" charset="-122"/>
                          <a:cs typeface="Calibri" pitchFamily="34" charset="-120"/>
                        </a:rPr>
                        <m:t>𝑅𝑒𝐿𝑈</m:t>
                      </m:r>
                      <m:r>
                        <a:rPr lang="en-US" i="1" dirty="0" smtClean="0">
                          <a:solidFill>
                            <a:srgbClr val="1E293B"/>
                          </a:solidFill>
                          <a:latin typeface="Cambria Math" panose="02040503050406030204" pitchFamily="18" charset="0"/>
                          <a:ea typeface="Calibri" pitchFamily="34" charset="-122"/>
                          <a:cs typeface="Calibri" pitchFamily="34" charset="-120"/>
                        </a:rPr>
                        <m:t>(</m:t>
                      </m:r>
                      <m:r>
                        <a:rPr lang="en-US" i="1" dirty="0" smtClean="0">
                          <a:solidFill>
                            <a:srgbClr val="1E293B"/>
                          </a:solidFill>
                          <a:latin typeface="Cambria Math" panose="02040503050406030204" pitchFamily="18" charset="0"/>
                          <a:ea typeface="Calibri" pitchFamily="34" charset="-122"/>
                          <a:cs typeface="Calibri" pitchFamily="34" charset="-120"/>
                        </a:rPr>
                        <m:t>𝑥</m:t>
                      </m:r>
                      <m:r>
                        <a:rPr lang="en-US" i="1" dirty="0" smtClean="0">
                          <a:solidFill>
                            <a:srgbClr val="1E293B"/>
                          </a:solidFill>
                          <a:latin typeface="Cambria Math" panose="02040503050406030204" pitchFamily="18" charset="0"/>
                          <a:ea typeface="Calibri" pitchFamily="34" charset="-122"/>
                          <a:cs typeface="Calibri" pitchFamily="34" charset="-120"/>
                        </a:rPr>
                        <m:t> − </m:t>
                      </m:r>
                      <m:r>
                        <a:rPr lang="en-US" i="1" dirty="0" smtClean="0">
                          <a:solidFill>
                            <a:srgbClr val="1E293B"/>
                          </a:solidFill>
                          <a:latin typeface="Cambria Math" panose="02040503050406030204" pitchFamily="18" charset="0"/>
                          <a:ea typeface="Calibri" pitchFamily="34" charset="-122"/>
                          <a:cs typeface="Calibri" pitchFamily="34" charset="-120"/>
                        </a:rPr>
                        <m:t>𝑜𝑝𝑒𝑛</m:t>
                      </m:r>
                      <m:r>
                        <a:rPr lang="en-US" i="1" dirty="0" smtClean="0">
                          <a:solidFill>
                            <a:srgbClr val="1E293B"/>
                          </a:solidFill>
                          <a:latin typeface="Cambria Math" panose="02040503050406030204" pitchFamily="18" charset="0"/>
                          <a:ea typeface="Calibri" pitchFamily="34" charset="-122"/>
                          <a:cs typeface="Calibri" pitchFamily="34" charset="-120"/>
                        </a:rPr>
                        <m:t>(</m:t>
                      </m:r>
                      <m:r>
                        <a:rPr lang="en-US" i="1" dirty="0" smtClean="0">
                          <a:solidFill>
                            <a:srgbClr val="1E293B"/>
                          </a:solidFill>
                          <a:latin typeface="Cambria Math" panose="02040503050406030204" pitchFamily="18" charset="0"/>
                          <a:ea typeface="Calibri" pitchFamily="34" charset="-122"/>
                          <a:cs typeface="Calibri" pitchFamily="34" charset="-120"/>
                        </a:rPr>
                        <m:t>𝑥</m:t>
                      </m:r>
                      <m:r>
                        <a:rPr lang="en-US" i="1" dirty="0" smtClean="0">
                          <a:solidFill>
                            <a:srgbClr val="1E293B"/>
                          </a:solidFill>
                          <a:latin typeface="Cambria Math" panose="02040503050406030204" pitchFamily="18" charset="0"/>
                          <a:ea typeface="Calibri" pitchFamily="34" charset="-122"/>
                          <a:cs typeface="Calibri" pitchFamily="34" charset="-120"/>
                        </a:rPr>
                        <m:t>))</m:t>
                      </m:r>
                    </m:oMath>
                  </m:oMathPara>
                </a14:m>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i="1" dirty="0" smtClean="0">
                          <a:solidFill>
                            <a:srgbClr val="1E293B"/>
                          </a:solidFill>
                          <a:latin typeface="Cambria Math" panose="02040503050406030204" pitchFamily="18" charset="0"/>
                          <a:ea typeface="Calibri" pitchFamily="34" charset="-122"/>
                          <a:cs typeface="Calibri" pitchFamily="34" charset="-120"/>
                        </a:rPr>
                        <m:t>         + </m:t>
                      </m:r>
                      <m:r>
                        <m:rPr>
                          <m:sty m:val="p"/>
                        </m:rPr>
                        <a:rPr lang="en-US" i="0" dirty="0">
                          <a:solidFill>
                            <a:srgbClr val="1E293B"/>
                          </a:solidFill>
                          <a:latin typeface="Cambria Math" panose="02040503050406030204" pitchFamily="18" charset="0"/>
                          <a:ea typeface="Calibri" pitchFamily="34" charset="-122"/>
                          <a:cs typeface="Calibri" pitchFamily="34" charset="-120"/>
                        </a:rPr>
                        <m:t>Σ</m:t>
                      </m:r>
                      <m:r>
                        <a:rPr lang="en-US" sz="1100" i="1" dirty="0">
                          <a:solidFill>
                            <a:srgbClr val="1E293B"/>
                          </a:solidFill>
                          <a:latin typeface="Cambria Math" panose="02040503050406030204" pitchFamily="18" charset="0"/>
                          <a:ea typeface="Calibri" pitchFamily="34" charset="-122"/>
                          <a:cs typeface="Calibri" pitchFamily="34" charset="-120"/>
                        </a:rPr>
                        <m:t>𝑘</m:t>
                      </m:r>
                      <m:r>
                        <a:rPr lang="en-US" sz="1100" i="1" dirty="0">
                          <a:solidFill>
                            <a:srgbClr val="1E293B"/>
                          </a:solidFill>
                          <a:latin typeface="Cambria Math" panose="02040503050406030204" pitchFamily="18" charset="0"/>
                          <a:ea typeface="Calibri" pitchFamily="34" charset="-122"/>
                          <a:cs typeface="Calibri" pitchFamily="34" charset="-120"/>
                        </a:rPr>
                        <m:t>=1..</m:t>
                      </m:r>
                      <m:r>
                        <a:rPr lang="en-US" sz="1100" i="1" dirty="0">
                          <a:solidFill>
                            <a:srgbClr val="1E293B"/>
                          </a:solidFill>
                          <a:latin typeface="Cambria Math" panose="02040503050406030204" pitchFamily="18" charset="0"/>
                          <a:ea typeface="Calibri" pitchFamily="34" charset="-122"/>
                          <a:cs typeface="Calibri" pitchFamily="34" charset="-120"/>
                        </a:rPr>
                        <m:t>𝐾</m:t>
                      </m:r>
                      <m:r>
                        <a:rPr lang="en-US" i="1" dirty="0">
                          <a:solidFill>
                            <a:srgbClr val="1E293B"/>
                          </a:solidFill>
                          <a:latin typeface="Cambria Math" panose="02040503050406030204" pitchFamily="18" charset="0"/>
                          <a:ea typeface="Calibri" pitchFamily="34" charset="-122"/>
                          <a:cs typeface="Calibri" pitchFamily="34" charset="-120"/>
                        </a:rPr>
                        <m:t> </m:t>
                      </m:r>
                      <m:r>
                        <a:rPr lang="en-US" i="1" dirty="0">
                          <a:solidFill>
                            <a:srgbClr val="1E293B"/>
                          </a:solidFill>
                          <a:latin typeface="Cambria Math" panose="02040503050406030204" pitchFamily="18" charset="0"/>
                          <a:ea typeface="Calibri" pitchFamily="34" charset="-122"/>
                          <a:cs typeface="Calibri" pitchFamily="34" charset="-120"/>
                        </a:rPr>
                        <m:t>𝑅𝑒𝐿𝑈</m:t>
                      </m:r>
                      <m:r>
                        <a:rPr lang="en-US" i="1" dirty="0">
                          <a:solidFill>
                            <a:srgbClr val="1E293B"/>
                          </a:solidFill>
                          <a:latin typeface="Cambria Math" panose="02040503050406030204" pitchFamily="18" charset="0"/>
                          <a:ea typeface="Calibri" pitchFamily="34" charset="-122"/>
                          <a:cs typeface="Calibri" pitchFamily="34" charset="-120"/>
                        </a:rPr>
                        <m:t>(</m:t>
                      </m:r>
                      <m:r>
                        <a:rPr lang="en-US" i="1" dirty="0">
                          <a:solidFill>
                            <a:srgbClr val="1E293B"/>
                          </a:solidFill>
                          <a:latin typeface="Cambria Math" panose="02040503050406030204" pitchFamily="18" charset="0"/>
                          <a:ea typeface="Calibri" pitchFamily="34" charset="-122"/>
                          <a:cs typeface="Calibri" pitchFamily="34" charset="-120"/>
                        </a:rPr>
                        <m:t>𝑒𝑟𝑜𝑑𝑒</m:t>
                      </m:r>
                      <m:r>
                        <a:rPr lang="en-US" sz="1100" i="1" dirty="0">
                          <a:solidFill>
                            <a:srgbClr val="1E293B"/>
                          </a:solidFill>
                          <a:latin typeface="Cambria Math" panose="02040503050406030204" pitchFamily="18" charset="0"/>
                          <a:ea typeface="Calibri" pitchFamily="34" charset="-122"/>
                          <a:cs typeface="Calibri" pitchFamily="34" charset="-120"/>
                        </a:rPr>
                        <m:t>𝑘</m:t>
                      </m:r>
                      <m:r>
                        <a:rPr lang="en-US" i="1" dirty="0">
                          <a:solidFill>
                            <a:srgbClr val="1E293B"/>
                          </a:solidFill>
                          <a:latin typeface="Cambria Math" panose="02040503050406030204" pitchFamily="18" charset="0"/>
                          <a:ea typeface="Calibri" pitchFamily="34" charset="-122"/>
                          <a:cs typeface="Calibri" pitchFamily="34" charset="-120"/>
                        </a:rPr>
                        <m:t>(</m:t>
                      </m:r>
                      <m:r>
                        <a:rPr lang="en-US" i="1" dirty="0">
                          <a:solidFill>
                            <a:srgbClr val="1E293B"/>
                          </a:solidFill>
                          <a:latin typeface="Cambria Math" panose="02040503050406030204" pitchFamily="18" charset="0"/>
                          <a:ea typeface="Calibri" pitchFamily="34" charset="-122"/>
                          <a:cs typeface="Calibri" pitchFamily="34" charset="-120"/>
                        </a:rPr>
                        <m:t>𝑥</m:t>
                      </m:r>
                      <m:r>
                        <a:rPr lang="en-US" i="1" dirty="0">
                          <a:solidFill>
                            <a:srgbClr val="1E293B"/>
                          </a:solidFill>
                          <a:latin typeface="Cambria Math" panose="02040503050406030204" pitchFamily="18" charset="0"/>
                          <a:ea typeface="Calibri" pitchFamily="34" charset="-122"/>
                          <a:cs typeface="Calibri" pitchFamily="34" charset="-120"/>
                        </a:rPr>
                        <m:t>) − </m:t>
                      </m:r>
                      <m:r>
                        <a:rPr lang="en-US" i="1" dirty="0">
                          <a:solidFill>
                            <a:srgbClr val="1E293B"/>
                          </a:solidFill>
                          <a:latin typeface="Cambria Math" panose="02040503050406030204" pitchFamily="18" charset="0"/>
                          <a:ea typeface="Calibri" pitchFamily="34" charset="-122"/>
                          <a:cs typeface="Calibri" pitchFamily="34" charset="-120"/>
                        </a:rPr>
                        <m:t>𝑜𝑝𝑒𝑛</m:t>
                      </m:r>
                      <m:r>
                        <a:rPr lang="en-US" i="1" dirty="0">
                          <a:solidFill>
                            <a:srgbClr val="1E293B"/>
                          </a:solidFill>
                          <a:latin typeface="Cambria Math" panose="02040503050406030204" pitchFamily="18" charset="0"/>
                          <a:ea typeface="Calibri" pitchFamily="34" charset="-122"/>
                          <a:cs typeface="Calibri" pitchFamily="34" charset="-120"/>
                        </a:rPr>
                        <m:t>(</m:t>
                      </m:r>
                      <m:r>
                        <a:rPr lang="en-US" i="1" dirty="0">
                          <a:solidFill>
                            <a:srgbClr val="1E293B"/>
                          </a:solidFill>
                          <a:latin typeface="Cambria Math" panose="02040503050406030204" pitchFamily="18" charset="0"/>
                          <a:ea typeface="Calibri" pitchFamily="34" charset="-122"/>
                          <a:cs typeface="Calibri" pitchFamily="34" charset="-120"/>
                        </a:rPr>
                        <m:t>𝑒𝑟𝑜𝑑𝑒</m:t>
                      </m:r>
                      <m:r>
                        <a:rPr lang="en-US" sz="1100" i="1" dirty="0">
                          <a:solidFill>
                            <a:srgbClr val="1E293B"/>
                          </a:solidFill>
                          <a:latin typeface="Cambria Math" panose="02040503050406030204" pitchFamily="18" charset="0"/>
                          <a:ea typeface="Calibri" pitchFamily="34" charset="-122"/>
                          <a:cs typeface="Calibri" pitchFamily="34" charset="-120"/>
                        </a:rPr>
                        <m:t>𝑘</m:t>
                      </m:r>
                      <m:r>
                        <a:rPr lang="en-US" i="1" dirty="0">
                          <a:solidFill>
                            <a:srgbClr val="1E293B"/>
                          </a:solidFill>
                          <a:latin typeface="Cambria Math" panose="02040503050406030204" pitchFamily="18" charset="0"/>
                          <a:ea typeface="Calibri" pitchFamily="34" charset="-122"/>
                          <a:cs typeface="Calibri" pitchFamily="34" charset="-120"/>
                        </a:rPr>
                        <m:t>(</m:t>
                      </m:r>
                      <m:r>
                        <a:rPr lang="en-US" i="1" dirty="0">
                          <a:solidFill>
                            <a:srgbClr val="1E293B"/>
                          </a:solidFill>
                          <a:latin typeface="Cambria Math" panose="02040503050406030204" pitchFamily="18" charset="0"/>
                          <a:ea typeface="Calibri" pitchFamily="34" charset="-122"/>
                          <a:cs typeface="Calibri" pitchFamily="34" charset="-120"/>
                        </a:rPr>
                        <m:t>𝑥</m:t>
                      </m:r>
                      <m:r>
                        <a:rPr lang="en-US" i="1" dirty="0">
                          <a:solidFill>
                            <a:srgbClr val="1E293B"/>
                          </a:solidFill>
                          <a:latin typeface="Cambria Math" panose="02040503050406030204" pitchFamily="18" charset="0"/>
                          <a:ea typeface="Calibri" pitchFamily="34" charset="-122"/>
                          <a:cs typeface="Calibri" pitchFamily="34" charset="-120"/>
                        </a:rPr>
                        <m:t>)))</m:t>
                      </m:r>
                    </m:oMath>
                  </m:oMathPara>
                </a14:m>
                <a:endParaRPr lang="en-US" dirty="0">
                  <a:latin typeface="+mj-lt"/>
                </a:endParaRPr>
              </a:p>
              <a:p>
                <a:pPr marL="0" indent="0">
                  <a:buNone/>
                </a:pPr>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sz="1400" i="1" dirty="0" smtClean="0">
                          <a:solidFill>
                            <a:srgbClr val="64748B"/>
                          </a:solidFill>
                          <a:latin typeface="Cambria Math" panose="02040503050406030204" pitchFamily="18" charset="0"/>
                          <a:ea typeface="Calibri" pitchFamily="34" charset="-122"/>
                          <a:cs typeface="Calibri" pitchFamily="34" charset="-120"/>
                        </a:rPr>
                        <m:t>𝑒𝑟𝑜𝑑𝑒</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 −</m:t>
                      </m:r>
                      <m:r>
                        <a:rPr lang="en-US" sz="1400" i="1" dirty="0" smtClean="0">
                          <a:solidFill>
                            <a:srgbClr val="64748B"/>
                          </a:solidFill>
                          <a:latin typeface="Cambria Math" panose="02040503050406030204" pitchFamily="18" charset="0"/>
                          <a:ea typeface="Calibri" pitchFamily="34" charset="-122"/>
                          <a:cs typeface="Calibri" pitchFamily="34" charset="-120"/>
                        </a:rPr>
                        <m:t>𝑀𝑎𝑥𝑃𝑜𝑜𝑙</m:t>
                      </m:r>
                      <m:r>
                        <a:rPr lang="en-US" sz="1400" i="1" dirty="0" smtClean="0">
                          <a:solidFill>
                            <a:srgbClr val="64748B"/>
                          </a:solidFill>
                          <a:latin typeface="Cambria Math" panose="02040503050406030204" pitchFamily="18" charset="0"/>
                          <a:ea typeface="Calibri" pitchFamily="34" charset="-122"/>
                          <a:cs typeface="Calibri" pitchFamily="34" charset="-120"/>
                        </a:rPr>
                        <m:t>3</m:t>
                      </m:r>
                      <m:r>
                        <a:rPr lang="en-US" sz="1400" i="1" dirty="0" smtClean="0">
                          <a:solidFill>
                            <a:srgbClr val="64748B"/>
                          </a:solidFill>
                          <a:latin typeface="Cambria Math" panose="02040503050406030204" pitchFamily="18" charset="0"/>
                          <a:ea typeface="Calibri" pitchFamily="34" charset="-122"/>
                          <a:cs typeface="Calibri" pitchFamily="34" charset="-120"/>
                        </a:rPr>
                        <m:t>𝐷</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m:t>
                      </m:r>
                      <m:r>
                        <a:rPr lang="en-US" sz="1400" i="1" dirty="0" smtClean="0">
                          <a:solidFill>
                            <a:srgbClr val="64748B"/>
                          </a:solidFill>
                          <a:latin typeface="Cambria Math" panose="02040503050406030204" pitchFamily="18" charset="0"/>
                          <a:ea typeface="Calibri" pitchFamily="34" charset="-122"/>
                          <a:cs typeface="Calibri" pitchFamily="34" charset="-120"/>
                        </a:rPr>
                        <m:t>𝑘</m:t>
                      </m:r>
                      <m:r>
                        <a:rPr lang="en-US" sz="1400" i="1" dirty="0" smtClean="0">
                          <a:solidFill>
                            <a:srgbClr val="64748B"/>
                          </a:solidFill>
                          <a:latin typeface="Cambria Math" panose="02040503050406030204" pitchFamily="18" charset="0"/>
                          <a:ea typeface="Calibri" pitchFamily="34" charset="-122"/>
                          <a:cs typeface="Calibri" pitchFamily="34" charset="-120"/>
                        </a:rPr>
                        <m:t>=3)    |    </m:t>
                      </m:r>
                      <m:r>
                        <a:rPr lang="en-US" sz="1400" i="1" dirty="0" smtClean="0">
                          <a:solidFill>
                            <a:srgbClr val="64748B"/>
                          </a:solidFill>
                          <a:latin typeface="Cambria Math" panose="02040503050406030204" pitchFamily="18" charset="0"/>
                          <a:ea typeface="Calibri" pitchFamily="34" charset="-122"/>
                          <a:cs typeface="Calibri" pitchFamily="34" charset="-120"/>
                        </a:rPr>
                        <m:t>𝑑𝑖𝑙𝑎𝑡𝑒</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 </m:t>
                      </m:r>
                      <m:r>
                        <a:rPr lang="en-US" sz="1400" i="1" dirty="0" smtClean="0">
                          <a:solidFill>
                            <a:srgbClr val="64748B"/>
                          </a:solidFill>
                          <a:latin typeface="Cambria Math" panose="02040503050406030204" pitchFamily="18" charset="0"/>
                          <a:ea typeface="Calibri" pitchFamily="34" charset="-122"/>
                          <a:cs typeface="Calibri" pitchFamily="34" charset="-120"/>
                        </a:rPr>
                        <m:t>𝑀𝑎𝑥𝑃𝑜𝑜𝑙</m:t>
                      </m:r>
                      <m:r>
                        <a:rPr lang="en-US" sz="1400" i="1" dirty="0" smtClean="0">
                          <a:solidFill>
                            <a:srgbClr val="64748B"/>
                          </a:solidFill>
                          <a:latin typeface="Cambria Math" panose="02040503050406030204" pitchFamily="18" charset="0"/>
                          <a:ea typeface="Calibri" pitchFamily="34" charset="-122"/>
                          <a:cs typeface="Calibri" pitchFamily="34" charset="-120"/>
                        </a:rPr>
                        <m:t>3</m:t>
                      </m:r>
                      <m:r>
                        <a:rPr lang="en-US" sz="1400" i="1" dirty="0" smtClean="0">
                          <a:solidFill>
                            <a:srgbClr val="64748B"/>
                          </a:solidFill>
                          <a:latin typeface="Cambria Math" panose="02040503050406030204" pitchFamily="18" charset="0"/>
                          <a:ea typeface="Calibri" pitchFamily="34" charset="-122"/>
                          <a:cs typeface="Calibri" pitchFamily="34" charset="-120"/>
                        </a:rPr>
                        <m:t>𝐷</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m:t>
                      </m:r>
                      <m:r>
                        <a:rPr lang="en-US" sz="1400" i="1" dirty="0" smtClean="0">
                          <a:solidFill>
                            <a:srgbClr val="64748B"/>
                          </a:solidFill>
                          <a:latin typeface="Cambria Math" panose="02040503050406030204" pitchFamily="18" charset="0"/>
                          <a:ea typeface="Calibri" pitchFamily="34" charset="-122"/>
                          <a:cs typeface="Calibri" pitchFamily="34" charset="-120"/>
                        </a:rPr>
                        <m:t>𝑘</m:t>
                      </m:r>
                      <m:r>
                        <a:rPr lang="en-US" sz="1400" i="1" dirty="0" smtClean="0">
                          <a:solidFill>
                            <a:srgbClr val="64748B"/>
                          </a:solidFill>
                          <a:latin typeface="Cambria Math" panose="02040503050406030204" pitchFamily="18" charset="0"/>
                          <a:ea typeface="Calibri" pitchFamily="34" charset="-122"/>
                          <a:cs typeface="Calibri" pitchFamily="34" charset="-120"/>
                        </a:rPr>
                        <m:t>=3)</m:t>
                      </m:r>
                    </m:oMath>
                  </m:oMathPara>
                </a14:m>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en-US" sz="1400" i="1" dirty="0" smtClean="0">
                          <a:solidFill>
                            <a:srgbClr val="64748B"/>
                          </a:solidFill>
                          <a:latin typeface="Cambria Math" panose="02040503050406030204" pitchFamily="18" charset="0"/>
                          <a:ea typeface="Calibri" pitchFamily="34" charset="-122"/>
                          <a:cs typeface="Calibri" pitchFamily="34" charset="-120"/>
                        </a:rPr>
                        <m:t>𝑜𝑝𝑒𝑛</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 </m:t>
                      </m:r>
                      <m:r>
                        <a:rPr lang="en-US" sz="1400" i="1" dirty="0" smtClean="0">
                          <a:solidFill>
                            <a:srgbClr val="64748B"/>
                          </a:solidFill>
                          <a:latin typeface="Cambria Math" panose="02040503050406030204" pitchFamily="18" charset="0"/>
                          <a:ea typeface="Calibri" pitchFamily="34" charset="-122"/>
                          <a:cs typeface="Calibri" pitchFamily="34" charset="-120"/>
                        </a:rPr>
                        <m:t>𝑑𝑖𝑙𝑎𝑡𝑒</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𝑒𝑟𝑜𝑑𝑒</m:t>
                      </m:r>
                      <m:r>
                        <a:rPr lang="en-US" sz="1400" i="1" dirty="0" smtClean="0">
                          <a:solidFill>
                            <a:srgbClr val="64748B"/>
                          </a:solidFill>
                          <a:latin typeface="Cambria Math" panose="02040503050406030204" pitchFamily="18" charset="0"/>
                          <a:ea typeface="Calibri" pitchFamily="34" charset="-122"/>
                          <a:cs typeface="Calibri" pitchFamily="34" charset="-120"/>
                        </a:rPr>
                        <m:t>(</m:t>
                      </m:r>
                      <m:r>
                        <a:rPr lang="en-US" sz="1400" i="1" dirty="0" smtClean="0">
                          <a:solidFill>
                            <a:srgbClr val="64748B"/>
                          </a:solidFill>
                          <a:latin typeface="Cambria Math" panose="02040503050406030204" pitchFamily="18" charset="0"/>
                          <a:ea typeface="Calibri" pitchFamily="34" charset="-122"/>
                          <a:cs typeface="Calibri" pitchFamily="34" charset="-120"/>
                        </a:rPr>
                        <m:t>𝑥</m:t>
                      </m:r>
                      <m:r>
                        <a:rPr lang="en-US" sz="1400" i="1" dirty="0" smtClean="0">
                          <a:solidFill>
                            <a:srgbClr val="64748B"/>
                          </a:solidFill>
                          <a:latin typeface="Cambria Math" panose="02040503050406030204" pitchFamily="18" charset="0"/>
                          <a:ea typeface="Calibri" pitchFamily="34" charset="-122"/>
                          <a:cs typeface="Calibri" pitchFamily="34" charset="-120"/>
                        </a:rPr>
                        <m:t>))    |    </m:t>
                      </m:r>
                      <m:r>
                        <a:rPr lang="en-US" sz="1400" i="1" dirty="0" smtClean="0">
                          <a:solidFill>
                            <a:srgbClr val="64748B"/>
                          </a:solidFill>
                          <a:latin typeface="Cambria Math" panose="02040503050406030204" pitchFamily="18" charset="0"/>
                          <a:ea typeface="Calibri" pitchFamily="34" charset="-122"/>
                          <a:cs typeface="Calibri" pitchFamily="34" charset="-120"/>
                        </a:rPr>
                        <m:t>𝐾</m:t>
                      </m:r>
                      <m:r>
                        <a:rPr lang="en-US" sz="1400" i="1" dirty="0" smtClean="0">
                          <a:solidFill>
                            <a:srgbClr val="64748B"/>
                          </a:solidFill>
                          <a:latin typeface="Cambria Math" panose="02040503050406030204" pitchFamily="18" charset="0"/>
                          <a:ea typeface="Calibri" pitchFamily="34" charset="-122"/>
                          <a:cs typeface="Calibri" pitchFamily="34" charset="-120"/>
                        </a:rPr>
                        <m:t> = 10 </m:t>
                      </m:r>
                      <m:r>
                        <a:rPr lang="en-US" sz="1400" i="1" dirty="0" smtClean="0">
                          <a:solidFill>
                            <a:srgbClr val="64748B"/>
                          </a:solidFill>
                          <a:latin typeface="Cambria Math" panose="02040503050406030204" pitchFamily="18" charset="0"/>
                          <a:ea typeface="Calibri" pitchFamily="34" charset="-122"/>
                          <a:cs typeface="Calibri" pitchFamily="34" charset="-120"/>
                        </a:rPr>
                        <m:t>𝑖𝑡𝑒𝑟𝑎𝑡𝑖𝑜𝑛𝑠</m:t>
                      </m:r>
                    </m:oMath>
                  </m:oMathPara>
                </a14:m>
                <a:endParaRPr lang="en-US" dirty="0">
                  <a:latin typeface="+mj-lt"/>
                </a:endParaRPr>
              </a:p>
            </p:txBody>
          </p:sp>
        </mc:Choice>
        <mc:Fallback>
          <p:sp>
            <p:nvSpPr>
              <p:cNvPr id="9" name="Text 6">
                <a:extLst>
                  <a:ext uri="{FF2B5EF4-FFF2-40B4-BE49-F238E27FC236}">
                    <a16:creationId xmlns:a16="http://schemas.microsoft.com/office/drawing/2014/main" id="{123D43B7-1227-7360-9E36-5FB3E857A418}"/>
                  </a:ext>
                </a:extLst>
              </p:cNvPr>
              <p:cNvSpPr>
                <a:spLocks noRot="1" noChangeAspect="1" noMove="1" noResize="1" noEditPoints="1" noAdjustHandles="1" noChangeArrowheads="1" noChangeShapeType="1" noTextEdit="1"/>
              </p:cNvSpPr>
              <p:nvPr/>
            </p:nvSpPr>
            <p:spPr>
              <a:xfrm>
                <a:off x="487679" y="1920240"/>
                <a:ext cx="7185329" cy="1463040"/>
              </a:xfrm>
              <a:prstGeom prst="rect">
                <a:avLst/>
              </a:prstGeom>
              <a:blipFill>
                <a:blip r:embed="rId2"/>
                <a:stretch>
                  <a:fillRect/>
                </a:stretch>
              </a:blipFill>
              <a:ln/>
            </p:spPr>
            <p:txBody>
              <a:bodyPr/>
              <a:lstStyle/>
              <a:p>
                <a:r>
                  <a:rPr lang="en-US">
                    <a:noFill/>
                  </a:rPr>
                  <a:t> </a:t>
                </a:r>
              </a:p>
            </p:txBody>
          </p:sp>
        </mc:Fallback>
      </mc:AlternateContent>
      <p:sp>
        <p:nvSpPr>
          <p:cNvPr id="10" name="Shape 7">
            <a:extLst>
              <a:ext uri="{FF2B5EF4-FFF2-40B4-BE49-F238E27FC236}">
                <a16:creationId xmlns:a16="http://schemas.microsoft.com/office/drawing/2014/main" id="{4452E774-0730-E1F7-5659-61EE0AF0FECB}"/>
              </a:ext>
            </a:extLst>
          </p:cNvPr>
          <p:cNvSpPr/>
          <p:nvPr/>
        </p:nvSpPr>
        <p:spPr>
          <a:xfrm>
            <a:off x="7772400" y="1280160"/>
            <a:ext cx="3931920" cy="237744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1" name="Text 8">
            <a:extLst>
              <a:ext uri="{FF2B5EF4-FFF2-40B4-BE49-F238E27FC236}">
                <a16:creationId xmlns:a16="http://schemas.microsoft.com/office/drawing/2014/main" id="{7E298E7D-F22D-2B60-C46E-3C63791E76FE}"/>
              </a:ext>
            </a:extLst>
          </p:cNvPr>
          <p:cNvSpPr/>
          <p:nvPr/>
        </p:nvSpPr>
        <p:spPr>
          <a:xfrm>
            <a:off x="8046720" y="1371600"/>
            <a:ext cx="3474720" cy="365760"/>
          </a:xfrm>
          <a:prstGeom prst="rect">
            <a:avLst/>
          </a:prstGeom>
          <a:noFill/>
          <a:ln/>
        </p:spPr>
        <p:txBody>
          <a:bodyPr wrap="square" lIns="0" tIns="0" rIns="0" bIns="0" rtlCol="0" anchor="ctr"/>
          <a:lstStyle/>
          <a:p>
            <a:pPr marL="0" indent="0">
              <a:buNone/>
            </a:pPr>
            <a:r>
              <a:rPr lang="en-US" sz="2000" b="1" dirty="0">
                <a:solidFill>
                  <a:srgbClr val="D97706"/>
                </a:solidFill>
                <a:latin typeface="+mj-lt"/>
                <a:ea typeface="Calibri" pitchFamily="34" charset="-122"/>
                <a:cs typeface="Calibri" pitchFamily="34" charset="-120"/>
              </a:rPr>
              <a:t>Topology Metrics</a:t>
            </a:r>
            <a:endParaRPr lang="en-US" sz="2000" b="1" dirty="0">
              <a:latin typeface="+mj-lt"/>
            </a:endParaRPr>
          </a:p>
        </p:txBody>
      </p:sp>
      <p:sp>
        <p:nvSpPr>
          <p:cNvPr id="12" name="Shape 9">
            <a:extLst>
              <a:ext uri="{FF2B5EF4-FFF2-40B4-BE49-F238E27FC236}">
                <a16:creationId xmlns:a16="http://schemas.microsoft.com/office/drawing/2014/main" id="{11AE2654-1821-E157-A439-A837FFE3C4E4}"/>
              </a:ext>
            </a:extLst>
          </p:cNvPr>
          <p:cNvSpPr/>
          <p:nvPr/>
        </p:nvSpPr>
        <p:spPr>
          <a:xfrm>
            <a:off x="7955280" y="1874520"/>
            <a:ext cx="3566160" cy="1554480"/>
          </a:xfrm>
          <a:prstGeom prst="rect">
            <a:avLst/>
          </a:prstGeom>
          <a:solidFill>
            <a:srgbClr val="E8EFF8"/>
          </a:solidFill>
          <a:ln/>
        </p:spPr>
        <p:txBody>
          <a:bodyPr/>
          <a:lstStyle/>
          <a:p>
            <a:endParaRPr lang="en-US">
              <a:latin typeface="+mj-lt"/>
            </a:endParaRPr>
          </a:p>
        </p:txBody>
      </p:sp>
      <mc:AlternateContent xmlns:mc="http://schemas.openxmlformats.org/markup-compatibility/2006">
        <mc:Choice xmlns:a14="http://schemas.microsoft.com/office/drawing/2010/main" Requires="a14">
          <p:sp>
            <p:nvSpPr>
              <p:cNvPr id="13" name="Text 10">
                <a:extLst>
                  <a:ext uri="{FF2B5EF4-FFF2-40B4-BE49-F238E27FC236}">
                    <a16:creationId xmlns:a16="http://schemas.microsoft.com/office/drawing/2014/main" id="{41D20A24-7CF6-98A0-4C1A-4583ADF200B5}"/>
                  </a:ext>
                </a:extLst>
              </p:cNvPr>
              <p:cNvSpPr/>
              <p:nvPr/>
            </p:nvSpPr>
            <p:spPr>
              <a:xfrm>
                <a:off x="7673008" y="1828800"/>
                <a:ext cx="4035288" cy="1677725"/>
              </a:xfrm>
              <a:prstGeom prst="rect">
                <a:avLst/>
              </a:prstGeom>
              <a:noFill/>
              <a:ln/>
            </p:spPr>
            <p:txBody>
              <a:bodyPr wrap="square" rtlCol="0" anchor="ctr"/>
              <a:lstStyle/>
              <a:p>
                <a14:m>
                  <m:oMathPara xmlns:m="http://schemas.openxmlformats.org/officeDocument/2006/math">
                    <m:oMathParaPr>
                      <m:jc m:val="centerGroup"/>
                    </m:oMathParaPr>
                    <m:oMath xmlns:m="http://schemas.openxmlformats.org/officeDocument/2006/math">
                      <m:r>
                        <a:rPr lang="en-US" sz="1600" i="1" dirty="0" smtClean="0">
                          <a:solidFill>
                            <a:srgbClr val="1E293B"/>
                          </a:solidFill>
                          <a:latin typeface="Cambria Math" panose="02040503050406030204" pitchFamily="18" charset="0"/>
                          <a:ea typeface="Calibri" pitchFamily="34" charset="-122"/>
                          <a:cs typeface="Calibri" pitchFamily="34" charset="-120"/>
                        </a:rPr>
                        <m:t>𝑇</m:t>
                      </m:r>
                      <m:r>
                        <a:rPr lang="en-US" sz="1050" i="1" dirty="0">
                          <a:solidFill>
                            <a:srgbClr val="1E293B"/>
                          </a:solidFill>
                          <a:latin typeface="Cambria Math" panose="02040503050406030204" pitchFamily="18" charset="0"/>
                          <a:ea typeface="Calibri" pitchFamily="34" charset="-122"/>
                          <a:cs typeface="Calibri" pitchFamily="34" charset="-120"/>
                        </a:rPr>
                        <m:t>𝑝𝑟𝑒𝑐</m:t>
                      </m:r>
                      <m:r>
                        <a:rPr lang="en-US" sz="1600" i="1" dirty="0">
                          <a:solidFill>
                            <a:srgbClr val="1E293B"/>
                          </a:solidFill>
                          <a:latin typeface="Cambria Math" panose="02040503050406030204" pitchFamily="18" charset="0"/>
                          <a:ea typeface="Calibri" pitchFamily="34" charset="-122"/>
                          <a:cs typeface="Calibri" pitchFamily="34" charset="-120"/>
                        </a:rPr>
                        <m:t> = </m:t>
                      </m:r>
                      <m:f>
                        <m:fPr>
                          <m:ctrlPr>
                            <a:rPr lang="en-US" sz="1600" i="1" dirty="0" smtClean="0">
                              <a:solidFill>
                                <a:srgbClr val="1E293B"/>
                              </a:solidFill>
                              <a:latin typeface="Cambria Math" panose="02040503050406030204" pitchFamily="18" charset="0"/>
                              <a:ea typeface="Calibri" pitchFamily="34" charset="-122"/>
                              <a:cs typeface="Calibri" pitchFamily="34" charset="-120"/>
                            </a:rPr>
                          </m:ctrlPr>
                        </m:fPr>
                        <m:num>
                          <m:r>
                            <a:rPr lang="en-US" sz="1600" i="1" dirty="0" smtClean="0">
                              <a:solidFill>
                                <a:srgbClr val="1E293B"/>
                              </a:solidFill>
                              <a:latin typeface="Cambria Math" panose="02040503050406030204" pitchFamily="18" charset="0"/>
                              <a:ea typeface="Calibri" pitchFamily="34" charset="-122"/>
                              <a:cs typeface="Calibri" pitchFamily="34" charset="-120"/>
                            </a:rPr>
                            <m:t>|</m:t>
                          </m:r>
                          <m:r>
                            <a:rPr lang="en-US" sz="1600" i="1" dirty="0" smtClean="0">
                              <a:solidFill>
                                <a:srgbClr val="1E293B"/>
                              </a:solidFill>
                              <a:latin typeface="Cambria Math" panose="02040503050406030204" pitchFamily="18" charset="0"/>
                              <a:ea typeface="Calibri" pitchFamily="34" charset="-122"/>
                              <a:cs typeface="Calibri" pitchFamily="34" charset="-120"/>
                            </a:rPr>
                            <m:t>𝑠𝑘𝑒𝑙</m:t>
                          </m:r>
                          <m:r>
                            <a:rPr lang="en-US" sz="1600" i="1" dirty="0" smtClean="0">
                              <a:solidFill>
                                <a:srgbClr val="1E293B"/>
                              </a:solidFill>
                              <a:latin typeface="Cambria Math" panose="02040503050406030204" pitchFamily="18" charset="0"/>
                              <a:ea typeface="Calibri" pitchFamily="34" charset="-122"/>
                              <a:cs typeface="Calibri" pitchFamily="34" charset="-120"/>
                            </a:rPr>
                            <m:t>(ŷ) · </m:t>
                          </m:r>
                          <m:r>
                            <a:rPr lang="en-US" sz="1600" i="1" dirty="0" smtClean="0">
                              <a:solidFill>
                                <a:srgbClr val="1E293B"/>
                              </a:solidFill>
                              <a:latin typeface="Cambria Math" panose="02040503050406030204" pitchFamily="18" charset="0"/>
                              <a:ea typeface="Calibri" pitchFamily="34" charset="-122"/>
                              <a:cs typeface="Calibri" pitchFamily="34" charset="-120"/>
                            </a:rPr>
                            <m:t>𝑦</m:t>
                          </m:r>
                          <m:r>
                            <a:rPr lang="en-US" sz="1600" i="1" dirty="0" smtClean="0">
                              <a:solidFill>
                                <a:srgbClr val="1E293B"/>
                              </a:solidFill>
                              <a:latin typeface="Cambria Math" panose="02040503050406030204" pitchFamily="18" charset="0"/>
                              <a:ea typeface="Calibri" pitchFamily="34" charset="-122"/>
                              <a:cs typeface="Calibri" pitchFamily="34" charset="-120"/>
                            </a:rPr>
                            <m:t>|</m:t>
                          </m:r>
                        </m:num>
                        <m:den>
                          <m:r>
                            <a:rPr lang="en-US" sz="1600" i="1" dirty="0" smtClean="0">
                              <a:solidFill>
                                <a:srgbClr val="1E293B"/>
                              </a:solidFill>
                              <a:latin typeface="Cambria Math" panose="02040503050406030204" pitchFamily="18" charset="0"/>
                              <a:ea typeface="Calibri" pitchFamily="34" charset="-122"/>
                              <a:cs typeface="Calibri" pitchFamily="34" charset="-120"/>
                            </a:rPr>
                            <m:t>|</m:t>
                          </m:r>
                          <m:r>
                            <a:rPr lang="en-US" sz="1600" i="1" dirty="0" smtClean="0">
                              <a:solidFill>
                                <a:srgbClr val="1E293B"/>
                              </a:solidFill>
                              <a:latin typeface="Cambria Math" panose="02040503050406030204" pitchFamily="18" charset="0"/>
                              <a:ea typeface="Calibri" pitchFamily="34" charset="-122"/>
                              <a:cs typeface="Calibri" pitchFamily="34" charset="-120"/>
                            </a:rPr>
                            <m:t>𝑠𝑘𝑒𝑙</m:t>
                          </m:r>
                          <m:r>
                            <a:rPr lang="en-US" sz="1600" i="1" dirty="0" smtClean="0">
                              <a:solidFill>
                                <a:srgbClr val="1E293B"/>
                              </a:solidFill>
                              <a:latin typeface="Cambria Math" panose="02040503050406030204" pitchFamily="18" charset="0"/>
                              <a:ea typeface="Calibri" pitchFamily="34" charset="-122"/>
                              <a:cs typeface="Calibri" pitchFamily="34" charset="-120"/>
                            </a:rPr>
                            <m:t>(ŷ)|</m:t>
                          </m:r>
                        </m:den>
                      </m:f>
                    </m:oMath>
                  </m:oMathPara>
                </a14:m>
                <a:endParaRPr lang="en-US" sz="1600" dirty="0">
                  <a:latin typeface="+mj-lt"/>
                </a:endParaRPr>
              </a:p>
              <a:p>
                <a:pPr marL="0" indent="0">
                  <a:buNone/>
                </a:pPr>
                <a:endParaRPr lang="en-US" sz="1600" dirty="0">
                  <a:latin typeface="+mj-lt"/>
                </a:endParaRPr>
              </a:p>
              <a:p>
                <a14:m>
                  <m:oMathPara xmlns:m="http://schemas.openxmlformats.org/officeDocument/2006/math">
                    <m:oMathParaPr>
                      <m:jc m:val="centerGroup"/>
                    </m:oMathParaPr>
                    <m:oMath xmlns:m="http://schemas.openxmlformats.org/officeDocument/2006/math">
                      <m:r>
                        <a:rPr lang="en-US" sz="1600" i="1" dirty="0" smtClean="0">
                          <a:solidFill>
                            <a:srgbClr val="1E293B"/>
                          </a:solidFill>
                          <a:latin typeface="Cambria Math" panose="02040503050406030204" pitchFamily="18" charset="0"/>
                          <a:ea typeface="Calibri" pitchFamily="34" charset="-122"/>
                          <a:cs typeface="Calibri" pitchFamily="34" charset="-120"/>
                        </a:rPr>
                        <m:t>𝑇</m:t>
                      </m:r>
                      <m:r>
                        <a:rPr lang="en-US" sz="1050" i="1" dirty="0">
                          <a:solidFill>
                            <a:srgbClr val="1E293B"/>
                          </a:solidFill>
                          <a:latin typeface="Cambria Math" panose="02040503050406030204" pitchFamily="18" charset="0"/>
                          <a:ea typeface="Calibri" pitchFamily="34" charset="-122"/>
                          <a:cs typeface="Calibri" pitchFamily="34" charset="-120"/>
                        </a:rPr>
                        <m:t>𝑠𝑒𝑛𝑠</m:t>
                      </m:r>
                      <m:r>
                        <a:rPr lang="en-US" sz="1600" i="1" dirty="0">
                          <a:solidFill>
                            <a:srgbClr val="1E293B"/>
                          </a:solidFill>
                          <a:latin typeface="Cambria Math" panose="02040503050406030204" pitchFamily="18" charset="0"/>
                          <a:ea typeface="Calibri" pitchFamily="34" charset="-122"/>
                          <a:cs typeface="Calibri" pitchFamily="34" charset="-120"/>
                        </a:rPr>
                        <m:t> = </m:t>
                      </m:r>
                      <m:f>
                        <m:fPr>
                          <m:ctrlPr>
                            <a:rPr lang="en-US" sz="1600" i="1" dirty="0" smtClean="0">
                              <a:solidFill>
                                <a:srgbClr val="1E293B"/>
                              </a:solidFill>
                              <a:latin typeface="Cambria Math" panose="02040503050406030204" pitchFamily="18" charset="0"/>
                              <a:ea typeface="Calibri" pitchFamily="34" charset="-122"/>
                              <a:cs typeface="Calibri" pitchFamily="34" charset="-120"/>
                            </a:rPr>
                          </m:ctrlPr>
                        </m:fPr>
                        <m:num>
                          <m:r>
                            <a:rPr lang="en-US" sz="1600" i="1" dirty="0" smtClean="0">
                              <a:solidFill>
                                <a:srgbClr val="1E293B"/>
                              </a:solidFill>
                              <a:latin typeface="Cambria Math" panose="02040503050406030204" pitchFamily="18" charset="0"/>
                              <a:ea typeface="Calibri" pitchFamily="34" charset="-122"/>
                              <a:cs typeface="Calibri" pitchFamily="34" charset="-120"/>
                            </a:rPr>
                            <m:t>|ŷ · </m:t>
                          </m:r>
                          <m:r>
                            <a:rPr lang="en-US" sz="1600" i="1" dirty="0" smtClean="0">
                              <a:solidFill>
                                <a:srgbClr val="1E293B"/>
                              </a:solidFill>
                              <a:latin typeface="Cambria Math" panose="02040503050406030204" pitchFamily="18" charset="0"/>
                              <a:ea typeface="Calibri" pitchFamily="34" charset="-122"/>
                              <a:cs typeface="Calibri" pitchFamily="34" charset="-120"/>
                            </a:rPr>
                            <m:t>𝑠𝑘𝑒𝑙</m:t>
                          </m:r>
                          <m:r>
                            <a:rPr lang="en-US" sz="1600" i="1" dirty="0" smtClean="0">
                              <a:solidFill>
                                <a:srgbClr val="1E293B"/>
                              </a:solidFill>
                              <a:latin typeface="Cambria Math" panose="02040503050406030204" pitchFamily="18" charset="0"/>
                              <a:ea typeface="Calibri" pitchFamily="34" charset="-122"/>
                              <a:cs typeface="Calibri" pitchFamily="34" charset="-120"/>
                            </a:rPr>
                            <m:t>(</m:t>
                          </m:r>
                          <m:r>
                            <a:rPr lang="en-US" sz="1600" i="1" dirty="0" smtClean="0">
                              <a:solidFill>
                                <a:srgbClr val="1E293B"/>
                              </a:solidFill>
                              <a:latin typeface="Cambria Math" panose="02040503050406030204" pitchFamily="18" charset="0"/>
                              <a:ea typeface="Calibri" pitchFamily="34" charset="-122"/>
                              <a:cs typeface="Calibri" pitchFamily="34" charset="-120"/>
                            </a:rPr>
                            <m:t>𝑦</m:t>
                          </m:r>
                          <m:r>
                            <a:rPr lang="en-US" sz="1600" i="1" dirty="0" smtClean="0">
                              <a:solidFill>
                                <a:srgbClr val="1E293B"/>
                              </a:solidFill>
                              <a:latin typeface="Cambria Math" panose="02040503050406030204" pitchFamily="18" charset="0"/>
                              <a:ea typeface="Calibri" pitchFamily="34" charset="-122"/>
                              <a:cs typeface="Calibri" pitchFamily="34" charset="-120"/>
                            </a:rPr>
                            <m:t>)|</m:t>
                          </m:r>
                        </m:num>
                        <m:den>
                          <m:r>
                            <a:rPr lang="en-US" sz="1600" i="1" dirty="0" smtClean="0">
                              <a:solidFill>
                                <a:srgbClr val="1E293B"/>
                              </a:solidFill>
                              <a:latin typeface="Cambria Math" panose="02040503050406030204" pitchFamily="18" charset="0"/>
                              <a:ea typeface="Calibri" pitchFamily="34" charset="-122"/>
                              <a:cs typeface="Calibri" pitchFamily="34" charset="-120"/>
                            </a:rPr>
                            <m:t>|</m:t>
                          </m:r>
                          <m:r>
                            <a:rPr lang="en-US" sz="1600" i="1" dirty="0" smtClean="0">
                              <a:solidFill>
                                <a:srgbClr val="1E293B"/>
                              </a:solidFill>
                              <a:latin typeface="Cambria Math" panose="02040503050406030204" pitchFamily="18" charset="0"/>
                              <a:ea typeface="Calibri" pitchFamily="34" charset="-122"/>
                              <a:cs typeface="Calibri" pitchFamily="34" charset="-120"/>
                            </a:rPr>
                            <m:t>𝑠𝑘𝑒𝑙</m:t>
                          </m:r>
                          <m:r>
                            <a:rPr lang="en-US" sz="1600" i="1" dirty="0" smtClean="0">
                              <a:solidFill>
                                <a:srgbClr val="1E293B"/>
                              </a:solidFill>
                              <a:latin typeface="Cambria Math" panose="02040503050406030204" pitchFamily="18" charset="0"/>
                              <a:ea typeface="Calibri" pitchFamily="34" charset="-122"/>
                              <a:cs typeface="Calibri" pitchFamily="34" charset="-120"/>
                            </a:rPr>
                            <m:t>(</m:t>
                          </m:r>
                          <m:r>
                            <a:rPr lang="en-US" sz="1600" i="1" dirty="0" smtClean="0">
                              <a:solidFill>
                                <a:srgbClr val="1E293B"/>
                              </a:solidFill>
                              <a:latin typeface="Cambria Math" panose="02040503050406030204" pitchFamily="18" charset="0"/>
                              <a:ea typeface="Calibri" pitchFamily="34" charset="-122"/>
                              <a:cs typeface="Calibri" pitchFamily="34" charset="-120"/>
                            </a:rPr>
                            <m:t>𝑦</m:t>
                          </m:r>
                          <m:r>
                            <a:rPr lang="en-US" sz="1600" i="1" dirty="0" smtClean="0">
                              <a:solidFill>
                                <a:srgbClr val="1E293B"/>
                              </a:solidFill>
                              <a:latin typeface="Cambria Math" panose="02040503050406030204" pitchFamily="18" charset="0"/>
                              <a:ea typeface="Calibri" pitchFamily="34" charset="-122"/>
                              <a:cs typeface="Calibri" pitchFamily="34" charset="-120"/>
                            </a:rPr>
                            <m:t>)|</m:t>
                          </m:r>
                        </m:den>
                      </m:f>
                    </m:oMath>
                  </m:oMathPara>
                </a14:m>
                <a:endParaRPr lang="en-US" sz="1600" dirty="0">
                  <a:latin typeface="+mj-lt"/>
                </a:endParaRPr>
              </a:p>
              <a:p>
                <a:pPr marL="0" indent="0">
                  <a:buNone/>
                </a:pPr>
                <a:endParaRPr lang="en-US" sz="1600" dirty="0">
                  <a:latin typeface="+mj-lt"/>
                </a:endParaRPr>
              </a:p>
              <a:p>
                <a14:m>
                  <m:oMathPara xmlns:m="http://schemas.openxmlformats.org/officeDocument/2006/math">
                    <m:oMathParaPr>
                      <m:jc m:val="centerGroup"/>
                    </m:oMathParaPr>
                    <m:oMath xmlns:m="http://schemas.openxmlformats.org/officeDocument/2006/math">
                      <m:r>
                        <a:rPr lang="en-US" sz="1050" i="1" dirty="0" smtClean="0">
                          <a:solidFill>
                            <a:srgbClr val="1E293B"/>
                          </a:solidFill>
                          <a:latin typeface="Cambria Math" panose="02040503050406030204" pitchFamily="18" charset="0"/>
                          <a:ea typeface="Calibri" pitchFamily="34" charset="-122"/>
                          <a:cs typeface="Calibri" pitchFamily="34" charset="-120"/>
                        </a:rPr>
                        <m:t>𝑐𝑙𝐷𝑖𝑐𝑒</m:t>
                      </m:r>
                      <m:r>
                        <a:rPr lang="en-US" sz="1050" i="1" dirty="0" smtClean="0">
                          <a:solidFill>
                            <a:srgbClr val="1E293B"/>
                          </a:solidFill>
                          <a:latin typeface="Cambria Math" panose="02040503050406030204" pitchFamily="18" charset="0"/>
                          <a:ea typeface="Calibri" pitchFamily="34" charset="-122"/>
                          <a:cs typeface="Calibri" pitchFamily="34" charset="-120"/>
                        </a:rPr>
                        <m:t> = </m:t>
                      </m:r>
                      <m:f>
                        <m:fPr>
                          <m:ctrlPr>
                            <a:rPr lang="en-US" sz="1050" i="1" dirty="0" smtClean="0">
                              <a:solidFill>
                                <a:srgbClr val="1E293B"/>
                              </a:solidFill>
                              <a:latin typeface="Cambria Math" panose="02040503050406030204" pitchFamily="18" charset="0"/>
                              <a:ea typeface="Calibri" pitchFamily="34" charset="-122"/>
                              <a:cs typeface="Calibri" pitchFamily="34" charset="-120"/>
                            </a:rPr>
                          </m:ctrlPr>
                        </m:fPr>
                        <m:num>
                          <m:r>
                            <a:rPr lang="en-US" i="1" dirty="0" smtClean="0">
                              <a:solidFill>
                                <a:srgbClr val="1E293B"/>
                              </a:solidFill>
                              <a:latin typeface="Cambria Math" panose="02040503050406030204" pitchFamily="18" charset="0"/>
                              <a:ea typeface="Calibri" pitchFamily="34" charset="-122"/>
                              <a:cs typeface="Calibri" pitchFamily="34" charset="-120"/>
                            </a:rPr>
                            <m:t>2·</m:t>
                          </m:r>
                          <m:r>
                            <a:rPr lang="en-US" i="1" dirty="0" smtClean="0">
                              <a:solidFill>
                                <a:srgbClr val="1E293B"/>
                              </a:solidFill>
                              <a:latin typeface="Cambria Math" panose="02040503050406030204" pitchFamily="18" charset="0"/>
                              <a:ea typeface="Calibri" pitchFamily="34" charset="-122"/>
                              <a:cs typeface="Calibri" pitchFamily="34" charset="-120"/>
                            </a:rPr>
                            <m:t>𝑇</m:t>
                          </m:r>
                          <m:r>
                            <a:rPr lang="en-US" sz="1050" i="1" dirty="0">
                              <a:solidFill>
                                <a:srgbClr val="1E293B"/>
                              </a:solidFill>
                              <a:latin typeface="Cambria Math" panose="02040503050406030204" pitchFamily="18" charset="0"/>
                              <a:ea typeface="Calibri" pitchFamily="34" charset="-122"/>
                              <a:cs typeface="Calibri" pitchFamily="34" charset="-120"/>
                            </a:rPr>
                            <m:t>𝑝𝑟𝑒𝑐</m:t>
                          </m:r>
                          <m:r>
                            <a:rPr lang="en-US" i="1" dirty="0">
                              <a:solidFill>
                                <a:srgbClr val="1E293B"/>
                              </a:solidFill>
                              <a:latin typeface="Cambria Math" panose="02040503050406030204" pitchFamily="18" charset="0"/>
                              <a:ea typeface="Calibri" pitchFamily="34" charset="-122"/>
                              <a:cs typeface="Calibri" pitchFamily="34" charset="-120"/>
                            </a:rPr>
                            <m:t>·</m:t>
                          </m:r>
                          <m:r>
                            <a:rPr lang="en-US" i="1" dirty="0">
                              <a:solidFill>
                                <a:srgbClr val="1E293B"/>
                              </a:solidFill>
                              <a:latin typeface="Cambria Math" panose="02040503050406030204" pitchFamily="18" charset="0"/>
                              <a:ea typeface="Calibri" pitchFamily="34" charset="-122"/>
                              <a:cs typeface="Calibri" pitchFamily="34" charset="-120"/>
                            </a:rPr>
                            <m:t>𝑇</m:t>
                          </m:r>
                          <m:r>
                            <a:rPr lang="en-US" sz="1050" i="1" dirty="0">
                              <a:solidFill>
                                <a:srgbClr val="1E293B"/>
                              </a:solidFill>
                              <a:latin typeface="Cambria Math" panose="02040503050406030204" pitchFamily="18" charset="0"/>
                              <a:ea typeface="Calibri" pitchFamily="34" charset="-122"/>
                              <a:cs typeface="Calibri" pitchFamily="34" charset="-120"/>
                            </a:rPr>
                            <m:t>𝑠𝑒𝑛𝑠</m:t>
                          </m:r>
                        </m:num>
                        <m:den>
                          <m:r>
                            <a:rPr lang="en-US" sz="1200" i="1" dirty="0" smtClean="0">
                              <a:solidFill>
                                <a:srgbClr val="1E293B"/>
                              </a:solidFill>
                              <a:latin typeface="Cambria Math" panose="02040503050406030204" pitchFamily="18" charset="0"/>
                              <a:ea typeface="Calibri" pitchFamily="34" charset="-122"/>
                              <a:cs typeface="Calibri" pitchFamily="34" charset="-120"/>
                            </a:rPr>
                            <m:t>(</m:t>
                          </m:r>
                          <m:r>
                            <a:rPr lang="en-US" sz="1200" i="1" dirty="0" smtClean="0">
                              <a:solidFill>
                                <a:srgbClr val="1E293B"/>
                              </a:solidFill>
                              <a:latin typeface="Cambria Math" panose="02040503050406030204" pitchFamily="18" charset="0"/>
                              <a:ea typeface="Calibri" pitchFamily="34" charset="-122"/>
                              <a:cs typeface="Calibri" pitchFamily="34" charset="-120"/>
                            </a:rPr>
                            <m:t>𝑇</m:t>
                          </m:r>
                          <m:r>
                            <a:rPr lang="en-US" sz="800" i="1" dirty="0">
                              <a:solidFill>
                                <a:srgbClr val="1E293B"/>
                              </a:solidFill>
                              <a:latin typeface="Cambria Math" panose="02040503050406030204" pitchFamily="18" charset="0"/>
                              <a:ea typeface="Calibri" pitchFamily="34" charset="-122"/>
                              <a:cs typeface="Calibri" pitchFamily="34" charset="-120"/>
                            </a:rPr>
                            <m:t>𝑝𝑟𝑒𝑐</m:t>
                          </m:r>
                          <m:r>
                            <a:rPr lang="en-US" sz="1200" i="1" dirty="0">
                              <a:solidFill>
                                <a:srgbClr val="1E293B"/>
                              </a:solidFill>
                              <a:latin typeface="Cambria Math" panose="02040503050406030204" pitchFamily="18" charset="0"/>
                              <a:ea typeface="Calibri" pitchFamily="34" charset="-122"/>
                              <a:cs typeface="Calibri" pitchFamily="34" charset="-120"/>
                            </a:rPr>
                            <m:t>+</m:t>
                          </m:r>
                          <m:r>
                            <a:rPr lang="en-US" sz="1200" i="1" dirty="0">
                              <a:solidFill>
                                <a:srgbClr val="1E293B"/>
                              </a:solidFill>
                              <a:latin typeface="Cambria Math" panose="02040503050406030204" pitchFamily="18" charset="0"/>
                              <a:ea typeface="Calibri" pitchFamily="34" charset="-122"/>
                              <a:cs typeface="Calibri" pitchFamily="34" charset="-120"/>
                            </a:rPr>
                            <m:t>𝑇</m:t>
                          </m:r>
                          <m:r>
                            <a:rPr lang="en-US" sz="800" i="1" dirty="0">
                              <a:solidFill>
                                <a:srgbClr val="1E293B"/>
                              </a:solidFill>
                              <a:latin typeface="Cambria Math" panose="02040503050406030204" pitchFamily="18" charset="0"/>
                              <a:ea typeface="Calibri" pitchFamily="34" charset="-122"/>
                              <a:cs typeface="Calibri" pitchFamily="34" charset="-120"/>
                            </a:rPr>
                            <m:t>𝑠𝑒𝑛𝑠</m:t>
                          </m:r>
                          <m:r>
                            <a:rPr lang="en-US" sz="1200" i="1" dirty="0">
                              <a:solidFill>
                                <a:srgbClr val="1E293B"/>
                              </a:solidFill>
                              <a:latin typeface="Cambria Math" panose="02040503050406030204" pitchFamily="18" charset="0"/>
                              <a:ea typeface="Calibri" pitchFamily="34" charset="-122"/>
                              <a:cs typeface="Calibri" pitchFamily="34" charset="-120"/>
                            </a:rPr>
                            <m:t>)</m:t>
                          </m:r>
                        </m:den>
                      </m:f>
                    </m:oMath>
                  </m:oMathPara>
                </a14:m>
                <a:endParaRPr lang="en-US" sz="1600" dirty="0">
                  <a:latin typeface="+mj-lt"/>
                </a:endParaRPr>
              </a:p>
            </p:txBody>
          </p:sp>
        </mc:Choice>
        <mc:Fallback>
          <p:sp>
            <p:nvSpPr>
              <p:cNvPr id="13" name="Text 10">
                <a:extLst>
                  <a:ext uri="{FF2B5EF4-FFF2-40B4-BE49-F238E27FC236}">
                    <a16:creationId xmlns:a16="http://schemas.microsoft.com/office/drawing/2014/main" id="{41D20A24-7CF6-98A0-4C1A-4583ADF200B5}"/>
                  </a:ext>
                </a:extLst>
              </p:cNvPr>
              <p:cNvSpPr>
                <a:spLocks noRot="1" noChangeAspect="1" noMove="1" noResize="1" noEditPoints="1" noAdjustHandles="1" noChangeArrowheads="1" noChangeShapeType="1" noTextEdit="1"/>
              </p:cNvSpPr>
              <p:nvPr/>
            </p:nvSpPr>
            <p:spPr>
              <a:xfrm>
                <a:off x="7673008" y="1828800"/>
                <a:ext cx="4035288" cy="1677725"/>
              </a:xfrm>
              <a:prstGeom prst="rect">
                <a:avLst/>
              </a:prstGeom>
              <a:blipFill>
                <a:blip r:embed="rId3"/>
                <a:stretch>
                  <a:fillRect t="-4727" b="-11636"/>
                </a:stretch>
              </a:blipFill>
              <a:ln/>
            </p:spPr>
            <p:txBody>
              <a:bodyPr/>
              <a:lstStyle/>
              <a:p>
                <a:r>
                  <a:rPr lang="en-US">
                    <a:noFill/>
                  </a:rPr>
                  <a:t> </a:t>
                </a:r>
              </a:p>
            </p:txBody>
          </p:sp>
        </mc:Fallback>
      </mc:AlternateContent>
      <p:sp>
        <p:nvSpPr>
          <p:cNvPr id="14" name="Shape 11">
            <a:extLst>
              <a:ext uri="{FF2B5EF4-FFF2-40B4-BE49-F238E27FC236}">
                <a16:creationId xmlns:a16="http://schemas.microsoft.com/office/drawing/2014/main" id="{B7B1E8E8-A0EF-6909-5055-D73401197BF3}"/>
              </a:ext>
            </a:extLst>
          </p:cNvPr>
          <p:cNvSpPr/>
          <p:nvPr/>
        </p:nvSpPr>
        <p:spPr>
          <a:xfrm>
            <a:off x="548640" y="3931920"/>
            <a:ext cx="10972800" cy="914400"/>
          </a:xfrm>
          <a:prstGeom prst="rect">
            <a:avLst/>
          </a:prstGeom>
          <a:solidFill>
            <a:srgbClr val="E8EFF8"/>
          </a:solidFill>
          <a:ln/>
        </p:spPr>
        <p:txBody>
          <a:bodyPr/>
          <a:lstStyle/>
          <a:p>
            <a:endParaRPr lang="en-US">
              <a:latin typeface="+mj-lt"/>
            </a:endParaRPr>
          </a:p>
        </p:txBody>
      </p:sp>
      <mc:AlternateContent xmlns:mc="http://schemas.openxmlformats.org/markup-compatibility/2006">
        <mc:Choice xmlns:a14="http://schemas.microsoft.com/office/drawing/2010/main" Requires="a14">
          <p:sp>
            <p:nvSpPr>
              <p:cNvPr id="15" name="Text 12">
                <a:extLst>
                  <a:ext uri="{FF2B5EF4-FFF2-40B4-BE49-F238E27FC236}">
                    <a16:creationId xmlns:a16="http://schemas.microsoft.com/office/drawing/2014/main" id="{537CBC30-FA0E-AAF1-FC0C-B3115FBBCC77}"/>
                  </a:ext>
                </a:extLst>
              </p:cNvPr>
              <p:cNvSpPr/>
              <p:nvPr/>
            </p:nvSpPr>
            <p:spPr>
              <a:xfrm>
                <a:off x="731520" y="3977640"/>
                <a:ext cx="10607040" cy="822960"/>
              </a:xfrm>
              <a:prstGeom prst="rect">
                <a:avLst/>
              </a:prstGeom>
              <a:noFill/>
              <a:ln/>
            </p:spPr>
            <p:txBody>
              <a:bodyPr wrap="square" rtlCol="0" anchor="ctr"/>
              <a:lstStyle/>
              <a:p>
                <a:pPr marL="0" indent="0" algn="ctr">
                  <a:buNone/>
                </a:pPr>
                <a:r>
                  <a:rPr lang="en-US" sz="2000" b="1" dirty="0">
                    <a:solidFill>
                      <a:srgbClr val="1E293B"/>
                    </a:solidFill>
                    <a:latin typeface="+mj-lt"/>
                    <a:ea typeface="Calibri" pitchFamily="34" charset="-122"/>
                    <a:cs typeface="Calibri" pitchFamily="34" charset="-120"/>
                  </a:rPr>
                  <a:t>Combined: </a:t>
                </a:r>
                <a14:m>
                  <m:oMath xmlns:m="http://schemas.openxmlformats.org/officeDocument/2006/math">
                    <m:sSub>
                      <m:sSubPr>
                        <m:ctrlPr>
                          <a:rPr lang="en-US" sz="2000" b="1" i="1" smtClean="0">
                            <a:solidFill>
                              <a:srgbClr val="1E293B"/>
                            </a:solidFill>
                            <a:latin typeface="Cambria Math" panose="02040503050406030204" pitchFamily="18" charset="0"/>
                            <a:ea typeface="Calibri" pitchFamily="34" charset="-122"/>
                            <a:cs typeface="Calibri" pitchFamily="34" charset="-120"/>
                          </a:rPr>
                        </m:ctrlPr>
                      </m:sSubPr>
                      <m:e>
                        <m:r>
                          <a:rPr lang="en-US" sz="2000" b="1" i="1" smtClean="0">
                            <a:solidFill>
                              <a:srgbClr val="1E293B"/>
                            </a:solidFill>
                            <a:latin typeface="Cambria Math" panose="02040503050406030204" pitchFamily="18" charset="0"/>
                            <a:ea typeface="Calibri" pitchFamily="34" charset="-122"/>
                            <a:cs typeface="Calibri" pitchFamily="34" charset="-120"/>
                          </a:rPr>
                          <m:t>𝑳</m:t>
                        </m:r>
                      </m:e>
                      <m:sub>
                        <m:r>
                          <a:rPr lang="en-US" sz="2000" b="1" i="1" smtClean="0">
                            <a:solidFill>
                              <a:srgbClr val="1E293B"/>
                            </a:solidFill>
                            <a:latin typeface="Cambria Math" panose="02040503050406030204" pitchFamily="18" charset="0"/>
                            <a:ea typeface="Calibri" pitchFamily="34" charset="-122"/>
                            <a:cs typeface="Calibri" pitchFamily="34" charset="-120"/>
                          </a:rPr>
                          <m:t>𝒄𝒍𝑫𝒊𝒄𝒆</m:t>
                        </m:r>
                      </m:sub>
                    </m:sSub>
                    <m:r>
                      <a:rPr lang="en-US" sz="2000" b="1" i="1" smtClean="0">
                        <a:solidFill>
                          <a:srgbClr val="1E293B"/>
                        </a:solidFill>
                        <a:latin typeface="Cambria Math" panose="02040503050406030204" pitchFamily="18" charset="0"/>
                        <a:ea typeface="Calibri" pitchFamily="34" charset="-122"/>
                        <a:cs typeface="Calibri" pitchFamily="34" charset="-120"/>
                      </a:rPr>
                      <m:t>=</m:t>
                    </m:r>
                    <m:d>
                      <m:dPr>
                        <m:ctrlPr>
                          <a:rPr lang="en-US" sz="2000" b="1" i="1" smtClean="0">
                            <a:solidFill>
                              <a:srgbClr val="1E293B"/>
                            </a:solidFill>
                            <a:latin typeface="Cambria Math" panose="02040503050406030204" pitchFamily="18" charset="0"/>
                            <a:ea typeface="Calibri" pitchFamily="34" charset="-122"/>
                            <a:cs typeface="Calibri" pitchFamily="34" charset="-120"/>
                          </a:rPr>
                        </m:ctrlPr>
                      </m:dPr>
                      <m:e>
                        <m:r>
                          <a:rPr lang="en-US" sz="2000" b="1" i="1" smtClean="0">
                            <a:solidFill>
                              <a:srgbClr val="1E293B"/>
                            </a:solidFill>
                            <a:latin typeface="Cambria Math" panose="02040503050406030204" pitchFamily="18" charset="0"/>
                            <a:ea typeface="Calibri" pitchFamily="34" charset="-122"/>
                            <a:cs typeface="Calibri" pitchFamily="34" charset="-120"/>
                          </a:rPr>
                          <m:t>𝟏</m:t>
                        </m:r>
                        <m:r>
                          <a:rPr lang="en-US" sz="2000" b="1" i="1" smtClean="0">
                            <a:solidFill>
                              <a:srgbClr val="1E293B"/>
                            </a:solidFill>
                            <a:latin typeface="Cambria Math" panose="02040503050406030204" pitchFamily="18" charset="0"/>
                            <a:ea typeface="Calibri" pitchFamily="34" charset="-122"/>
                            <a:cs typeface="Calibri" pitchFamily="34" charset="-120"/>
                          </a:rPr>
                          <m:t>−</m:t>
                        </m:r>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𝜶</m:t>
                        </m:r>
                      </m:e>
                    </m:d>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 </m:t>
                    </m:r>
                    <m:sSub>
                      <m:sSubPr>
                        <m:ctrlP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ctrlPr>
                      </m:sSubPr>
                      <m:e>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𝑳</m:t>
                        </m:r>
                      </m:e>
                      <m:sub>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𝒃𝒂𝒔𝒆</m:t>
                        </m:r>
                      </m:sub>
                    </m:sSub>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 </m:t>
                    </m:r>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𝜶</m:t>
                    </m:r>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 ∙</m:t>
                    </m:r>
                    <m:d>
                      <m:dPr>
                        <m:ctrlP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ctrlPr>
                      </m:dPr>
                      <m:e>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𝟏</m:t>
                        </m:r>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m:t>
                        </m:r>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𝒄𝒍𝑫𝒊𝒄𝒆</m:t>
                        </m:r>
                      </m:e>
                    </m:d>
                    <m:r>
                      <a:rPr lang="en-US" sz="2000" b="1" i="1" smtClean="0">
                        <a:solidFill>
                          <a:srgbClr val="1E293B"/>
                        </a:solidFill>
                        <a:latin typeface="Cambria Math" panose="02040503050406030204" pitchFamily="18" charset="0"/>
                        <a:ea typeface="Cambria Math" panose="02040503050406030204" pitchFamily="18" charset="0"/>
                        <a:cs typeface="Calibri" pitchFamily="34" charset="-120"/>
                      </a:rPr>
                      <m:t>        </m:t>
                    </m:r>
                    <m:r>
                      <a:rPr lang="en-US" sz="2000" b="1" i="1" smtClean="0">
                        <a:solidFill>
                          <a:schemeClr val="accent4"/>
                        </a:solidFill>
                        <a:latin typeface="Cambria Math" panose="02040503050406030204" pitchFamily="18" charset="0"/>
                        <a:ea typeface="Cambria Math" panose="02040503050406030204" pitchFamily="18" charset="0"/>
                        <a:cs typeface="Calibri" pitchFamily="34" charset="-120"/>
                      </a:rPr>
                      <m:t>𝜶</m:t>
                    </m:r>
                    <m:r>
                      <a:rPr lang="en-US" sz="2000" b="1" i="1" smtClean="0">
                        <a:solidFill>
                          <a:schemeClr val="accent4"/>
                        </a:solidFill>
                        <a:latin typeface="Cambria Math" panose="02040503050406030204" pitchFamily="18" charset="0"/>
                        <a:ea typeface="Cambria Math" panose="02040503050406030204" pitchFamily="18" charset="0"/>
                        <a:cs typeface="Calibri" pitchFamily="34" charset="-120"/>
                      </a:rPr>
                      <m:t>=</m:t>
                    </m:r>
                    <m:r>
                      <a:rPr lang="en-US" sz="2000" b="1" i="1" smtClean="0">
                        <a:solidFill>
                          <a:schemeClr val="accent4"/>
                        </a:solidFill>
                        <a:latin typeface="Cambria Math" panose="02040503050406030204" pitchFamily="18" charset="0"/>
                        <a:ea typeface="Cambria Math" panose="02040503050406030204" pitchFamily="18" charset="0"/>
                        <a:cs typeface="Calibri" pitchFamily="34" charset="-120"/>
                      </a:rPr>
                      <m:t>𝟎</m:t>
                    </m:r>
                    <m:r>
                      <a:rPr lang="en-US" sz="2000" b="1" i="1" smtClean="0">
                        <a:solidFill>
                          <a:schemeClr val="accent4"/>
                        </a:solidFill>
                        <a:latin typeface="Cambria Math" panose="02040503050406030204" pitchFamily="18" charset="0"/>
                        <a:ea typeface="Cambria Math" panose="02040503050406030204" pitchFamily="18" charset="0"/>
                        <a:cs typeface="Calibri" pitchFamily="34" charset="-120"/>
                      </a:rPr>
                      <m:t>.</m:t>
                    </m:r>
                    <m:r>
                      <a:rPr lang="en-US" sz="2000" b="1" i="1" smtClean="0">
                        <a:solidFill>
                          <a:schemeClr val="accent4"/>
                        </a:solidFill>
                        <a:latin typeface="Cambria Math" panose="02040503050406030204" pitchFamily="18" charset="0"/>
                        <a:ea typeface="Cambria Math" panose="02040503050406030204" pitchFamily="18" charset="0"/>
                        <a:cs typeface="Calibri" pitchFamily="34" charset="-120"/>
                      </a:rPr>
                      <m:t>𝟓</m:t>
                    </m:r>
                  </m:oMath>
                </a14:m>
                <a:endParaRPr lang="en-US" sz="1800" dirty="0">
                  <a:latin typeface="+mj-lt"/>
                </a:endParaRPr>
              </a:p>
            </p:txBody>
          </p:sp>
        </mc:Choice>
        <mc:Fallback>
          <p:sp>
            <p:nvSpPr>
              <p:cNvPr id="15" name="Text 12">
                <a:extLst>
                  <a:ext uri="{FF2B5EF4-FFF2-40B4-BE49-F238E27FC236}">
                    <a16:creationId xmlns:a16="http://schemas.microsoft.com/office/drawing/2014/main" id="{537CBC30-FA0E-AAF1-FC0C-B3115FBBCC77}"/>
                  </a:ext>
                </a:extLst>
              </p:cNvPr>
              <p:cNvSpPr>
                <a:spLocks noRot="1" noChangeAspect="1" noMove="1" noResize="1" noEditPoints="1" noAdjustHandles="1" noChangeArrowheads="1" noChangeShapeType="1" noTextEdit="1"/>
              </p:cNvSpPr>
              <p:nvPr/>
            </p:nvSpPr>
            <p:spPr>
              <a:xfrm>
                <a:off x="731520" y="3977640"/>
                <a:ext cx="10607040" cy="822960"/>
              </a:xfrm>
              <a:prstGeom prst="rect">
                <a:avLst/>
              </a:prstGeom>
              <a:blipFill>
                <a:blip r:embed="rId4"/>
                <a:stretch>
                  <a:fillRect/>
                </a:stretch>
              </a:blipFill>
              <a:ln/>
            </p:spPr>
            <p:txBody>
              <a:bodyPr/>
              <a:lstStyle/>
              <a:p>
                <a:r>
                  <a:rPr lang="en-US">
                    <a:noFill/>
                  </a:rPr>
                  <a:t> </a:t>
                </a:r>
              </a:p>
            </p:txBody>
          </p:sp>
        </mc:Fallback>
      </mc:AlternateContent>
      <p:sp>
        <p:nvSpPr>
          <p:cNvPr id="16" name="Shape 13">
            <a:extLst>
              <a:ext uri="{FF2B5EF4-FFF2-40B4-BE49-F238E27FC236}">
                <a16:creationId xmlns:a16="http://schemas.microsoft.com/office/drawing/2014/main" id="{155F432B-AC78-39CB-CB32-2DD38C438F81}"/>
              </a:ext>
            </a:extLst>
          </p:cNvPr>
          <p:cNvSpPr/>
          <p:nvPr/>
        </p:nvSpPr>
        <p:spPr>
          <a:xfrm>
            <a:off x="548640" y="5120640"/>
            <a:ext cx="10972800" cy="1371600"/>
          </a:xfrm>
          <a:prstGeom prst="rect">
            <a:avLst/>
          </a:prstGeom>
          <a:solidFill>
            <a:srgbClr val="FFFBEB"/>
          </a:solidFill>
          <a:ln/>
        </p:spPr>
        <p:txBody>
          <a:bodyPr/>
          <a:lstStyle/>
          <a:p>
            <a:endParaRPr lang="en-US" dirty="0">
              <a:latin typeface="+mj-lt"/>
            </a:endParaRPr>
          </a:p>
        </p:txBody>
      </p:sp>
      <p:sp>
        <p:nvSpPr>
          <p:cNvPr id="17" name="Text 14">
            <a:extLst>
              <a:ext uri="{FF2B5EF4-FFF2-40B4-BE49-F238E27FC236}">
                <a16:creationId xmlns:a16="http://schemas.microsoft.com/office/drawing/2014/main" id="{7441F037-68F5-6EBC-8B4E-16C94703BA3F}"/>
              </a:ext>
            </a:extLst>
          </p:cNvPr>
          <p:cNvSpPr/>
          <p:nvPr/>
        </p:nvSpPr>
        <p:spPr>
          <a:xfrm>
            <a:off x="822960" y="5212080"/>
            <a:ext cx="10424160" cy="1188720"/>
          </a:xfrm>
          <a:prstGeom prst="rect">
            <a:avLst/>
          </a:prstGeom>
          <a:noFill/>
          <a:ln/>
        </p:spPr>
        <p:txBody>
          <a:bodyPr wrap="square" rtlCol="0" anchor="ctr"/>
          <a:lstStyle/>
          <a:p>
            <a:pPr marL="0" indent="0">
              <a:buNone/>
            </a:pPr>
            <a:r>
              <a:rPr lang="en-US" b="1" dirty="0">
                <a:solidFill>
                  <a:srgbClr val="D97706"/>
                </a:solidFill>
                <a:latin typeface="+mj-lt"/>
                <a:ea typeface="Calibri" pitchFamily="34" charset="-122"/>
                <a:cs typeface="Calibri" pitchFamily="34" charset="-120"/>
              </a:rPr>
              <a:t>Intuition</a:t>
            </a:r>
            <a:r>
              <a:rPr lang="en-US" sz="1600" b="1" dirty="0">
                <a:solidFill>
                  <a:srgbClr val="D97706"/>
                </a:solidFill>
                <a:latin typeface="+mj-lt"/>
                <a:ea typeface="Calibri" pitchFamily="34" charset="-122"/>
                <a:cs typeface="Calibri" pitchFamily="34" charset="-120"/>
              </a:rPr>
              <a:t>: </a:t>
            </a:r>
            <a:r>
              <a:rPr lang="en-US" sz="1600" dirty="0">
                <a:solidFill>
                  <a:srgbClr val="1E293B"/>
                </a:solidFill>
                <a:latin typeface="+mj-lt"/>
                <a:ea typeface="Calibri" pitchFamily="34" charset="-122"/>
                <a:cs typeface="Calibri" pitchFamily="34" charset="-120"/>
              </a:rPr>
              <a:t>Computes skeletons (centerlines) of both prediction and ground truth, then measures how well they overlap. Directly penalizes topological disconnection — if the prediction's centerline doesn't match the ground truth's centerline, the loss increases. Measures both precision (predicted skeleton inside GT) and sensitivity (GT skeleton covered by prediction).</a:t>
            </a:r>
            <a:endParaRPr lang="en-US" sz="1600" dirty="0">
              <a:latin typeface="+mj-lt"/>
            </a:endParaRPr>
          </a:p>
        </p:txBody>
      </p:sp>
    </p:spTree>
    <p:extLst>
      <p:ext uri="{BB962C8B-B14F-4D97-AF65-F5344CB8AC3E}">
        <p14:creationId xmlns:p14="http://schemas.microsoft.com/office/powerpoint/2010/main" val="2303969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59669"/>
          </a:solidFill>
          <a:ln/>
        </p:spPr>
        <p:txBody>
          <a:bodyPr/>
          <a:lstStyle/>
          <a:p>
            <a:endParaRPr lang="en-US">
              <a:latin typeface="+mj-lt"/>
            </a:endParaRPr>
          </a:p>
        </p:txBody>
      </p:sp>
      <p:sp>
        <p:nvSpPr>
          <p:cNvPr id="4" name="Text 2"/>
          <p:cNvSpPr/>
          <p:nvPr/>
        </p:nvSpPr>
        <p:spPr>
          <a:xfrm>
            <a:off x="822960" y="297180"/>
            <a:ext cx="10058400" cy="640080"/>
          </a:xfrm>
          <a:prstGeom prst="rect">
            <a:avLst/>
          </a:prstGeom>
          <a:noFill/>
          <a:ln/>
        </p:spPr>
        <p:txBody>
          <a:bodyPr wrap="square" lIns="0" tIns="0" rIns="0" bIns="0" rtlCol="0" anchor="ctr"/>
          <a:lstStyle/>
          <a:p>
            <a:pPr marL="0" indent="0">
              <a:buNone/>
            </a:pPr>
            <a:r>
              <a:rPr lang="en-US" sz="2800" b="1" dirty="0">
                <a:solidFill>
                  <a:srgbClr val="1E293B"/>
                </a:solidFill>
                <a:latin typeface="+mj-lt"/>
                <a:ea typeface="Calibri" pitchFamily="34" charset="-122"/>
                <a:cs typeface="Calibri" pitchFamily="34" charset="-120"/>
              </a:rPr>
              <a:t>Loss Functions: Skeleton Recall</a:t>
            </a:r>
            <a:endParaRPr lang="en-US" sz="2800" dirty="0">
              <a:latin typeface="+mj-lt"/>
            </a:endParaRPr>
          </a:p>
        </p:txBody>
      </p:sp>
      <p:sp>
        <p:nvSpPr>
          <p:cNvPr id="5" name="Shape 3"/>
          <p:cNvSpPr/>
          <p:nvPr/>
        </p:nvSpPr>
        <p:spPr>
          <a:xfrm>
            <a:off x="548640" y="1280160"/>
            <a:ext cx="6400800" cy="22860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6" name="Text 4"/>
          <p:cNvSpPr/>
          <p:nvPr/>
        </p:nvSpPr>
        <p:spPr>
          <a:xfrm>
            <a:off x="822960" y="1371600"/>
            <a:ext cx="5486400" cy="365760"/>
          </a:xfrm>
          <a:prstGeom prst="rect">
            <a:avLst/>
          </a:prstGeom>
          <a:noFill/>
          <a:ln/>
        </p:spPr>
        <p:txBody>
          <a:bodyPr wrap="square" lIns="0" tIns="0" rIns="0" bIns="0" rtlCol="0" anchor="ctr"/>
          <a:lstStyle/>
          <a:p>
            <a:pPr marL="0" indent="0">
              <a:buNone/>
            </a:pPr>
            <a:r>
              <a:rPr lang="en-US" sz="1600" b="1" dirty="0">
                <a:solidFill>
                  <a:srgbClr val="059669"/>
                </a:solidFill>
                <a:latin typeface="+mj-lt"/>
                <a:ea typeface="Calibri" pitchFamily="34" charset="-122"/>
                <a:cs typeface="Calibri" pitchFamily="34" charset="-120"/>
              </a:rPr>
              <a:t>Skeleton Recall Loss</a:t>
            </a:r>
            <a:endParaRPr lang="en-US" sz="1600" dirty="0">
              <a:latin typeface="+mj-lt"/>
            </a:endParaRPr>
          </a:p>
        </p:txBody>
      </p:sp>
      <p:sp>
        <p:nvSpPr>
          <p:cNvPr id="7" name="Shape 5"/>
          <p:cNvSpPr/>
          <p:nvPr/>
        </p:nvSpPr>
        <p:spPr>
          <a:xfrm>
            <a:off x="914400" y="1874520"/>
            <a:ext cx="5669280" cy="1005840"/>
          </a:xfrm>
          <a:prstGeom prst="rect">
            <a:avLst/>
          </a:prstGeom>
          <a:solidFill>
            <a:srgbClr val="E8EFF8"/>
          </a:solidFill>
          <a:ln/>
        </p:spPr>
        <p:txBody>
          <a:bodyPr/>
          <a:lstStyle/>
          <a:p>
            <a:endParaRPr lang="en-US">
              <a:latin typeface="+mj-lt"/>
            </a:endParaRPr>
          </a:p>
        </p:txBody>
      </p:sp>
      <mc:AlternateContent xmlns:mc="http://schemas.openxmlformats.org/markup-compatibility/2006">
        <mc:Choice xmlns:a14="http://schemas.microsoft.com/office/drawing/2010/main" Requires="a14">
          <p:sp>
            <p:nvSpPr>
              <p:cNvPr id="8" name="Text 6"/>
              <p:cNvSpPr/>
              <p:nvPr/>
            </p:nvSpPr>
            <p:spPr>
              <a:xfrm>
                <a:off x="1097280" y="1920240"/>
                <a:ext cx="5303520" cy="91440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𝑠𝑘𝑒𝑙</m:t>
                          </m:r>
                        </m:sub>
                      </m:sSub>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𝛼</m:t>
                          </m:r>
                        </m:e>
                      </m:d>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𝐿</m:t>
                          </m:r>
                        </m:e>
                        <m:sub>
                          <m:r>
                            <a:rPr lang="en-US" sz="1800" b="0" i="1" smtClean="0">
                              <a:latin typeface="Cambria Math" panose="02040503050406030204" pitchFamily="18" charset="0"/>
                              <a:ea typeface="Cambria Math" panose="02040503050406030204" pitchFamily="18" charset="0"/>
                            </a:rPr>
                            <m:t>𝑏𝑎𝑠𝑒</m:t>
                          </m:r>
                        </m:sub>
                      </m:sSub>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r>
                        <a:rPr lang="en-US" sz="1800" b="0" i="1" smtClean="0">
                          <a:latin typeface="Cambria Math" panose="02040503050406030204" pitchFamily="18" charset="0"/>
                          <a:ea typeface="Cambria Math" panose="02040503050406030204" pitchFamily="18" charset="0"/>
                        </a:rPr>
                        <m:t>(1−</m:t>
                      </m:r>
                      <m:f>
                        <m:fPr>
                          <m:ctrlPr>
                            <a:rPr lang="en-US" sz="1800" b="0" i="1" smtClean="0">
                              <a:solidFill>
                                <a:schemeClr val="accent2"/>
                              </a:solidFill>
                              <a:latin typeface="Cambria Math" panose="02040503050406030204" pitchFamily="18" charset="0"/>
                              <a:ea typeface="Cambria Math" panose="02040503050406030204" pitchFamily="18" charset="0"/>
                            </a:rPr>
                          </m:ctrlPr>
                        </m:fPr>
                        <m:num>
                          <m:nary>
                            <m:naryPr>
                              <m:chr m:val="∑"/>
                              <m:subHide m:val="on"/>
                              <m:supHide m:val="on"/>
                              <m:ctrlPr>
                                <a:rPr lang="en-US" sz="1800" b="0" i="1" smtClean="0">
                                  <a:solidFill>
                                    <a:schemeClr val="accent2"/>
                                  </a:solidFill>
                                  <a:latin typeface="Cambria Math" panose="02040503050406030204" pitchFamily="18" charset="0"/>
                                  <a:ea typeface="Cambria Math" panose="02040503050406030204" pitchFamily="18" charset="0"/>
                                </a:rPr>
                              </m:ctrlPr>
                            </m:naryPr>
                            <m:sub/>
                            <m:sup/>
                            <m:e>
                              <m:acc>
                                <m:accPr>
                                  <m:chr m:val="̂"/>
                                  <m:ctrlPr>
                                    <a:rPr lang="en-US" sz="1800" b="0" i="1" smtClean="0">
                                      <a:solidFill>
                                        <a:schemeClr val="accent2"/>
                                      </a:solidFill>
                                      <a:latin typeface="Cambria Math" panose="02040503050406030204" pitchFamily="18" charset="0"/>
                                      <a:ea typeface="Cambria Math" panose="02040503050406030204" pitchFamily="18" charset="0"/>
                                    </a:rPr>
                                  </m:ctrlPr>
                                </m:accPr>
                                <m:e>
                                  <m:r>
                                    <a:rPr lang="en-US" sz="1800" b="0" i="1" smtClean="0">
                                      <a:solidFill>
                                        <a:schemeClr val="accent2"/>
                                      </a:solidFill>
                                      <a:latin typeface="Cambria Math" panose="02040503050406030204" pitchFamily="18" charset="0"/>
                                      <a:ea typeface="Cambria Math" panose="02040503050406030204" pitchFamily="18" charset="0"/>
                                    </a:rPr>
                                    <m:t>𝑦</m:t>
                                  </m:r>
                                </m:e>
                              </m:acc>
                              <m:r>
                                <a:rPr lang="en-US" sz="1800" i="1" smtClean="0">
                                  <a:solidFill>
                                    <a:schemeClr val="accent2"/>
                                  </a:solidFill>
                                  <a:latin typeface="Cambria Math" panose="02040503050406030204" pitchFamily="18" charset="0"/>
                                  <a:ea typeface="Cambria Math" panose="02040503050406030204" pitchFamily="18" charset="0"/>
                                </a:rPr>
                                <m:t>∙</m:t>
                              </m:r>
                              <m:r>
                                <a:rPr lang="en-US" sz="1800" b="0" i="1" smtClean="0">
                                  <a:solidFill>
                                    <a:schemeClr val="accent2"/>
                                  </a:solidFill>
                                  <a:latin typeface="Cambria Math" panose="02040503050406030204" pitchFamily="18" charset="0"/>
                                  <a:ea typeface="Cambria Math" panose="02040503050406030204" pitchFamily="18" charset="0"/>
                                </a:rPr>
                                <m:t>𝑠𝑘𝑒𝑙</m:t>
                              </m:r>
                              <m:r>
                                <a:rPr lang="en-US" sz="1800" b="0" i="1" smtClean="0">
                                  <a:solidFill>
                                    <a:schemeClr val="accent2"/>
                                  </a:solidFill>
                                  <a:latin typeface="Cambria Math" panose="02040503050406030204" pitchFamily="18" charset="0"/>
                                  <a:ea typeface="Cambria Math" panose="02040503050406030204" pitchFamily="18" charset="0"/>
                                </a:rPr>
                                <m:t>(</m:t>
                              </m:r>
                              <m:r>
                                <a:rPr lang="en-US" sz="1800" b="0" i="1" smtClean="0">
                                  <a:solidFill>
                                    <a:schemeClr val="accent2"/>
                                  </a:solidFill>
                                  <a:latin typeface="Cambria Math" panose="02040503050406030204" pitchFamily="18" charset="0"/>
                                  <a:ea typeface="Cambria Math" panose="02040503050406030204" pitchFamily="18" charset="0"/>
                                </a:rPr>
                                <m:t>𝑦</m:t>
                              </m:r>
                              <m:r>
                                <a:rPr lang="en-US" sz="1800" b="0" i="1" smtClean="0">
                                  <a:solidFill>
                                    <a:schemeClr val="accent2"/>
                                  </a:solidFill>
                                  <a:latin typeface="Cambria Math" panose="02040503050406030204" pitchFamily="18" charset="0"/>
                                  <a:ea typeface="Cambria Math" panose="02040503050406030204" pitchFamily="18" charset="0"/>
                                </a:rPr>
                                <m:t>)</m:t>
                              </m:r>
                            </m:e>
                          </m:nary>
                        </m:num>
                        <m:den>
                          <m:nary>
                            <m:naryPr>
                              <m:chr m:val="∑"/>
                              <m:subHide m:val="on"/>
                              <m:supHide m:val="on"/>
                              <m:ctrlPr>
                                <a:rPr lang="en-US" sz="1800" b="0" i="1" smtClean="0">
                                  <a:solidFill>
                                    <a:schemeClr val="accent2"/>
                                  </a:solidFill>
                                  <a:latin typeface="Cambria Math" panose="02040503050406030204" pitchFamily="18" charset="0"/>
                                  <a:ea typeface="Cambria Math" panose="02040503050406030204" pitchFamily="18" charset="0"/>
                                </a:rPr>
                              </m:ctrlPr>
                            </m:naryPr>
                            <m:sub/>
                            <m:sup/>
                            <m:e>
                              <m:r>
                                <a:rPr lang="en-US" sz="1800" b="0" i="1" smtClean="0">
                                  <a:solidFill>
                                    <a:schemeClr val="accent2"/>
                                  </a:solidFill>
                                  <a:latin typeface="Cambria Math" panose="02040503050406030204" pitchFamily="18" charset="0"/>
                                  <a:ea typeface="Cambria Math" panose="02040503050406030204" pitchFamily="18" charset="0"/>
                                </a:rPr>
                                <m:t>𝑠𝑘𝑒𝑙</m:t>
                              </m:r>
                              <m:r>
                                <a:rPr lang="en-US" sz="1800" b="0" i="1" smtClean="0">
                                  <a:solidFill>
                                    <a:schemeClr val="accent2"/>
                                  </a:solidFill>
                                  <a:latin typeface="Cambria Math" panose="02040503050406030204" pitchFamily="18" charset="0"/>
                                  <a:ea typeface="Cambria Math" panose="02040503050406030204" pitchFamily="18" charset="0"/>
                                </a:rPr>
                                <m:t>(</m:t>
                              </m:r>
                              <m:r>
                                <a:rPr lang="en-US" sz="1800" b="0" i="1" smtClean="0">
                                  <a:solidFill>
                                    <a:schemeClr val="accent2"/>
                                  </a:solidFill>
                                  <a:latin typeface="Cambria Math" panose="02040503050406030204" pitchFamily="18" charset="0"/>
                                  <a:ea typeface="Cambria Math" panose="02040503050406030204" pitchFamily="18" charset="0"/>
                                </a:rPr>
                                <m:t>𝑦</m:t>
                              </m:r>
                              <m:r>
                                <a:rPr lang="en-US" sz="1800" b="0" i="1" smtClean="0">
                                  <a:solidFill>
                                    <a:schemeClr val="accent2"/>
                                  </a:solidFill>
                                  <a:latin typeface="Cambria Math" panose="02040503050406030204" pitchFamily="18" charset="0"/>
                                  <a:ea typeface="Cambria Math" panose="02040503050406030204" pitchFamily="18" charset="0"/>
                                </a:rPr>
                                <m:t>)</m:t>
                              </m:r>
                            </m:e>
                          </m:nary>
                        </m:den>
                      </m:f>
                    </m:oMath>
                  </m:oMathPara>
                </a14:m>
                <a:endParaRPr lang="en-US" sz="1800" dirty="0">
                  <a:latin typeface="+mj-lt"/>
                </a:endParaRPr>
              </a:p>
            </p:txBody>
          </p:sp>
        </mc:Choice>
        <mc:Fallback>
          <p:sp>
            <p:nvSpPr>
              <p:cNvPr id="8" name="Text 6"/>
              <p:cNvSpPr>
                <a:spLocks noRot="1" noChangeAspect="1" noMove="1" noResize="1" noEditPoints="1" noAdjustHandles="1" noChangeArrowheads="1" noChangeShapeType="1" noTextEdit="1"/>
              </p:cNvSpPr>
              <p:nvPr/>
            </p:nvSpPr>
            <p:spPr>
              <a:xfrm>
                <a:off x="1097280" y="1920240"/>
                <a:ext cx="5303520" cy="914400"/>
              </a:xfrm>
              <a:prstGeom prst="rect">
                <a:avLst/>
              </a:prstGeom>
              <a:blipFill>
                <a:blip r:embed="rId3"/>
                <a:stretch>
                  <a:fillRect/>
                </a:stretch>
              </a:blipFill>
              <a:ln/>
            </p:spPr>
            <p:txBody>
              <a:bodyPr/>
              <a:lstStyle/>
              <a:p>
                <a:r>
                  <a:rPr lang="en-US">
                    <a:noFill/>
                  </a:rPr>
                  <a:t> </a:t>
                </a:r>
              </a:p>
            </p:txBody>
          </p:sp>
        </mc:Fallback>
      </mc:AlternateContent>
      <p:sp>
        <p:nvSpPr>
          <p:cNvPr id="9" name="Text 7"/>
          <p:cNvSpPr/>
          <p:nvPr/>
        </p:nvSpPr>
        <p:spPr>
          <a:xfrm>
            <a:off x="944880" y="2945826"/>
            <a:ext cx="5947576" cy="518160"/>
          </a:xfrm>
          <a:prstGeom prst="rect">
            <a:avLst/>
          </a:prstGeom>
          <a:noFill/>
          <a:ln/>
        </p:spPr>
        <p:txBody>
          <a:bodyPr wrap="square" lIns="0" tIns="0" rIns="0" bIns="0" rtlCol="0" anchor="ctr"/>
          <a:lstStyle/>
          <a:p>
            <a:pPr marL="0" indent="0">
              <a:buNone/>
            </a:pPr>
            <a:r>
              <a:rPr lang="en-US" sz="1400" b="1" dirty="0">
                <a:latin typeface="+mj-lt"/>
                <a:ea typeface="Calibri" pitchFamily="34" charset="-122"/>
                <a:cs typeface="Calibri" pitchFamily="34" charset="-120"/>
              </a:rPr>
              <a:t>skel(y)</a:t>
            </a:r>
            <a:r>
              <a:rPr lang="en-US" sz="1400" dirty="0">
                <a:solidFill>
                  <a:srgbClr val="64748B"/>
                </a:solidFill>
                <a:latin typeface="+mj-lt"/>
                <a:ea typeface="Calibri" pitchFamily="34" charset="-122"/>
                <a:cs typeface="Calibri" pitchFamily="34" charset="-120"/>
              </a:rPr>
              <a:t> = precomputed binary skeleton (CPU, scikit-image)</a:t>
            </a:r>
            <a:endParaRPr lang="en-US" sz="1400" dirty="0">
              <a:latin typeface="+mj-lt"/>
            </a:endParaRPr>
          </a:p>
          <a:p>
            <a:pPr marL="0" indent="0">
              <a:buNone/>
            </a:pPr>
            <a:r>
              <a:rPr lang="en-US" sz="1400" b="1" dirty="0">
                <a:latin typeface="+mj-lt"/>
                <a:ea typeface="Calibri" pitchFamily="34" charset="-122"/>
                <a:cs typeface="Calibri" pitchFamily="34" charset="-120"/>
              </a:rPr>
              <a:t>ŷ</a:t>
            </a:r>
            <a:r>
              <a:rPr lang="en-US" sz="1400" dirty="0">
                <a:solidFill>
                  <a:srgbClr val="64748B"/>
                </a:solidFill>
                <a:latin typeface="+mj-lt"/>
                <a:ea typeface="Calibri" pitchFamily="34" charset="-122"/>
                <a:cs typeface="Calibri" pitchFamily="34" charset="-120"/>
              </a:rPr>
              <a:t> = predicted vessel probability map</a:t>
            </a:r>
            <a:endParaRPr lang="en-US" sz="1400" dirty="0">
              <a:latin typeface="+mj-lt"/>
            </a:endParaRPr>
          </a:p>
          <a:p>
            <a:pPr marL="0" indent="0">
              <a:buNone/>
            </a:pPr>
            <a:r>
              <a:rPr lang="en-US" sz="1400" b="1" dirty="0">
                <a:solidFill>
                  <a:srgbClr val="059669"/>
                </a:solidFill>
                <a:latin typeface="+mj-lt"/>
                <a:ea typeface="Calibri" pitchFamily="34" charset="-122"/>
                <a:cs typeface="Calibri" pitchFamily="34" charset="-120"/>
              </a:rPr>
              <a:t>α = 0.5</a:t>
            </a:r>
            <a:endParaRPr lang="en-US" sz="1400" dirty="0">
              <a:latin typeface="+mj-lt"/>
            </a:endParaRPr>
          </a:p>
        </p:txBody>
      </p:sp>
      <p:sp>
        <p:nvSpPr>
          <p:cNvPr id="10" name="Shape 8"/>
          <p:cNvSpPr/>
          <p:nvPr/>
        </p:nvSpPr>
        <p:spPr>
          <a:xfrm>
            <a:off x="7315200" y="1280160"/>
            <a:ext cx="4297680" cy="22860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1" name="Text 9"/>
          <p:cNvSpPr/>
          <p:nvPr/>
        </p:nvSpPr>
        <p:spPr>
          <a:xfrm>
            <a:off x="7589520" y="1371600"/>
            <a:ext cx="3657600" cy="365760"/>
          </a:xfrm>
          <a:prstGeom prst="rect">
            <a:avLst/>
          </a:prstGeom>
          <a:noFill/>
          <a:ln/>
        </p:spPr>
        <p:txBody>
          <a:bodyPr wrap="square" lIns="0" tIns="0" rIns="0" bIns="0" rtlCol="0" anchor="ctr"/>
          <a:lstStyle/>
          <a:p>
            <a:pPr marL="0" indent="0">
              <a:buNone/>
            </a:pPr>
            <a:r>
              <a:rPr lang="en-US" sz="1500" b="1" dirty="0">
                <a:solidFill>
                  <a:srgbClr val="059669"/>
                </a:solidFill>
                <a:latin typeface="+mj-lt"/>
                <a:ea typeface="Calibri" pitchFamily="34" charset="-122"/>
                <a:cs typeface="Calibri" pitchFamily="34" charset="-120"/>
              </a:rPr>
              <a:t>Key Differences from clDice</a:t>
            </a:r>
            <a:endParaRPr lang="en-US" sz="1500" dirty="0">
              <a:latin typeface="+mj-lt"/>
            </a:endParaRPr>
          </a:p>
        </p:txBody>
      </p:sp>
      <p:sp>
        <p:nvSpPr>
          <p:cNvPr id="12" name="Text 10"/>
          <p:cNvSpPr/>
          <p:nvPr/>
        </p:nvSpPr>
        <p:spPr>
          <a:xfrm>
            <a:off x="7589520" y="1920240"/>
            <a:ext cx="3657600" cy="201168"/>
          </a:xfrm>
          <a:prstGeom prst="rect">
            <a:avLst/>
          </a:prstGeom>
          <a:noFill/>
          <a:ln/>
        </p:spPr>
        <p:txBody>
          <a:bodyPr wrap="square" lIns="0" tIns="0" rIns="0" bIns="0" rtlCol="0" anchor="ctr"/>
          <a:lstStyle/>
          <a:p>
            <a:pPr marL="0" indent="0">
              <a:buNone/>
            </a:pPr>
            <a:r>
              <a:rPr lang="en-US" sz="1200" b="1" dirty="0">
                <a:solidFill>
                  <a:srgbClr val="1E293B"/>
                </a:solidFill>
                <a:latin typeface="+mj-lt"/>
                <a:ea typeface="Calibri" pitchFamily="34" charset="-122"/>
                <a:cs typeface="Calibri" pitchFamily="34" charset="-120"/>
              </a:rPr>
              <a:t>CPU precomputation</a:t>
            </a:r>
            <a:endParaRPr lang="en-US" sz="1200" dirty="0">
              <a:latin typeface="+mj-lt"/>
            </a:endParaRPr>
          </a:p>
        </p:txBody>
      </p:sp>
      <p:sp>
        <p:nvSpPr>
          <p:cNvPr id="13" name="Text 11"/>
          <p:cNvSpPr/>
          <p:nvPr/>
        </p:nvSpPr>
        <p:spPr>
          <a:xfrm>
            <a:off x="7589520" y="2103120"/>
            <a:ext cx="3657600" cy="201168"/>
          </a:xfrm>
          <a:prstGeom prst="rect">
            <a:avLst/>
          </a:prstGeom>
          <a:noFill/>
          <a:ln/>
        </p:spPr>
        <p:txBody>
          <a:bodyPr wrap="square" lIns="0" tIns="0" rIns="0" bIns="0" rtlCol="0" anchor="ctr"/>
          <a:lstStyle/>
          <a:p>
            <a:pPr marL="0" indent="0">
              <a:buNone/>
            </a:pPr>
            <a:r>
              <a:rPr lang="en-US" sz="1000" dirty="0">
                <a:solidFill>
                  <a:srgbClr val="64748B"/>
                </a:solidFill>
                <a:latin typeface="+mj-lt"/>
                <a:ea typeface="Calibri" pitchFamily="34" charset="-122"/>
                <a:cs typeface="Calibri" pitchFamily="34" charset="-120"/>
              </a:rPr>
              <a:t>No GPU-intensive iterative operations</a:t>
            </a:r>
            <a:endParaRPr lang="en-US" sz="1000" dirty="0">
              <a:latin typeface="+mj-lt"/>
            </a:endParaRPr>
          </a:p>
        </p:txBody>
      </p:sp>
      <p:sp>
        <p:nvSpPr>
          <p:cNvPr id="14" name="Text 12"/>
          <p:cNvSpPr/>
          <p:nvPr/>
        </p:nvSpPr>
        <p:spPr>
          <a:xfrm>
            <a:off x="7589520" y="2331720"/>
            <a:ext cx="3657600" cy="201168"/>
          </a:xfrm>
          <a:prstGeom prst="rect">
            <a:avLst/>
          </a:prstGeom>
          <a:noFill/>
          <a:ln/>
        </p:spPr>
        <p:txBody>
          <a:bodyPr wrap="square" lIns="0" tIns="0" rIns="0" bIns="0" rtlCol="0" anchor="ctr"/>
          <a:lstStyle/>
          <a:p>
            <a:pPr marL="0" indent="0">
              <a:buNone/>
            </a:pPr>
            <a:r>
              <a:rPr lang="en-US" sz="1200" b="1" dirty="0">
                <a:solidFill>
                  <a:srgbClr val="1E293B"/>
                </a:solidFill>
                <a:latin typeface="+mj-lt"/>
                <a:ea typeface="Calibri" pitchFamily="34" charset="-122"/>
                <a:cs typeface="Calibri" pitchFamily="34" charset="-120"/>
              </a:rPr>
              <a:t>Recall only</a:t>
            </a:r>
            <a:endParaRPr lang="en-US" sz="1200" dirty="0">
              <a:latin typeface="+mj-lt"/>
            </a:endParaRPr>
          </a:p>
        </p:txBody>
      </p:sp>
      <p:sp>
        <p:nvSpPr>
          <p:cNvPr id="15" name="Text 13"/>
          <p:cNvSpPr/>
          <p:nvPr/>
        </p:nvSpPr>
        <p:spPr>
          <a:xfrm>
            <a:off x="7589520" y="2514600"/>
            <a:ext cx="3657600" cy="201168"/>
          </a:xfrm>
          <a:prstGeom prst="rect">
            <a:avLst/>
          </a:prstGeom>
          <a:noFill/>
          <a:ln/>
        </p:spPr>
        <p:txBody>
          <a:bodyPr wrap="square" lIns="0" tIns="0" rIns="0" bIns="0" rtlCol="0" anchor="ctr"/>
          <a:lstStyle/>
          <a:p>
            <a:pPr marL="0" indent="0">
              <a:buNone/>
            </a:pPr>
            <a:r>
              <a:rPr lang="en-US" sz="1000" dirty="0">
                <a:solidFill>
                  <a:srgbClr val="64748B"/>
                </a:solidFill>
                <a:latin typeface="+mj-lt"/>
                <a:ea typeface="Calibri" pitchFamily="34" charset="-122"/>
                <a:cs typeface="Calibri" pitchFamily="34" charset="-120"/>
              </a:rPr>
              <a:t>Does not measure prediction skeleton precision</a:t>
            </a:r>
            <a:endParaRPr lang="en-US" sz="1000" dirty="0">
              <a:latin typeface="+mj-lt"/>
            </a:endParaRPr>
          </a:p>
        </p:txBody>
      </p:sp>
      <p:sp>
        <p:nvSpPr>
          <p:cNvPr id="16" name="Text 14"/>
          <p:cNvSpPr/>
          <p:nvPr/>
        </p:nvSpPr>
        <p:spPr>
          <a:xfrm>
            <a:off x="7589520" y="2743200"/>
            <a:ext cx="3657600" cy="201168"/>
          </a:xfrm>
          <a:prstGeom prst="rect">
            <a:avLst/>
          </a:prstGeom>
          <a:noFill/>
          <a:ln/>
        </p:spPr>
        <p:txBody>
          <a:bodyPr wrap="square" lIns="0" tIns="0" rIns="0" bIns="0" rtlCol="0" anchor="ctr"/>
          <a:lstStyle/>
          <a:p>
            <a:pPr marL="0" indent="0">
              <a:buNone/>
            </a:pPr>
            <a:r>
              <a:rPr lang="en-US" sz="1200" b="1" dirty="0">
                <a:solidFill>
                  <a:srgbClr val="1E293B"/>
                </a:solidFill>
                <a:latin typeface="+mj-lt"/>
                <a:ea typeface="Calibri" pitchFamily="34" charset="-122"/>
                <a:cs typeface="Calibri" pitchFamily="34" charset="-120"/>
              </a:rPr>
              <a:t>Binary skeleton</a:t>
            </a:r>
            <a:endParaRPr lang="en-US" sz="1200" dirty="0">
              <a:latin typeface="+mj-lt"/>
            </a:endParaRPr>
          </a:p>
        </p:txBody>
      </p:sp>
      <p:sp>
        <p:nvSpPr>
          <p:cNvPr id="17" name="Text 15"/>
          <p:cNvSpPr/>
          <p:nvPr/>
        </p:nvSpPr>
        <p:spPr>
          <a:xfrm>
            <a:off x="7589520" y="2926080"/>
            <a:ext cx="3657600" cy="201168"/>
          </a:xfrm>
          <a:prstGeom prst="rect">
            <a:avLst/>
          </a:prstGeom>
          <a:noFill/>
          <a:ln/>
        </p:spPr>
        <p:txBody>
          <a:bodyPr wrap="square" lIns="0" tIns="0" rIns="0" bIns="0" rtlCol="0" anchor="ctr"/>
          <a:lstStyle/>
          <a:p>
            <a:pPr marL="0" indent="0">
              <a:buNone/>
            </a:pPr>
            <a:r>
              <a:rPr lang="en-US" sz="1000" dirty="0">
                <a:solidFill>
                  <a:srgbClr val="64748B"/>
                </a:solidFill>
                <a:latin typeface="+mj-lt"/>
                <a:ea typeface="Calibri" pitchFamily="34" charset="-122"/>
                <a:cs typeface="Calibri" pitchFamily="34" charset="-120"/>
              </a:rPr>
              <a:t>Exact morphological thinning, not soft approximation</a:t>
            </a:r>
            <a:endParaRPr lang="en-US" sz="1000" dirty="0">
              <a:latin typeface="+mj-lt"/>
            </a:endParaRPr>
          </a:p>
        </p:txBody>
      </p:sp>
      <p:sp>
        <p:nvSpPr>
          <p:cNvPr id="18" name="Text 16"/>
          <p:cNvSpPr/>
          <p:nvPr/>
        </p:nvSpPr>
        <p:spPr>
          <a:xfrm>
            <a:off x="7589520" y="3154680"/>
            <a:ext cx="3657600" cy="201168"/>
          </a:xfrm>
          <a:prstGeom prst="rect">
            <a:avLst/>
          </a:prstGeom>
          <a:noFill/>
          <a:ln/>
        </p:spPr>
        <p:txBody>
          <a:bodyPr wrap="square" lIns="0" tIns="0" rIns="0" bIns="0" rtlCol="0" anchor="ctr"/>
          <a:lstStyle/>
          <a:p>
            <a:pPr marL="0" indent="0">
              <a:buNone/>
            </a:pPr>
            <a:r>
              <a:rPr lang="en-US" sz="1200" b="1" dirty="0">
                <a:solidFill>
                  <a:srgbClr val="1E293B"/>
                </a:solidFill>
                <a:latin typeface="+mj-lt"/>
                <a:ea typeface="Calibri" pitchFamily="34" charset="-122"/>
                <a:cs typeface="Calibri" pitchFamily="34" charset="-120"/>
              </a:rPr>
              <a:t>Computationally efficient</a:t>
            </a:r>
            <a:endParaRPr lang="en-US" sz="1200" dirty="0">
              <a:latin typeface="+mj-lt"/>
            </a:endParaRPr>
          </a:p>
        </p:txBody>
      </p:sp>
      <p:sp>
        <p:nvSpPr>
          <p:cNvPr id="19" name="Text 17"/>
          <p:cNvSpPr/>
          <p:nvPr/>
        </p:nvSpPr>
        <p:spPr>
          <a:xfrm>
            <a:off x="7589520" y="3337560"/>
            <a:ext cx="3657600" cy="201168"/>
          </a:xfrm>
          <a:prstGeom prst="rect">
            <a:avLst/>
          </a:prstGeom>
          <a:noFill/>
          <a:ln/>
        </p:spPr>
        <p:txBody>
          <a:bodyPr wrap="square" lIns="0" tIns="0" rIns="0" bIns="0" rtlCol="0" anchor="ctr"/>
          <a:lstStyle/>
          <a:p>
            <a:pPr marL="0" indent="0">
              <a:buNone/>
            </a:pPr>
            <a:r>
              <a:rPr lang="en-US" sz="1000" dirty="0">
                <a:solidFill>
                  <a:srgbClr val="64748B"/>
                </a:solidFill>
                <a:latin typeface="+mj-lt"/>
                <a:ea typeface="Calibri" pitchFamily="34" charset="-122"/>
                <a:cs typeface="Calibri" pitchFamily="34" charset="-120"/>
              </a:rPr>
              <a:t>~13% overhead vs baseline</a:t>
            </a:r>
            <a:endParaRPr lang="en-US" sz="1000" dirty="0">
              <a:latin typeface="+mj-lt"/>
            </a:endParaRPr>
          </a:p>
        </p:txBody>
      </p:sp>
      <p:sp>
        <p:nvSpPr>
          <p:cNvPr id="20" name="Shape 18"/>
          <p:cNvSpPr/>
          <p:nvPr/>
        </p:nvSpPr>
        <p:spPr>
          <a:xfrm>
            <a:off x="548640" y="3840480"/>
            <a:ext cx="10972800" cy="1280160"/>
          </a:xfrm>
          <a:prstGeom prst="rect">
            <a:avLst/>
          </a:prstGeom>
          <a:solidFill>
            <a:srgbClr val="ECFDF5"/>
          </a:solidFill>
          <a:ln/>
        </p:spPr>
        <p:txBody>
          <a:bodyPr/>
          <a:lstStyle/>
          <a:p>
            <a:endParaRPr lang="en-US">
              <a:latin typeface="+mj-lt"/>
            </a:endParaRPr>
          </a:p>
        </p:txBody>
      </p:sp>
      <p:sp>
        <p:nvSpPr>
          <p:cNvPr id="21" name="Text 19"/>
          <p:cNvSpPr/>
          <p:nvPr/>
        </p:nvSpPr>
        <p:spPr>
          <a:xfrm>
            <a:off x="822960" y="3931920"/>
            <a:ext cx="10424160" cy="1097280"/>
          </a:xfrm>
          <a:prstGeom prst="rect">
            <a:avLst/>
          </a:prstGeom>
          <a:noFill/>
          <a:ln/>
        </p:spPr>
        <p:txBody>
          <a:bodyPr wrap="square" rtlCol="0" anchor="ctr"/>
          <a:lstStyle/>
          <a:p>
            <a:pPr marL="0" indent="0">
              <a:buNone/>
            </a:pPr>
            <a:r>
              <a:rPr lang="en-US" sz="1500" b="1" dirty="0">
                <a:solidFill>
                  <a:srgbClr val="059669"/>
                </a:solidFill>
                <a:latin typeface="+mj-lt"/>
                <a:ea typeface="Calibri" pitchFamily="34" charset="-122"/>
                <a:cs typeface="Calibri" pitchFamily="34" charset="-120"/>
              </a:rPr>
              <a:t>Intuition: </a:t>
            </a:r>
            <a:r>
              <a:rPr lang="en-US" sz="1400" dirty="0">
                <a:solidFill>
                  <a:srgbClr val="1E293B"/>
                </a:solidFill>
                <a:latin typeface="+mj-lt"/>
                <a:ea typeface="Calibri" pitchFamily="34" charset="-122"/>
                <a:cs typeface="Calibri" pitchFamily="34" charset="-120"/>
              </a:rPr>
              <a:t>"Did you find the core of every vessel?" Precomputes a 1-voxel-wide centerline of the ground truth, then asks how much of this skeleton the prediction covers. Focuses all gradient signal on centerline voxels — even at the cost of over-segmentation. The base Dice+CE handles false positives; Skeleton Recall ensures the thinnest structures aren't missed.</a:t>
            </a:r>
            <a:endParaRPr lang="en-US" sz="1500" dirty="0">
              <a:latin typeface="+mj-lt"/>
            </a:endParaRPr>
          </a:p>
        </p:txBody>
      </p:sp>
      <p:sp>
        <p:nvSpPr>
          <p:cNvPr id="22" name="Shape 20"/>
          <p:cNvSpPr/>
          <p:nvPr/>
        </p:nvSpPr>
        <p:spPr>
          <a:xfrm>
            <a:off x="548640" y="5394960"/>
            <a:ext cx="10972800" cy="1097280"/>
          </a:xfrm>
          <a:prstGeom prst="rect">
            <a:avLst/>
          </a:prstGeom>
          <a:solidFill>
            <a:srgbClr val="1E3A5F"/>
          </a:solidFill>
          <a:ln/>
        </p:spPr>
        <p:txBody>
          <a:bodyPr/>
          <a:lstStyle/>
          <a:p>
            <a:endParaRPr lang="en-US">
              <a:latin typeface="+mj-lt"/>
            </a:endParaRPr>
          </a:p>
        </p:txBody>
      </p:sp>
      <p:sp>
        <p:nvSpPr>
          <p:cNvPr id="23" name="Text 21"/>
          <p:cNvSpPr/>
          <p:nvPr/>
        </p:nvSpPr>
        <p:spPr>
          <a:xfrm>
            <a:off x="822960" y="5440680"/>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mj-lt"/>
                <a:ea typeface="Calibri" pitchFamily="34" charset="-122"/>
                <a:cs typeface="Calibri" pitchFamily="34" charset="-120"/>
              </a:rPr>
              <a:t>Summary of Loss Functions</a:t>
            </a:r>
            <a:endParaRPr lang="en-US" sz="1300" dirty="0">
              <a:latin typeface="+mj-lt"/>
            </a:endParaRPr>
          </a:p>
        </p:txBody>
      </p:sp>
      <p:graphicFrame>
        <p:nvGraphicFramePr>
          <p:cNvPr id="24" name="Table 0"/>
          <p:cNvGraphicFramePr>
            <a:graphicFrameLocks noGrp="1"/>
          </p:cNvGraphicFramePr>
          <p:nvPr>
            <p:extLst>
              <p:ext uri="{D42A27DB-BD31-4B8C-83A1-F6EECF244321}">
                <p14:modId xmlns:p14="http://schemas.microsoft.com/office/powerpoint/2010/main" val="3169740288"/>
              </p:ext>
            </p:extLst>
          </p:nvPr>
        </p:nvGraphicFramePr>
        <p:xfrm>
          <a:off x="822960" y="5760720"/>
          <a:ext cx="10515600" cy="1036320"/>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160020">
                <a:tc>
                  <a:txBody>
                    <a:bodyPr/>
                    <a:lstStyle/>
                    <a:p>
                      <a:pPr marL="0" indent="0">
                        <a:buNone/>
                      </a:pPr>
                      <a:r>
                        <a:rPr lang="en-US" sz="1100" b="1" dirty="0">
                          <a:solidFill>
                            <a:srgbClr val="FFFFFF"/>
                          </a:solidFill>
                        </a:rPr>
                        <a:t>Loss</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Topology Signal</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Computation</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Trade-off</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160020">
                <a:tc>
                  <a:txBody>
                    <a:bodyPr/>
                    <a:lstStyle/>
                    <a:p>
                      <a:pPr marL="0" indent="0">
                        <a:buNone/>
                      </a:pPr>
                      <a:r>
                        <a:rPr lang="en-US" sz="1100" b="1" dirty="0">
                          <a:solidFill>
                            <a:schemeClr val="accent1">
                              <a:lumMod val="40000"/>
                              <a:lumOff val="60000"/>
                            </a:schemeClr>
                          </a:solidFill>
                        </a:rPr>
                        <a:t>Dice+CE</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None</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Fastest</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chemeClr val="bg1"/>
                          </a:solidFill>
                        </a:rPr>
                        <a:t>No topology awareness</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extLst>
                  <a:ext uri="{0D108BD9-81ED-4DB2-BD59-A6C34878D82A}">
                    <a16:rowId xmlns:a16="http://schemas.microsoft.com/office/drawing/2014/main" val="10001"/>
                  </a:ext>
                </a:extLst>
              </a:tr>
              <a:tr h="160020">
                <a:tc>
                  <a:txBody>
                    <a:bodyPr/>
                    <a:lstStyle/>
                    <a:p>
                      <a:pPr marL="0" indent="0">
                        <a:buNone/>
                      </a:pPr>
                      <a:r>
                        <a:rPr lang="en-US" sz="1100" b="1" dirty="0">
                          <a:solidFill>
                            <a:schemeClr val="accent4"/>
                          </a:solidFill>
                        </a:rPr>
                        <a:t>+ clDice</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Precision + Recall</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GPU-intensive (K=10 iters)</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chemeClr val="bg1"/>
                          </a:solidFill>
                        </a:rPr>
                        <a:t>Best aggregate metrics</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extLst>
                  <a:ext uri="{0D108BD9-81ED-4DB2-BD59-A6C34878D82A}">
                    <a16:rowId xmlns:a16="http://schemas.microsoft.com/office/drawing/2014/main" val="10002"/>
                  </a:ext>
                </a:extLst>
              </a:tr>
              <a:tr h="160020">
                <a:tc>
                  <a:txBody>
                    <a:bodyPr/>
                    <a:lstStyle/>
                    <a:p>
                      <a:pPr marL="0" indent="0">
                        <a:buNone/>
                      </a:pPr>
                      <a:r>
                        <a:rPr lang="en-US" sz="1100" b="1" dirty="0">
                          <a:solidFill>
                            <a:schemeClr val="accent2"/>
                          </a:solidFill>
                        </a:rPr>
                        <a:t>+ Skeleton Recall</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Recall only</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rgbClr val="FFFFFF"/>
                          </a:solidFill>
                        </a:rPr>
                        <a:t>CPU precompute (+13%)</a:t>
                      </a:r>
                      <a:endParaRPr lang="en-US" sz="1100" dirty="0"/>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tc>
                  <a:txBody>
                    <a:bodyPr/>
                    <a:lstStyle/>
                    <a:p>
                      <a:pPr marL="0" indent="0">
                        <a:buNone/>
                      </a:pPr>
                      <a:r>
                        <a:rPr lang="en-US" sz="1100" dirty="0">
                          <a:solidFill>
                            <a:schemeClr val="bg1"/>
                          </a:solidFill>
                        </a:rPr>
                        <a:t>Best thin-vessel detection</a:t>
                      </a:r>
                    </a:p>
                  </a:txBody>
                  <a:tcPr>
                    <a:lnL w="6350" cap="flat" cmpd="sng" algn="ctr">
                      <a:solidFill>
                        <a:srgbClr val="3A5A7B"/>
                      </a:solidFill>
                      <a:prstDash val="solid"/>
                      <a:round/>
                      <a:headEnd type="none" w="med" len="med"/>
                      <a:tailEnd type="none" w="med" len="med"/>
                    </a:lnL>
                    <a:lnR w="6350" cap="flat" cmpd="sng" algn="ctr">
                      <a:solidFill>
                        <a:srgbClr val="3A5A7B"/>
                      </a:solidFill>
                      <a:prstDash val="solid"/>
                      <a:round/>
                      <a:headEnd type="none" w="med" len="med"/>
                      <a:tailEnd type="none" w="med" len="med"/>
                    </a:lnR>
                    <a:lnT w="6350" cap="flat" cmpd="sng" algn="ctr">
                      <a:solidFill>
                        <a:srgbClr val="3A5A7B"/>
                      </a:solidFill>
                      <a:prstDash val="solid"/>
                      <a:round/>
                      <a:headEnd type="none" w="med" len="med"/>
                      <a:tailEnd type="none" w="med" len="med"/>
                    </a:lnT>
                    <a:lnB w="6350" cap="flat" cmpd="sng" algn="ctr">
                      <a:solidFill>
                        <a:srgbClr val="3A5A7B"/>
                      </a:solidFill>
                      <a:prstDash val="solid"/>
                      <a:round/>
                      <a:headEnd type="none" w="med" len="med"/>
                      <a:tailEnd type="none" w="med" len="med"/>
                    </a:lnB>
                    <a:solidFill>
                      <a:srgbClr val="2A4A6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B389B-1976-28AB-F611-4D7004875F40}"/>
              </a:ext>
            </a:extLst>
          </p:cNvPr>
          <p:cNvSpPr>
            <a:spLocks noGrp="1"/>
          </p:cNvSpPr>
          <p:nvPr>
            <p:ph type="title"/>
          </p:nvPr>
        </p:nvSpPr>
        <p:spPr>
          <a:xfrm>
            <a:off x="553648" y="295458"/>
            <a:ext cx="10890929" cy="1097280"/>
          </a:xfrm>
        </p:spPr>
        <p:txBody>
          <a:bodyPr/>
          <a:lstStyle/>
          <a:p>
            <a:r>
              <a:rPr lang="en-US" dirty="0"/>
              <a:t>Training Setup </a:t>
            </a:r>
          </a:p>
        </p:txBody>
      </p:sp>
      <p:sp>
        <p:nvSpPr>
          <p:cNvPr id="58" name="Shape 3">
            <a:extLst>
              <a:ext uri="{FF2B5EF4-FFF2-40B4-BE49-F238E27FC236}">
                <a16:creationId xmlns:a16="http://schemas.microsoft.com/office/drawing/2014/main" id="{C2CEC807-9DD5-5BEB-E032-225ADEAB2FF8}"/>
              </a:ext>
            </a:extLst>
          </p:cNvPr>
          <p:cNvSpPr/>
          <p:nvPr/>
        </p:nvSpPr>
        <p:spPr>
          <a:xfrm>
            <a:off x="659958" y="1201179"/>
            <a:ext cx="53830" cy="357144"/>
          </a:xfrm>
          <a:prstGeom prst="rect">
            <a:avLst/>
          </a:prstGeom>
          <a:solidFill>
            <a:srgbClr val="0077B6"/>
          </a:solidFill>
          <a:ln/>
        </p:spPr>
        <p:txBody>
          <a:bodyPr/>
          <a:lstStyle/>
          <a:p>
            <a:endParaRPr lang="en-US">
              <a:latin typeface="+mj-lt"/>
            </a:endParaRPr>
          </a:p>
        </p:txBody>
      </p:sp>
      <p:sp>
        <p:nvSpPr>
          <p:cNvPr id="62" name="Text 4">
            <a:extLst>
              <a:ext uri="{FF2B5EF4-FFF2-40B4-BE49-F238E27FC236}">
                <a16:creationId xmlns:a16="http://schemas.microsoft.com/office/drawing/2014/main" id="{51F8CF21-78B4-D3A2-F71B-90BF4B9225C7}"/>
              </a:ext>
            </a:extLst>
          </p:cNvPr>
          <p:cNvSpPr/>
          <p:nvPr/>
        </p:nvSpPr>
        <p:spPr>
          <a:xfrm>
            <a:off x="934278" y="116314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Hardware</a:t>
            </a:r>
            <a:endParaRPr lang="en-US" sz="1500" dirty="0">
              <a:latin typeface="+mj-lt"/>
            </a:endParaRPr>
          </a:p>
        </p:txBody>
      </p:sp>
      <p:sp>
        <p:nvSpPr>
          <p:cNvPr id="65" name="Text 5">
            <a:extLst>
              <a:ext uri="{FF2B5EF4-FFF2-40B4-BE49-F238E27FC236}">
                <a16:creationId xmlns:a16="http://schemas.microsoft.com/office/drawing/2014/main" id="{8799EA35-BF5E-BBA0-C0F8-CAE2EC6F2948}"/>
              </a:ext>
            </a:extLst>
          </p:cNvPr>
          <p:cNvSpPr/>
          <p:nvPr/>
        </p:nvSpPr>
        <p:spPr>
          <a:xfrm>
            <a:off x="3128838" y="1163145"/>
            <a:ext cx="3796749"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8× NVIDIA A100-SXM4-40GB (AWS p4d.24xlarge)</a:t>
            </a:r>
            <a:endParaRPr lang="en-US" sz="1400" dirty="0">
              <a:latin typeface="+mj-lt"/>
            </a:endParaRPr>
          </a:p>
        </p:txBody>
      </p:sp>
      <p:sp>
        <p:nvSpPr>
          <p:cNvPr id="69" name="Shape 6">
            <a:extLst>
              <a:ext uri="{FF2B5EF4-FFF2-40B4-BE49-F238E27FC236}">
                <a16:creationId xmlns:a16="http://schemas.microsoft.com/office/drawing/2014/main" id="{9CD7308C-47DC-CF66-CB17-E72453DFEBB8}"/>
              </a:ext>
            </a:extLst>
          </p:cNvPr>
          <p:cNvSpPr/>
          <p:nvPr/>
        </p:nvSpPr>
        <p:spPr>
          <a:xfrm>
            <a:off x="659958" y="1749819"/>
            <a:ext cx="53830" cy="357144"/>
          </a:xfrm>
          <a:prstGeom prst="rect">
            <a:avLst/>
          </a:prstGeom>
          <a:solidFill>
            <a:srgbClr val="0077B6"/>
          </a:solidFill>
          <a:ln/>
        </p:spPr>
        <p:txBody>
          <a:bodyPr/>
          <a:lstStyle/>
          <a:p>
            <a:endParaRPr lang="en-US">
              <a:latin typeface="+mj-lt"/>
            </a:endParaRPr>
          </a:p>
        </p:txBody>
      </p:sp>
      <p:sp>
        <p:nvSpPr>
          <p:cNvPr id="74" name="Text 7">
            <a:extLst>
              <a:ext uri="{FF2B5EF4-FFF2-40B4-BE49-F238E27FC236}">
                <a16:creationId xmlns:a16="http://schemas.microsoft.com/office/drawing/2014/main" id="{69CCD3AA-0098-3C96-CFC9-3EBCCFB81DCE}"/>
              </a:ext>
            </a:extLst>
          </p:cNvPr>
          <p:cNvSpPr/>
          <p:nvPr/>
        </p:nvSpPr>
        <p:spPr>
          <a:xfrm>
            <a:off x="934278" y="171178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Training</a:t>
            </a:r>
            <a:endParaRPr lang="en-US" sz="1500" dirty="0">
              <a:latin typeface="+mj-lt"/>
            </a:endParaRPr>
          </a:p>
        </p:txBody>
      </p:sp>
      <p:sp>
        <p:nvSpPr>
          <p:cNvPr id="75" name="Text 8">
            <a:extLst>
              <a:ext uri="{FF2B5EF4-FFF2-40B4-BE49-F238E27FC236}">
                <a16:creationId xmlns:a16="http://schemas.microsoft.com/office/drawing/2014/main" id="{F82DC58C-C6B0-484F-8DC9-F5FF335278C9}"/>
              </a:ext>
            </a:extLst>
          </p:cNvPr>
          <p:cNvSpPr/>
          <p:nvPr/>
        </p:nvSpPr>
        <p:spPr>
          <a:xfrm>
            <a:off x="3128839" y="1711785"/>
            <a:ext cx="3955774"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DDP across all 8 GPUs — identical for all 3 models</a:t>
            </a:r>
            <a:endParaRPr lang="en-US" sz="1400" dirty="0">
              <a:latin typeface="+mj-lt"/>
            </a:endParaRPr>
          </a:p>
        </p:txBody>
      </p:sp>
      <p:sp>
        <p:nvSpPr>
          <p:cNvPr id="76" name="Shape 9">
            <a:extLst>
              <a:ext uri="{FF2B5EF4-FFF2-40B4-BE49-F238E27FC236}">
                <a16:creationId xmlns:a16="http://schemas.microsoft.com/office/drawing/2014/main" id="{130960C4-6939-BB61-185A-CE17383D639C}"/>
              </a:ext>
            </a:extLst>
          </p:cNvPr>
          <p:cNvSpPr/>
          <p:nvPr/>
        </p:nvSpPr>
        <p:spPr>
          <a:xfrm>
            <a:off x="659958" y="2298459"/>
            <a:ext cx="53830" cy="357144"/>
          </a:xfrm>
          <a:prstGeom prst="rect">
            <a:avLst/>
          </a:prstGeom>
          <a:solidFill>
            <a:srgbClr val="0077B6"/>
          </a:solidFill>
          <a:ln/>
        </p:spPr>
        <p:txBody>
          <a:bodyPr/>
          <a:lstStyle/>
          <a:p>
            <a:endParaRPr lang="en-US">
              <a:latin typeface="+mj-lt"/>
            </a:endParaRPr>
          </a:p>
        </p:txBody>
      </p:sp>
      <p:sp>
        <p:nvSpPr>
          <p:cNvPr id="77" name="Text 10">
            <a:extLst>
              <a:ext uri="{FF2B5EF4-FFF2-40B4-BE49-F238E27FC236}">
                <a16:creationId xmlns:a16="http://schemas.microsoft.com/office/drawing/2014/main" id="{C610BA4E-DDA8-14EE-E244-AAD590FF54FF}"/>
              </a:ext>
            </a:extLst>
          </p:cNvPr>
          <p:cNvSpPr/>
          <p:nvPr/>
        </p:nvSpPr>
        <p:spPr>
          <a:xfrm>
            <a:off x="934278" y="226042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Epochs</a:t>
            </a:r>
            <a:endParaRPr lang="en-US" sz="1500" dirty="0">
              <a:latin typeface="+mj-lt"/>
            </a:endParaRPr>
          </a:p>
        </p:txBody>
      </p:sp>
      <p:sp>
        <p:nvSpPr>
          <p:cNvPr id="78" name="Text 11">
            <a:extLst>
              <a:ext uri="{FF2B5EF4-FFF2-40B4-BE49-F238E27FC236}">
                <a16:creationId xmlns:a16="http://schemas.microsoft.com/office/drawing/2014/main" id="{19B23C8B-E04C-6EEA-F5D9-B0BAAA13121D}"/>
              </a:ext>
            </a:extLst>
          </p:cNvPr>
          <p:cNvSpPr/>
          <p:nvPr/>
        </p:nvSpPr>
        <p:spPr>
          <a:xfrm>
            <a:off x="3128839" y="2260425"/>
            <a:ext cx="3796748"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300 (from-scratch)  |  150 (TopBrain fine-tuning)</a:t>
            </a:r>
            <a:endParaRPr lang="en-US" sz="1400" dirty="0">
              <a:latin typeface="+mj-lt"/>
            </a:endParaRPr>
          </a:p>
        </p:txBody>
      </p:sp>
      <p:sp>
        <p:nvSpPr>
          <p:cNvPr id="79" name="Shape 12">
            <a:extLst>
              <a:ext uri="{FF2B5EF4-FFF2-40B4-BE49-F238E27FC236}">
                <a16:creationId xmlns:a16="http://schemas.microsoft.com/office/drawing/2014/main" id="{E6EBED5C-1CC7-EDAE-6DD9-AE3F6BD07B91}"/>
              </a:ext>
            </a:extLst>
          </p:cNvPr>
          <p:cNvSpPr/>
          <p:nvPr/>
        </p:nvSpPr>
        <p:spPr>
          <a:xfrm>
            <a:off x="659958" y="2847099"/>
            <a:ext cx="53830" cy="357144"/>
          </a:xfrm>
          <a:prstGeom prst="rect">
            <a:avLst/>
          </a:prstGeom>
          <a:solidFill>
            <a:srgbClr val="0077B6"/>
          </a:solidFill>
          <a:ln/>
        </p:spPr>
        <p:txBody>
          <a:bodyPr/>
          <a:lstStyle/>
          <a:p>
            <a:endParaRPr lang="en-US">
              <a:latin typeface="+mj-lt"/>
            </a:endParaRPr>
          </a:p>
        </p:txBody>
      </p:sp>
      <p:sp>
        <p:nvSpPr>
          <p:cNvPr id="80" name="Text 13">
            <a:extLst>
              <a:ext uri="{FF2B5EF4-FFF2-40B4-BE49-F238E27FC236}">
                <a16:creationId xmlns:a16="http://schemas.microsoft.com/office/drawing/2014/main" id="{AFC2FD21-0E2F-53F5-F792-4098F532F40B}"/>
              </a:ext>
            </a:extLst>
          </p:cNvPr>
          <p:cNvSpPr/>
          <p:nvPr/>
        </p:nvSpPr>
        <p:spPr>
          <a:xfrm>
            <a:off x="934278" y="280906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Optimizer</a:t>
            </a:r>
            <a:endParaRPr lang="en-US" sz="1500" dirty="0">
              <a:latin typeface="+mj-lt"/>
            </a:endParaRPr>
          </a:p>
        </p:txBody>
      </p:sp>
      <p:sp>
        <p:nvSpPr>
          <p:cNvPr id="81" name="Text 14">
            <a:extLst>
              <a:ext uri="{FF2B5EF4-FFF2-40B4-BE49-F238E27FC236}">
                <a16:creationId xmlns:a16="http://schemas.microsoft.com/office/drawing/2014/main" id="{BB5C84DA-2BC4-3CAD-D1A7-E42665FDA0E0}"/>
              </a:ext>
            </a:extLst>
          </p:cNvPr>
          <p:cNvSpPr/>
          <p:nvPr/>
        </p:nvSpPr>
        <p:spPr>
          <a:xfrm>
            <a:off x="3128839" y="2809065"/>
            <a:ext cx="3383280"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AdamW (LR = 10⁻³, weight decay = 10⁻⁵)</a:t>
            </a:r>
            <a:endParaRPr lang="en-US" sz="1400" dirty="0">
              <a:latin typeface="+mj-lt"/>
            </a:endParaRPr>
          </a:p>
        </p:txBody>
      </p:sp>
      <p:sp>
        <p:nvSpPr>
          <p:cNvPr id="82" name="Shape 15">
            <a:extLst>
              <a:ext uri="{FF2B5EF4-FFF2-40B4-BE49-F238E27FC236}">
                <a16:creationId xmlns:a16="http://schemas.microsoft.com/office/drawing/2014/main" id="{149B3E06-DBC7-09D5-A33D-A5B419E47D86}"/>
              </a:ext>
            </a:extLst>
          </p:cNvPr>
          <p:cNvSpPr/>
          <p:nvPr/>
        </p:nvSpPr>
        <p:spPr>
          <a:xfrm>
            <a:off x="659958" y="3395739"/>
            <a:ext cx="53830" cy="357144"/>
          </a:xfrm>
          <a:prstGeom prst="rect">
            <a:avLst/>
          </a:prstGeom>
          <a:solidFill>
            <a:srgbClr val="0077B6"/>
          </a:solidFill>
          <a:ln/>
        </p:spPr>
        <p:txBody>
          <a:bodyPr/>
          <a:lstStyle/>
          <a:p>
            <a:endParaRPr lang="en-US">
              <a:latin typeface="+mj-lt"/>
            </a:endParaRPr>
          </a:p>
        </p:txBody>
      </p:sp>
      <p:sp>
        <p:nvSpPr>
          <p:cNvPr id="83" name="Text 16">
            <a:extLst>
              <a:ext uri="{FF2B5EF4-FFF2-40B4-BE49-F238E27FC236}">
                <a16:creationId xmlns:a16="http://schemas.microsoft.com/office/drawing/2014/main" id="{EACBE021-7454-645B-3BD6-CB6FECFE8CBF}"/>
              </a:ext>
            </a:extLst>
          </p:cNvPr>
          <p:cNvSpPr/>
          <p:nvPr/>
        </p:nvSpPr>
        <p:spPr>
          <a:xfrm>
            <a:off x="934278" y="335770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LR Schedule</a:t>
            </a:r>
            <a:endParaRPr lang="en-US" sz="1500" dirty="0">
              <a:latin typeface="+mj-lt"/>
            </a:endParaRPr>
          </a:p>
        </p:txBody>
      </p:sp>
      <p:sp>
        <p:nvSpPr>
          <p:cNvPr id="84" name="Text 17">
            <a:extLst>
              <a:ext uri="{FF2B5EF4-FFF2-40B4-BE49-F238E27FC236}">
                <a16:creationId xmlns:a16="http://schemas.microsoft.com/office/drawing/2014/main" id="{8A94C726-1C28-B908-5AC6-4B039EEE3B8A}"/>
              </a:ext>
            </a:extLst>
          </p:cNvPr>
          <p:cNvSpPr/>
          <p:nvPr/>
        </p:nvSpPr>
        <p:spPr>
          <a:xfrm>
            <a:off x="3128838" y="3357705"/>
            <a:ext cx="4782709"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Cosine annealing + 10-epoch linear warmup (10⁻⁷ → 10⁻³ → 10⁻⁷)</a:t>
            </a:r>
            <a:endParaRPr lang="en-US" sz="1400" dirty="0">
              <a:latin typeface="+mj-lt"/>
            </a:endParaRPr>
          </a:p>
        </p:txBody>
      </p:sp>
      <p:sp>
        <p:nvSpPr>
          <p:cNvPr id="85" name="Shape 18">
            <a:extLst>
              <a:ext uri="{FF2B5EF4-FFF2-40B4-BE49-F238E27FC236}">
                <a16:creationId xmlns:a16="http://schemas.microsoft.com/office/drawing/2014/main" id="{FC57406B-7731-243D-4C39-DF97F5AD4ECD}"/>
              </a:ext>
            </a:extLst>
          </p:cNvPr>
          <p:cNvSpPr/>
          <p:nvPr/>
        </p:nvSpPr>
        <p:spPr>
          <a:xfrm>
            <a:off x="659958" y="3944379"/>
            <a:ext cx="53830" cy="357144"/>
          </a:xfrm>
          <a:prstGeom prst="rect">
            <a:avLst/>
          </a:prstGeom>
          <a:solidFill>
            <a:srgbClr val="0077B6"/>
          </a:solidFill>
          <a:ln/>
        </p:spPr>
        <p:txBody>
          <a:bodyPr/>
          <a:lstStyle/>
          <a:p>
            <a:endParaRPr lang="en-US">
              <a:latin typeface="+mj-lt"/>
            </a:endParaRPr>
          </a:p>
        </p:txBody>
      </p:sp>
      <p:sp>
        <p:nvSpPr>
          <p:cNvPr id="86" name="Text 19">
            <a:extLst>
              <a:ext uri="{FF2B5EF4-FFF2-40B4-BE49-F238E27FC236}">
                <a16:creationId xmlns:a16="http://schemas.microsoft.com/office/drawing/2014/main" id="{3D165C03-0690-4CD4-8B21-1EF6AA01AC76}"/>
              </a:ext>
            </a:extLst>
          </p:cNvPr>
          <p:cNvSpPr/>
          <p:nvPr/>
        </p:nvSpPr>
        <p:spPr>
          <a:xfrm>
            <a:off x="934278" y="390634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Patches</a:t>
            </a:r>
            <a:endParaRPr lang="en-US" sz="1500" dirty="0">
              <a:latin typeface="+mj-lt"/>
            </a:endParaRPr>
          </a:p>
        </p:txBody>
      </p:sp>
      <p:sp>
        <p:nvSpPr>
          <p:cNvPr id="87" name="Text 20">
            <a:extLst>
              <a:ext uri="{FF2B5EF4-FFF2-40B4-BE49-F238E27FC236}">
                <a16:creationId xmlns:a16="http://schemas.microsoft.com/office/drawing/2014/main" id="{6550B0E4-1E8D-6809-5652-85579E7E491A}"/>
              </a:ext>
            </a:extLst>
          </p:cNvPr>
          <p:cNvSpPr/>
          <p:nvPr/>
        </p:nvSpPr>
        <p:spPr>
          <a:xfrm>
            <a:off x="3128839" y="3906345"/>
            <a:ext cx="4297680"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128³ voxel crops, 4 per volume, 33% foreground-centered</a:t>
            </a:r>
            <a:endParaRPr lang="en-US" sz="1400" dirty="0">
              <a:latin typeface="+mj-lt"/>
            </a:endParaRPr>
          </a:p>
        </p:txBody>
      </p:sp>
      <p:sp>
        <p:nvSpPr>
          <p:cNvPr id="88" name="Shape 21">
            <a:extLst>
              <a:ext uri="{FF2B5EF4-FFF2-40B4-BE49-F238E27FC236}">
                <a16:creationId xmlns:a16="http://schemas.microsoft.com/office/drawing/2014/main" id="{67FCFC30-CA0F-5C99-7EF9-363C6232740C}"/>
              </a:ext>
            </a:extLst>
          </p:cNvPr>
          <p:cNvSpPr/>
          <p:nvPr/>
        </p:nvSpPr>
        <p:spPr>
          <a:xfrm>
            <a:off x="659958" y="4493019"/>
            <a:ext cx="53830" cy="357144"/>
          </a:xfrm>
          <a:prstGeom prst="rect">
            <a:avLst/>
          </a:prstGeom>
          <a:solidFill>
            <a:srgbClr val="0077B6"/>
          </a:solidFill>
          <a:ln/>
        </p:spPr>
        <p:txBody>
          <a:bodyPr/>
          <a:lstStyle/>
          <a:p>
            <a:endParaRPr lang="en-US">
              <a:latin typeface="+mj-lt"/>
            </a:endParaRPr>
          </a:p>
        </p:txBody>
      </p:sp>
      <p:sp>
        <p:nvSpPr>
          <p:cNvPr id="89" name="Text 22">
            <a:extLst>
              <a:ext uri="{FF2B5EF4-FFF2-40B4-BE49-F238E27FC236}">
                <a16:creationId xmlns:a16="http://schemas.microsoft.com/office/drawing/2014/main" id="{B4E96883-3EAC-498C-C493-4ED1C49A526D}"/>
              </a:ext>
            </a:extLst>
          </p:cNvPr>
          <p:cNvSpPr/>
          <p:nvPr/>
        </p:nvSpPr>
        <p:spPr>
          <a:xfrm>
            <a:off x="934278" y="445498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Batch Size</a:t>
            </a:r>
            <a:endParaRPr lang="en-US" sz="1500" dirty="0">
              <a:latin typeface="+mj-lt"/>
            </a:endParaRPr>
          </a:p>
        </p:txBody>
      </p:sp>
      <p:sp>
        <p:nvSpPr>
          <p:cNvPr id="90" name="Text 23">
            <a:extLst>
              <a:ext uri="{FF2B5EF4-FFF2-40B4-BE49-F238E27FC236}">
                <a16:creationId xmlns:a16="http://schemas.microsoft.com/office/drawing/2014/main" id="{A5A420F9-7DED-0987-ABFC-A4B2CDAE4C03}"/>
              </a:ext>
            </a:extLst>
          </p:cNvPr>
          <p:cNvSpPr/>
          <p:nvPr/>
        </p:nvSpPr>
        <p:spPr>
          <a:xfrm>
            <a:off x="3128839" y="4454985"/>
            <a:ext cx="3884212"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4 per GPU (32 effective)  |  Mixed precision (AMP)</a:t>
            </a:r>
            <a:endParaRPr lang="en-US" sz="1400" dirty="0">
              <a:latin typeface="+mj-lt"/>
            </a:endParaRPr>
          </a:p>
        </p:txBody>
      </p:sp>
      <p:sp>
        <p:nvSpPr>
          <p:cNvPr id="91" name="Shape 24">
            <a:extLst>
              <a:ext uri="{FF2B5EF4-FFF2-40B4-BE49-F238E27FC236}">
                <a16:creationId xmlns:a16="http://schemas.microsoft.com/office/drawing/2014/main" id="{ED70D33B-9E35-37BA-FE19-0E1B2B75A688}"/>
              </a:ext>
            </a:extLst>
          </p:cNvPr>
          <p:cNvSpPr/>
          <p:nvPr/>
        </p:nvSpPr>
        <p:spPr>
          <a:xfrm>
            <a:off x="659958" y="5041659"/>
            <a:ext cx="53830" cy="357144"/>
          </a:xfrm>
          <a:prstGeom prst="rect">
            <a:avLst/>
          </a:prstGeom>
          <a:solidFill>
            <a:srgbClr val="0077B6"/>
          </a:solidFill>
          <a:ln/>
        </p:spPr>
        <p:txBody>
          <a:bodyPr/>
          <a:lstStyle/>
          <a:p>
            <a:endParaRPr lang="en-US">
              <a:latin typeface="+mj-lt"/>
            </a:endParaRPr>
          </a:p>
        </p:txBody>
      </p:sp>
      <p:sp>
        <p:nvSpPr>
          <p:cNvPr id="92" name="Text 25">
            <a:extLst>
              <a:ext uri="{FF2B5EF4-FFF2-40B4-BE49-F238E27FC236}">
                <a16:creationId xmlns:a16="http://schemas.microsoft.com/office/drawing/2014/main" id="{20E1FB23-1702-F2A6-19BA-9BBE87717B3D}"/>
              </a:ext>
            </a:extLst>
          </p:cNvPr>
          <p:cNvSpPr/>
          <p:nvPr/>
        </p:nvSpPr>
        <p:spPr>
          <a:xfrm>
            <a:off x="934278" y="500362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Validation</a:t>
            </a:r>
            <a:endParaRPr lang="en-US" sz="1500" dirty="0">
              <a:latin typeface="+mj-lt"/>
            </a:endParaRPr>
          </a:p>
        </p:txBody>
      </p:sp>
      <p:sp>
        <p:nvSpPr>
          <p:cNvPr id="93" name="Text 26">
            <a:extLst>
              <a:ext uri="{FF2B5EF4-FFF2-40B4-BE49-F238E27FC236}">
                <a16:creationId xmlns:a16="http://schemas.microsoft.com/office/drawing/2014/main" id="{2292CFB9-65D0-0FA9-B466-8A64DCFC66D9}"/>
              </a:ext>
            </a:extLst>
          </p:cNvPr>
          <p:cNvSpPr/>
          <p:nvPr/>
        </p:nvSpPr>
        <p:spPr>
          <a:xfrm>
            <a:off x="3128838" y="5003625"/>
            <a:ext cx="4051189"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Every 25 epochs  |  Early stopping patience = 5 cycles</a:t>
            </a:r>
            <a:endParaRPr lang="en-US" sz="1400" dirty="0">
              <a:latin typeface="+mj-lt"/>
            </a:endParaRPr>
          </a:p>
        </p:txBody>
      </p:sp>
      <p:sp>
        <p:nvSpPr>
          <p:cNvPr id="94" name="Shape 27">
            <a:extLst>
              <a:ext uri="{FF2B5EF4-FFF2-40B4-BE49-F238E27FC236}">
                <a16:creationId xmlns:a16="http://schemas.microsoft.com/office/drawing/2014/main" id="{74A3EA68-A31F-697D-99A1-6AE74802B8F2}"/>
              </a:ext>
            </a:extLst>
          </p:cNvPr>
          <p:cNvSpPr/>
          <p:nvPr/>
        </p:nvSpPr>
        <p:spPr>
          <a:xfrm>
            <a:off x="659958" y="5590299"/>
            <a:ext cx="53830" cy="357144"/>
          </a:xfrm>
          <a:prstGeom prst="rect">
            <a:avLst/>
          </a:prstGeom>
          <a:solidFill>
            <a:srgbClr val="0077B6"/>
          </a:solidFill>
          <a:ln/>
        </p:spPr>
        <p:txBody>
          <a:bodyPr/>
          <a:lstStyle/>
          <a:p>
            <a:endParaRPr lang="en-US">
              <a:latin typeface="+mj-lt"/>
            </a:endParaRPr>
          </a:p>
        </p:txBody>
      </p:sp>
      <p:sp>
        <p:nvSpPr>
          <p:cNvPr id="95" name="Text 28">
            <a:extLst>
              <a:ext uri="{FF2B5EF4-FFF2-40B4-BE49-F238E27FC236}">
                <a16:creationId xmlns:a16="http://schemas.microsoft.com/office/drawing/2014/main" id="{45288D3D-4645-9ED2-1BC3-B14E17D31240}"/>
              </a:ext>
            </a:extLst>
          </p:cNvPr>
          <p:cNvSpPr/>
          <p:nvPr/>
        </p:nvSpPr>
        <p:spPr>
          <a:xfrm>
            <a:off x="934278" y="5552265"/>
            <a:ext cx="2242930" cy="459186"/>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Fine-tuning</a:t>
            </a:r>
            <a:endParaRPr lang="en-US" sz="1500" dirty="0">
              <a:latin typeface="+mj-lt"/>
            </a:endParaRPr>
          </a:p>
        </p:txBody>
      </p:sp>
      <p:sp>
        <p:nvSpPr>
          <p:cNvPr id="96" name="Text 29">
            <a:extLst>
              <a:ext uri="{FF2B5EF4-FFF2-40B4-BE49-F238E27FC236}">
                <a16:creationId xmlns:a16="http://schemas.microsoft.com/office/drawing/2014/main" id="{0E0020B0-3157-43AF-2E82-4A609525BFEC}"/>
              </a:ext>
            </a:extLst>
          </p:cNvPr>
          <p:cNvSpPr/>
          <p:nvPr/>
        </p:nvSpPr>
        <p:spPr>
          <a:xfrm>
            <a:off x="3128839" y="5552265"/>
            <a:ext cx="4496462" cy="459186"/>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Best checkpoint, fresh optimizer, LR = 10⁻⁴, 5-epoch warmup</a:t>
            </a:r>
            <a:endParaRPr lang="en-US" sz="1400" dirty="0">
              <a:latin typeface="+mj-lt"/>
            </a:endParaRPr>
          </a:p>
        </p:txBody>
      </p:sp>
      <p:sp>
        <p:nvSpPr>
          <p:cNvPr id="99" name="Shape 30">
            <a:extLst>
              <a:ext uri="{FF2B5EF4-FFF2-40B4-BE49-F238E27FC236}">
                <a16:creationId xmlns:a16="http://schemas.microsoft.com/office/drawing/2014/main" id="{30C598C9-5399-2C35-28FF-F625535FC86B}"/>
              </a:ext>
            </a:extLst>
          </p:cNvPr>
          <p:cNvSpPr/>
          <p:nvPr/>
        </p:nvSpPr>
        <p:spPr>
          <a:xfrm>
            <a:off x="548640" y="6199632"/>
            <a:ext cx="10972800" cy="457200"/>
          </a:xfrm>
          <a:prstGeom prst="rect">
            <a:avLst/>
          </a:prstGeom>
          <a:solidFill>
            <a:srgbClr val="DBEAFE"/>
          </a:solidFill>
          <a:ln/>
        </p:spPr>
        <p:txBody>
          <a:bodyPr/>
          <a:lstStyle/>
          <a:p>
            <a:endParaRPr lang="en-US">
              <a:latin typeface="+mj-lt"/>
            </a:endParaRPr>
          </a:p>
        </p:txBody>
      </p:sp>
      <p:sp>
        <p:nvSpPr>
          <p:cNvPr id="100" name="Text 31">
            <a:extLst>
              <a:ext uri="{FF2B5EF4-FFF2-40B4-BE49-F238E27FC236}">
                <a16:creationId xmlns:a16="http://schemas.microsoft.com/office/drawing/2014/main" id="{862B3E49-0F1F-BED1-E666-F7515DAEC99A}"/>
              </a:ext>
            </a:extLst>
          </p:cNvPr>
          <p:cNvSpPr/>
          <p:nvPr/>
        </p:nvSpPr>
        <p:spPr>
          <a:xfrm>
            <a:off x="731520" y="6236208"/>
            <a:ext cx="10607040" cy="411480"/>
          </a:xfrm>
          <a:prstGeom prst="rect">
            <a:avLst/>
          </a:prstGeom>
          <a:noFill/>
          <a:ln/>
        </p:spPr>
        <p:txBody>
          <a:bodyPr wrap="square" rtlCol="0" anchor="ctr"/>
          <a:lstStyle/>
          <a:p>
            <a:pPr marL="0" indent="0" algn="ctr">
              <a:buNone/>
            </a:pPr>
            <a:r>
              <a:rPr lang="en-US" sz="1400" b="1" dirty="0">
                <a:solidFill>
                  <a:srgbClr val="0077B6"/>
                </a:solidFill>
                <a:latin typeface="+mj-lt"/>
                <a:ea typeface="Calibri" pitchFamily="34" charset="-122"/>
                <a:cs typeface="Calibri" pitchFamily="34" charset="-120"/>
              </a:rPr>
              <a:t>All training configuration identical across runs — controlled single-variable comparison</a:t>
            </a:r>
            <a:endParaRPr lang="en-US" sz="1400" dirty="0">
              <a:latin typeface="+mj-lt"/>
            </a:endParaRPr>
          </a:p>
        </p:txBody>
      </p:sp>
    </p:spTree>
    <p:extLst>
      <p:ext uri="{BB962C8B-B14F-4D97-AF65-F5344CB8AC3E}">
        <p14:creationId xmlns:p14="http://schemas.microsoft.com/office/powerpoint/2010/main" val="139459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77B6"/>
          </a:solidFill>
          <a:ln/>
        </p:spPr>
        <p:txBody>
          <a:bodyPr/>
          <a:lstStyle/>
          <a:p>
            <a:endParaRPr lang="en-US">
              <a:latin typeface="+mj-lt"/>
            </a:endParaRPr>
          </a:p>
        </p:txBody>
      </p:sp>
      <p:sp>
        <p:nvSpPr>
          <p:cNvPr id="4" name="Text 2"/>
          <p:cNvSpPr/>
          <p:nvPr/>
        </p:nvSpPr>
        <p:spPr>
          <a:xfrm>
            <a:off x="731520" y="393192"/>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Training Dynamics</a:t>
            </a:r>
            <a:endParaRPr lang="en-US" sz="3000" dirty="0">
              <a:latin typeface="+mj-lt"/>
            </a:endParaRPr>
          </a:p>
        </p:txBody>
      </p:sp>
      <p:pic>
        <p:nvPicPr>
          <p:cNvPr id="5" name="Image 0" descr="/sessions/sweet-quirky-clarke/mnt/CTA Seg V2/report/figures_v3/learning_curves.png"/>
          <p:cNvPicPr>
            <a:picLocks noChangeAspect="1"/>
          </p:cNvPicPr>
          <p:nvPr/>
        </p:nvPicPr>
        <p:blipFill>
          <a:blip r:embed="rId3"/>
          <a:stretch>
            <a:fillRect/>
          </a:stretch>
        </p:blipFill>
        <p:spPr>
          <a:xfrm>
            <a:off x="731520" y="1188720"/>
            <a:ext cx="7315200" cy="5029200"/>
          </a:xfrm>
          <a:prstGeom prst="rect">
            <a:avLst/>
          </a:prstGeom>
        </p:spPr>
      </p:pic>
      <p:sp>
        <p:nvSpPr>
          <p:cNvPr id="6" name="Shape 3"/>
          <p:cNvSpPr/>
          <p:nvPr/>
        </p:nvSpPr>
        <p:spPr>
          <a:xfrm>
            <a:off x="8412480" y="1371600"/>
            <a:ext cx="3291840" cy="45720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7" name="Text 4"/>
          <p:cNvSpPr/>
          <p:nvPr/>
        </p:nvSpPr>
        <p:spPr>
          <a:xfrm>
            <a:off x="8595360" y="1554480"/>
            <a:ext cx="2926080" cy="4114800"/>
          </a:xfrm>
          <a:prstGeom prst="rect">
            <a:avLst/>
          </a:prstGeom>
          <a:noFill/>
          <a:ln/>
        </p:spPr>
        <p:txBody>
          <a:bodyPr wrap="square" rtlCol="0" anchor="ctr"/>
          <a:lstStyle/>
          <a:p>
            <a:pPr marL="0" indent="0">
              <a:buNone/>
            </a:pPr>
            <a:r>
              <a:rPr lang="en-US" b="1" dirty="0">
                <a:solidFill>
                  <a:srgbClr val="1E293B"/>
                </a:solidFill>
                <a:latin typeface="+mj-lt"/>
                <a:ea typeface="Calibri" pitchFamily="34" charset="-122"/>
                <a:cs typeface="Calibri" pitchFamily="34" charset="-120"/>
              </a:rPr>
              <a:t>All three models converge to similar regions:</a:t>
            </a:r>
            <a:endParaRPr lang="en-US" b="1" dirty="0">
              <a:latin typeface="+mj-lt"/>
            </a:endParaRPr>
          </a:p>
          <a:p>
            <a:pPr marL="0" indent="0">
              <a:buNone/>
            </a:pPr>
            <a:endParaRPr lang="en-US" sz="1400" dirty="0">
              <a:latin typeface="+mj-lt"/>
            </a:endParaRPr>
          </a:p>
          <a:p>
            <a:pPr marL="0" indent="0">
              <a:buNone/>
            </a:pPr>
            <a:r>
              <a:rPr lang="en-US" sz="1300" dirty="0">
                <a:solidFill>
                  <a:srgbClr val="64748B"/>
                </a:solidFill>
                <a:latin typeface="+mj-lt"/>
                <a:ea typeface="Calibri" pitchFamily="34" charset="-122"/>
                <a:cs typeface="Calibri" pitchFamily="34" charset="-120"/>
              </a:rPr>
              <a:t>Training loss: ~0.10–0.13</a:t>
            </a:r>
            <a:endParaRPr lang="en-US" sz="1400" dirty="0">
              <a:latin typeface="+mj-lt"/>
            </a:endParaRPr>
          </a:p>
          <a:p>
            <a:pPr marL="0" indent="0">
              <a:buNone/>
            </a:pPr>
            <a:r>
              <a:rPr lang="en-US" sz="1300" dirty="0">
                <a:solidFill>
                  <a:srgbClr val="64748B"/>
                </a:solidFill>
                <a:latin typeface="+mj-lt"/>
                <a:ea typeface="Calibri" pitchFamily="34" charset="-122"/>
                <a:cs typeface="Calibri" pitchFamily="34" charset="-120"/>
              </a:rPr>
              <a:t>Validation Dice: ~0.84–0.86</a:t>
            </a:r>
            <a:endParaRPr lang="en-US" sz="1400" dirty="0">
              <a:latin typeface="+mj-lt"/>
            </a:endParaRPr>
          </a:p>
          <a:p>
            <a:pPr marL="0" indent="0">
              <a:buNone/>
            </a:pPr>
            <a:endParaRPr lang="en-US" sz="1400" dirty="0">
              <a:latin typeface="+mj-lt"/>
            </a:endParaRPr>
          </a:p>
          <a:p>
            <a:pPr marL="0" indent="0">
              <a:buNone/>
            </a:pPr>
            <a:r>
              <a:rPr lang="en-US" sz="1300" dirty="0">
                <a:solidFill>
                  <a:srgbClr val="D97706"/>
                </a:solidFill>
                <a:latin typeface="+mj-lt"/>
                <a:ea typeface="Calibri" pitchFamily="34" charset="-122"/>
                <a:cs typeface="Calibri" pitchFamily="34" charset="-120"/>
              </a:rPr>
              <a:t>clDice and Dice+CE are nearly identical</a:t>
            </a:r>
            <a:endParaRPr lang="en-US" sz="1400" dirty="0">
              <a:latin typeface="+mj-lt"/>
            </a:endParaRPr>
          </a:p>
          <a:p>
            <a:pPr marL="0" indent="0">
              <a:buNone/>
            </a:pPr>
            <a:endParaRPr lang="en-US" sz="1400" dirty="0">
              <a:latin typeface="+mj-lt"/>
            </a:endParaRPr>
          </a:p>
          <a:p>
            <a:pPr marL="0" indent="0">
              <a:buNone/>
            </a:pPr>
            <a:r>
              <a:rPr lang="en-US" sz="1300" dirty="0">
                <a:solidFill>
                  <a:srgbClr val="059669"/>
                </a:solidFill>
                <a:latin typeface="+mj-lt"/>
                <a:ea typeface="Calibri" pitchFamily="34" charset="-122"/>
                <a:cs typeface="Calibri" pitchFamily="34" charset="-120"/>
              </a:rPr>
              <a:t>Skeleton Recall runs at slightly higher loss — expected from additional centerline penalty</a:t>
            </a:r>
            <a:endParaRPr lang="en-US" sz="1400" dirty="0">
              <a:latin typeface="+mj-lt"/>
            </a:endParaRPr>
          </a:p>
          <a:p>
            <a:pPr marL="0" indent="0">
              <a:buNone/>
            </a:pPr>
            <a:endParaRPr lang="en-US" sz="1400" dirty="0">
              <a:latin typeface="+mj-lt"/>
            </a:endParaRPr>
          </a:p>
          <a:p>
            <a:pPr marL="0" indent="0">
              <a:buNone/>
            </a:pPr>
            <a:r>
              <a:rPr lang="en-US" sz="1300" dirty="0">
                <a:solidFill>
                  <a:srgbClr val="64748B"/>
                </a:solidFill>
                <a:latin typeface="+mj-lt"/>
                <a:ea typeface="Calibri" pitchFamily="34" charset="-122"/>
                <a:cs typeface="Calibri" pitchFamily="34" charset="-120"/>
              </a:rPr>
              <a:t>Stable convergence across all configurations. No NaN batches.</a:t>
            </a:r>
            <a:endParaRPr lang="en-US" sz="14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BF0E155-AF49-CB9D-9BC9-785CCB75A0B3}"/>
              </a:ext>
            </a:extLst>
          </p:cNvPr>
          <p:cNvSpPr/>
          <p:nvPr/>
        </p:nvSpPr>
        <p:spPr>
          <a:xfrm>
            <a:off x="3048" y="0"/>
            <a:ext cx="12188952" cy="54864"/>
          </a:xfrm>
          <a:prstGeom prst="rect">
            <a:avLst/>
          </a:prstGeom>
          <a:solidFill>
            <a:srgbClr val="0077B6"/>
          </a:solidFill>
          <a:ln/>
        </p:spPr>
        <p:txBody>
          <a:bodyPr/>
          <a:lstStyle/>
          <a:p>
            <a:endParaRPr lang="en-US">
              <a:latin typeface="+mj-lt"/>
            </a:endParaRPr>
          </a:p>
        </p:txBody>
      </p:sp>
      <p:sp>
        <p:nvSpPr>
          <p:cNvPr id="4" name="Text 2">
            <a:extLst>
              <a:ext uri="{FF2B5EF4-FFF2-40B4-BE49-F238E27FC236}">
                <a16:creationId xmlns:a16="http://schemas.microsoft.com/office/drawing/2014/main" id="{A59EB73A-3C38-6E0D-0710-357D003856D2}"/>
              </a:ext>
            </a:extLst>
          </p:cNvPr>
          <p:cNvSpPr/>
          <p:nvPr/>
        </p:nvSpPr>
        <p:spPr>
          <a:xfrm>
            <a:off x="551688"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Global Results — From Scratch</a:t>
            </a:r>
            <a:endParaRPr lang="en-US" sz="3000" dirty="0">
              <a:latin typeface="+mj-lt"/>
            </a:endParaRPr>
          </a:p>
        </p:txBody>
      </p:sp>
      <p:pic>
        <p:nvPicPr>
          <p:cNvPr id="5" name="Image 0" descr="/sessions/sweet-quirky-clarke/mnt/CTA Seg V2/report/figures_v3/global_comparison.png">
            <a:extLst>
              <a:ext uri="{FF2B5EF4-FFF2-40B4-BE49-F238E27FC236}">
                <a16:creationId xmlns:a16="http://schemas.microsoft.com/office/drawing/2014/main" id="{A24E9D6F-143F-B9B0-3183-C86F02AC2FE4}"/>
              </a:ext>
            </a:extLst>
          </p:cNvPr>
          <p:cNvPicPr>
            <a:picLocks noChangeAspect="1"/>
          </p:cNvPicPr>
          <p:nvPr/>
        </p:nvPicPr>
        <p:blipFill>
          <a:blip r:embed="rId2"/>
          <a:stretch>
            <a:fillRect/>
          </a:stretch>
        </p:blipFill>
        <p:spPr>
          <a:xfrm>
            <a:off x="277368" y="1188720"/>
            <a:ext cx="11430000" cy="3840480"/>
          </a:xfrm>
          <a:prstGeom prst="rect">
            <a:avLst/>
          </a:prstGeom>
        </p:spPr>
      </p:pic>
      <p:sp>
        <p:nvSpPr>
          <p:cNvPr id="6" name="Shape 3">
            <a:extLst>
              <a:ext uri="{FF2B5EF4-FFF2-40B4-BE49-F238E27FC236}">
                <a16:creationId xmlns:a16="http://schemas.microsoft.com/office/drawing/2014/main" id="{29C4FC5C-3271-9199-2835-D11A28C69E7B}"/>
              </a:ext>
            </a:extLst>
          </p:cNvPr>
          <p:cNvSpPr/>
          <p:nvPr/>
        </p:nvSpPr>
        <p:spPr>
          <a:xfrm>
            <a:off x="551688" y="5212080"/>
            <a:ext cx="3474720" cy="13716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7" name="Text 4">
            <a:extLst>
              <a:ext uri="{FF2B5EF4-FFF2-40B4-BE49-F238E27FC236}">
                <a16:creationId xmlns:a16="http://schemas.microsoft.com/office/drawing/2014/main" id="{0294A772-3010-8F89-B512-EF4E55A66E24}"/>
              </a:ext>
            </a:extLst>
          </p:cNvPr>
          <p:cNvSpPr/>
          <p:nvPr/>
        </p:nvSpPr>
        <p:spPr>
          <a:xfrm>
            <a:off x="734568" y="5303520"/>
            <a:ext cx="3108960" cy="1188720"/>
          </a:xfrm>
          <a:prstGeom prst="rect">
            <a:avLst/>
          </a:prstGeom>
          <a:noFill/>
          <a:ln/>
        </p:spPr>
        <p:txBody>
          <a:bodyPr wrap="square" rtlCol="0" anchor="ctr"/>
          <a:lstStyle/>
          <a:p>
            <a:pPr marL="0" indent="0">
              <a:buNone/>
            </a:pPr>
            <a:r>
              <a:rPr lang="en-US" sz="1500" b="1" dirty="0">
                <a:solidFill>
                  <a:srgbClr val="D97706"/>
                </a:solidFill>
                <a:latin typeface="+mj-lt"/>
                <a:ea typeface="Calibri" pitchFamily="34" charset="-122"/>
                <a:cs typeface="Calibri" pitchFamily="34" charset="-120"/>
              </a:rPr>
              <a:t>clDice wins aggregate</a:t>
            </a:r>
            <a:endParaRPr lang="en-US" sz="1500" dirty="0">
              <a:latin typeface="+mj-lt"/>
            </a:endParaRPr>
          </a:p>
          <a:p>
            <a:pPr marL="0" indent="0">
              <a:buNone/>
            </a:pPr>
            <a:r>
              <a:rPr lang="en-US" sz="1300" dirty="0">
                <a:solidFill>
                  <a:srgbClr val="1E293B"/>
                </a:solidFill>
                <a:latin typeface="+mj-lt"/>
                <a:ea typeface="Calibri" pitchFamily="34" charset="-122"/>
                <a:cs typeface="Calibri" pitchFamily="34" charset="-120"/>
              </a:rPr>
              <a:t>DSC 0.864 | clDice 0.916</a:t>
            </a:r>
            <a:endParaRPr lang="en-US" sz="1500" dirty="0">
              <a:latin typeface="+mj-lt"/>
            </a:endParaRPr>
          </a:p>
          <a:p>
            <a:pPr marL="0" indent="0">
              <a:buNone/>
            </a:pPr>
            <a:r>
              <a:rPr lang="en-US" sz="1300" dirty="0">
                <a:solidFill>
                  <a:srgbClr val="64748B"/>
                </a:solidFill>
                <a:latin typeface="+mj-lt"/>
                <a:ea typeface="Calibri" pitchFamily="34" charset="-122"/>
                <a:cs typeface="Calibri" pitchFamily="34" charset="-120"/>
              </a:rPr>
              <a:t>Lowest Betti-0 error: 3.72</a:t>
            </a:r>
            <a:endParaRPr lang="en-US" sz="1500" dirty="0">
              <a:latin typeface="+mj-lt"/>
            </a:endParaRPr>
          </a:p>
        </p:txBody>
      </p:sp>
      <p:sp>
        <p:nvSpPr>
          <p:cNvPr id="8" name="Shape 5">
            <a:extLst>
              <a:ext uri="{FF2B5EF4-FFF2-40B4-BE49-F238E27FC236}">
                <a16:creationId xmlns:a16="http://schemas.microsoft.com/office/drawing/2014/main" id="{F116F411-EA2F-5358-E9CC-27F01CDB68FC}"/>
              </a:ext>
            </a:extLst>
          </p:cNvPr>
          <p:cNvSpPr/>
          <p:nvPr/>
        </p:nvSpPr>
        <p:spPr>
          <a:xfrm>
            <a:off x="4300728" y="5212080"/>
            <a:ext cx="3474720" cy="13716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9" name="Text 6">
            <a:extLst>
              <a:ext uri="{FF2B5EF4-FFF2-40B4-BE49-F238E27FC236}">
                <a16:creationId xmlns:a16="http://schemas.microsoft.com/office/drawing/2014/main" id="{511F59BB-1638-8452-B2E5-91CD9BE60B1D}"/>
              </a:ext>
            </a:extLst>
          </p:cNvPr>
          <p:cNvSpPr/>
          <p:nvPr/>
        </p:nvSpPr>
        <p:spPr>
          <a:xfrm>
            <a:off x="4483608" y="5303520"/>
            <a:ext cx="3108960" cy="1188720"/>
          </a:xfrm>
          <a:prstGeom prst="rect">
            <a:avLst/>
          </a:prstGeom>
          <a:noFill/>
          <a:ln/>
        </p:spPr>
        <p:txBody>
          <a:bodyPr wrap="square" rtlCol="0" anchor="ctr"/>
          <a:lstStyle/>
          <a:p>
            <a:pPr marL="0" indent="0">
              <a:buNone/>
            </a:pPr>
            <a:r>
              <a:rPr lang="en-US" sz="1500" b="1" dirty="0">
                <a:solidFill>
                  <a:srgbClr val="0077B6"/>
                </a:solidFill>
                <a:latin typeface="+mj-lt"/>
                <a:ea typeface="Calibri" pitchFamily="34" charset="-122"/>
                <a:cs typeface="Calibri" pitchFamily="34" charset="-120"/>
              </a:rPr>
              <a:t>Baseline close behind</a:t>
            </a:r>
            <a:endParaRPr lang="en-US" sz="1500" dirty="0">
              <a:latin typeface="+mj-lt"/>
            </a:endParaRPr>
          </a:p>
          <a:p>
            <a:pPr marL="0" indent="0">
              <a:buNone/>
            </a:pPr>
            <a:r>
              <a:rPr lang="en-US" sz="1300" dirty="0">
                <a:solidFill>
                  <a:srgbClr val="1E293B"/>
                </a:solidFill>
                <a:latin typeface="+mj-lt"/>
                <a:ea typeface="Calibri" pitchFamily="34" charset="-122"/>
                <a:cs typeface="Calibri" pitchFamily="34" charset="-120"/>
              </a:rPr>
              <a:t>DSC 0.858 | clDice 0.907</a:t>
            </a:r>
            <a:endParaRPr lang="en-US" sz="1500" dirty="0">
              <a:latin typeface="+mj-lt"/>
            </a:endParaRPr>
          </a:p>
          <a:p>
            <a:pPr marL="0" indent="0">
              <a:buNone/>
            </a:pPr>
            <a:r>
              <a:rPr lang="en-US" sz="1300" dirty="0">
                <a:solidFill>
                  <a:srgbClr val="64748B"/>
                </a:solidFill>
                <a:latin typeface="+mj-lt"/>
                <a:ea typeface="Calibri" pitchFamily="34" charset="-122"/>
                <a:cs typeface="Calibri" pitchFamily="34" charset="-120"/>
              </a:rPr>
              <a:t>Betti-0 error: 5.76</a:t>
            </a:r>
            <a:endParaRPr lang="en-US" sz="1500" dirty="0">
              <a:latin typeface="+mj-lt"/>
            </a:endParaRPr>
          </a:p>
        </p:txBody>
      </p:sp>
      <p:sp>
        <p:nvSpPr>
          <p:cNvPr id="10" name="Shape 7">
            <a:extLst>
              <a:ext uri="{FF2B5EF4-FFF2-40B4-BE49-F238E27FC236}">
                <a16:creationId xmlns:a16="http://schemas.microsoft.com/office/drawing/2014/main" id="{F3741854-97CE-09D1-977B-6774969D6A24}"/>
              </a:ext>
            </a:extLst>
          </p:cNvPr>
          <p:cNvSpPr/>
          <p:nvPr/>
        </p:nvSpPr>
        <p:spPr>
          <a:xfrm>
            <a:off x="8049768" y="5212080"/>
            <a:ext cx="3474720" cy="13716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1" name="Text 8">
            <a:extLst>
              <a:ext uri="{FF2B5EF4-FFF2-40B4-BE49-F238E27FC236}">
                <a16:creationId xmlns:a16="http://schemas.microsoft.com/office/drawing/2014/main" id="{7586F522-29F4-5876-7A12-442155B6991B}"/>
              </a:ext>
            </a:extLst>
          </p:cNvPr>
          <p:cNvSpPr/>
          <p:nvPr/>
        </p:nvSpPr>
        <p:spPr>
          <a:xfrm>
            <a:off x="8232648" y="5303520"/>
            <a:ext cx="3108960" cy="1188720"/>
          </a:xfrm>
          <a:prstGeom prst="rect">
            <a:avLst/>
          </a:prstGeom>
          <a:noFill/>
          <a:ln/>
        </p:spPr>
        <p:txBody>
          <a:bodyPr wrap="square" rtlCol="0" anchor="ctr"/>
          <a:lstStyle/>
          <a:p>
            <a:pPr marL="0" indent="0">
              <a:buNone/>
            </a:pPr>
            <a:r>
              <a:rPr lang="en-US" sz="1500" b="1" dirty="0">
                <a:solidFill>
                  <a:srgbClr val="059669"/>
                </a:solidFill>
                <a:latin typeface="+mj-lt"/>
                <a:ea typeface="Calibri" pitchFamily="34" charset="-122"/>
                <a:cs typeface="Calibri" pitchFamily="34" charset="-120"/>
              </a:rPr>
              <a:t>Skeleton Recall</a:t>
            </a:r>
            <a:endParaRPr lang="en-US" sz="1500" dirty="0">
              <a:latin typeface="+mj-lt"/>
            </a:endParaRPr>
          </a:p>
          <a:p>
            <a:pPr marL="0" indent="0">
              <a:buNone/>
            </a:pPr>
            <a:r>
              <a:rPr lang="en-US" sz="1300" dirty="0">
                <a:solidFill>
                  <a:srgbClr val="1E293B"/>
                </a:solidFill>
                <a:latin typeface="+mj-lt"/>
                <a:ea typeface="Calibri" pitchFamily="34" charset="-122"/>
                <a:cs typeface="Calibri" pitchFamily="34" charset="-120"/>
              </a:rPr>
              <a:t>Lower aggregate (DSC 0.845)</a:t>
            </a:r>
            <a:endParaRPr lang="en-US" sz="1500" dirty="0">
              <a:latin typeface="+mj-lt"/>
            </a:endParaRPr>
          </a:p>
          <a:p>
            <a:pPr marL="0" indent="0">
              <a:buNone/>
            </a:pPr>
            <a:r>
              <a:rPr lang="en-US" sz="1300" dirty="0">
                <a:solidFill>
                  <a:srgbClr val="DC2626"/>
                </a:solidFill>
                <a:latin typeface="+mj-lt"/>
                <a:ea typeface="Calibri" pitchFamily="34" charset="-122"/>
                <a:cs typeface="Calibri" pitchFamily="34" charset="-120"/>
              </a:rPr>
              <a:t>High B0 error: 26.84 (over-segments)</a:t>
            </a:r>
            <a:endParaRPr lang="en-US" sz="1500" dirty="0">
              <a:latin typeface="+mj-lt"/>
            </a:endParaRPr>
          </a:p>
        </p:txBody>
      </p:sp>
    </p:spTree>
    <p:extLst>
      <p:ext uri="{BB962C8B-B14F-4D97-AF65-F5344CB8AC3E}">
        <p14:creationId xmlns:p14="http://schemas.microsoft.com/office/powerpoint/2010/main" val="2718467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99B22AD-CB46-0DB0-708E-062F0BAEEB26}"/>
              </a:ext>
            </a:extLst>
          </p:cNvPr>
          <p:cNvSpPr/>
          <p:nvPr/>
        </p:nvSpPr>
        <p:spPr>
          <a:xfrm>
            <a:off x="0" y="0"/>
            <a:ext cx="12188952" cy="54864"/>
          </a:xfrm>
          <a:prstGeom prst="rect">
            <a:avLst/>
          </a:prstGeom>
          <a:solidFill>
            <a:srgbClr val="0077B6"/>
          </a:solidFill>
          <a:ln/>
        </p:spPr>
        <p:txBody>
          <a:bodyPr/>
          <a:lstStyle/>
          <a:p>
            <a:endParaRPr lang="en-US">
              <a:latin typeface="+mj-lt"/>
            </a:endParaRPr>
          </a:p>
        </p:txBody>
      </p:sp>
      <p:sp>
        <p:nvSpPr>
          <p:cNvPr id="4" name="Text 2">
            <a:extLst>
              <a:ext uri="{FF2B5EF4-FFF2-40B4-BE49-F238E27FC236}">
                <a16:creationId xmlns:a16="http://schemas.microsoft.com/office/drawing/2014/main" id="{4603A096-F5F0-FC72-E851-1A5E2DAEC23E}"/>
              </a:ext>
            </a:extLst>
          </p:cNvPr>
          <p:cNvSpPr/>
          <p:nvPr/>
        </p:nvSpPr>
        <p:spPr>
          <a:xfrm>
            <a:off x="548640"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Stratified Results — The Vessel Gap</a:t>
            </a:r>
            <a:endParaRPr lang="en-US" sz="3000" dirty="0">
              <a:latin typeface="+mj-lt"/>
            </a:endParaRPr>
          </a:p>
        </p:txBody>
      </p:sp>
      <p:pic>
        <p:nvPicPr>
          <p:cNvPr id="5" name="Image 0" descr="/sessions/sweet-quirky-clarke/mnt/CTA Seg V2/report/figures_v3/vessel_gap.png">
            <a:extLst>
              <a:ext uri="{FF2B5EF4-FFF2-40B4-BE49-F238E27FC236}">
                <a16:creationId xmlns:a16="http://schemas.microsoft.com/office/drawing/2014/main" id="{41A95A69-1D02-1003-8035-C9B2F376B2A8}"/>
              </a:ext>
            </a:extLst>
          </p:cNvPr>
          <p:cNvPicPr>
            <a:picLocks noChangeAspect="1"/>
          </p:cNvPicPr>
          <p:nvPr/>
        </p:nvPicPr>
        <p:blipFill>
          <a:blip r:embed="rId2"/>
          <a:stretch>
            <a:fillRect/>
          </a:stretch>
        </p:blipFill>
        <p:spPr>
          <a:xfrm>
            <a:off x="106459" y="1546528"/>
            <a:ext cx="6477221" cy="4313583"/>
          </a:xfrm>
          <a:prstGeom prst="rect">
            <a:avLst/>
          </a:prstGeom>
        </p:spPr>
      </p:pic>
      <p:sp>
        <p:nvSpPr>
          <p:cNvPr id="6" name="Shape 3">
            <a:extLst>
              <a:ext uri="{FF2B5EF4-FFF2-40B4-BE49-F238E27FC236}">
                <a16:creationId xmlns:a16="http://schemas.microsoft.com/office/drawing/2014/main" id="{B63B7D03-1C71-4FF5-14A9-5B380C2B4FAE}"/>
              </a:ext>
            </a:extLst>
          </p:cNvPr>
          <p:cNvSpPr/>
          <p:nvPr/>
        </p:nvSpPr>
        <p:spPr>
          <a:xfrm>
            <a:off x="6583680" y="1188720"/>
            <a:ext cx="5029200" cy="50292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7" name="Text 4">
            <a:extLst>
              <a:ext uri="{FF2B5EF4-FFF2-40B4-BE49-F238E27FC236}">
                <a16:creationId xmlns:a16="http://schemas.microsoft.com/office/drawing/2014/main" id="{0A6B853D-E647-3557-1889-BD4B02C22188}"/>
              </a:ext>
            </a:extLst>
          </p:cNvPr>
          <p:cNvSpPr/>
          <p:nvPr/>
        </p:nvSpPr>
        <p:spPr>
          <a:xfrm>
            <a:off x="6858000" y="1280160"/>
            <a:ext cx="4572000" cy="365760"/>
          </a:xfrm>
          <a:prstGeom prst="rect">
            <a:avLst/>
          </a:prstGeom>
          <a:noFill/>
          <a:ln/>
        </p:spPr>
        <p:txBody>
          <a:bodyPr wrap="square" lIns="0" tIns="0" rIns="0" bIns="0" rtlCol="0" anchor="ctr"/>
          <a:lstStyle/>
          <a:p>
            <a:pPr marL="0" indent="0">
              <a:buNone/>
            </a:pPr>
            <a:r>
              <a:rPr lang="en-US" sz="1500" b="1" dirty="0">
                <a:solidFill>
                  <a:srgbClr val="059669"/>
                </a:solidFill>
                <a:latin typeface="+mj-lt"/>
                <a:ea typeface="Calibri" pitchFamily="34" charset="-122"/>
                <a:cs typeface="Calibri" pitchFamily="34" charset="-120"/>
              </a:rPr>
              <a:t>Skeleton Recall → Pcom Improvement</a:t>
            </a:r>
            <a:endParaRPr lang="en-US" sz="1500" dirty="0">
              <a:latin typeface="+mj-lt"/>
            </a:endParaRPr>
          </a:p>
        </p:txBody>
      </p:sp>
      <p:sp>
        <p:nvSpPr>
          <p:cNvPr id="8" name="Text 5">
            <a:extLst>
              <a:ext uri="{FF2B5EF4-FFF2-40B4-BE49-F238E27FC236}">
                <a16:creationId xmlns:a16="http://schemas.microsoft.com/office/drawing/2014/main" id="{4C19FD51-94CA-A24C-5031-3C4153704549}"/>
              </a:ext>
            </a:extLst>
          </p:cNvPr>
          <p:cNvSpPr/>
          <p:nvPr/>
        </p:nvSpPr>
        <p:spPr>
          <a:xfrm>
            <a:off x="6858000" y="1828800"/>
            <a:ext cx="4572000" cy="914400"/>
          </a:xfrm>
          <a:prstGeom prst="rect">
            <a:avLst/>
          </a:prstGeom>
          <a:noFill/>
          <a:ln/>
        </p:spPr>
        <p:txBody>
          <a:bodyPr wrap="square" rtlCol="0" anchor="ctr"/>
          <a:lstStyle/>
          <a:p>
            <a:pPr marL="0" indent="0">
              <a:buNone/>
            </a:pPr>
            <a:r>
              <a:rPr lang="en-US" sz="1400" b="1" dirty="0">
                <a:solidFill>
                  <a:srgbClr val="1E293B"/>
                </a:solidFill>
                <a:latin typeface="+mj-lt"/>
                <a:ea typeface="Calibri" pitchFamily="34" charset="-122"/>
                <a:cs typeface="Calibri" pitchFamily="34" charset="-120"/>
              </a:rPr>
              <a:t>R-Pcom: </a:t>
            </a:r>
            <a:r>
              <a:rPr lang="en-US" sz="1400" b="1" dirty="0">
                <a:solidFill>
                  <a:srgbClr val="059669"/>
                </a:solidFill>
                <a:latin typeface="+mj-lt"/>
                <a:ea typeface="Calibri" pitchFamily="34" charset="-122"/>
                <a:cs typeface="Calibri" pitchFamily="34" charset="-120"/>
              </a:rPr>
              <a:t>0.511</a:t>
            </a:r>
            <a:r>
              <a:rPr lang="en-US" sz="1300" dirty="0">
                <a:solidFill>
                  <a:srgbClr val="64748B"/>
                </a:solidFill>
                <a:latin typeface="+mj-lt"/>
                <a:ea typeface="Calibri" pitchFamily="34" charset="-122"/>
                <a:cs typeface="Calibri" pitchFamily="34" charset="-120"/>
              </a:rPr>
              <a:t> vs 0.459 baseline  (+5 pts)</a:t>
            </a:r>
            <a:endParaRPr lang="en-US" sz="1400" dirty="0">
              <a:latin typeface="+mj-lt"/>
            </a:endParaRPr>
          </a:p>
          <a:p>
            <a:pPr marL="0" indent="0">
              <a:buNone/>
            </a:pPr>
            <a:r>
              <a:rPr lang="en-US" sz="1400" b="1" dirty="0">
                <a:solidFill>
                  <a:srgbClr val="1E293B"/>
                </a:solidFill>
                <a:latin typeface="+mj-lt"/>
                <a:ea typeface="Calibri" pitchFamily="34" charset="-122"/>
                <a:cs typeface="Calibri" pitchFamily="34" charset="-120"/>
              </a:rPr>
              <a:t>L-Pcom: </a:t>
            </a:r>
            <a:r>
              <a:rPr lang="en-US" sz="1400" b="1" dirty="0">
                <a:solidFill>
                  <a:srgbClr val="059669"/>
                </a:solidFill>
                <a:latin typeface="+mj-lt"/>
                <a:ea typeface="Calibri" pitchFamily="34" charset="-122"/>
                <a:cs typeface="Calibri" pitchFamily="34" charset="-120"/>
              </a:rPr>
              <a:t>0.479</a:t>
            </a:r>
            <a:r>
              <a:rPr lang="en-US" sz="1300" dirty="0">
                <a:solidFill>
                  <a:srgbClr val="64748B"/>
                </a:solidFill>
                <a:latin typeface="+mj-lt"/>
                <a:ea typeface="Calibri" pitchFamily="34" charset="-122"/>
                <a:cs typeface="Calibri" pitchFamily="34" charset="-120"/>
              </a:rPr>
              <a:t> vs 0.410 baseline  (+7 pts)</a:t>
            </a:r>
            <a:endParaRPr lang="en-US" sz="1400" dirty="0">
              <a:latin typeface="+mj-lt"/>
            </a:endParaRPr>
          </a:p>
        </p:txBody>
      </p:sp>
      <p:sp>
        <p:nvSpPr>
          <p:cNvPr id="9" name="Text 6">
            <a:extLst>
              <a:ext uri="{FF2B5EF4-FFF2-40B4-BE49-F238E27FC236}">
                <a16:creationId xmlns:a16="http://schemas.microsoft.com/office/drawing/2014/main" id="{74C2CB65-01CF-1ABE-FC53-9638A27B3028}"/>
              </a:ext>
            </a:extLst>
          </p:cNvPr>
          <p:cNvSpPr/>
          <p:nvPr/>
        </p:nvSpPr>
        <p:spPr>
          <a:xfrm>
            <a:off x="6858000" y="2926080"/>
            <a:ext cx="4572000" cy="365760"/>
          </a:xfrm>
          <a:prstGeom prst="rect">
            <a:avLst/>
          </a:prstGeom>
          <a:noFill/>
          <a:ln/>
        </p:spPr>
        <p:txBody>
          <a:bodyPr wrap="square" lIns="0" tIns="0" rIns="0" bIns="0" rtlCol="0" anchor="ctr"/>
          <a:lstStyle/>
          <a:p>
            <a:pPr marL="0" indent="0">
              <a:buNone/>
            </a:pPr>
            <a:r>
              <a:rPr lang="en-US" sz="1500" b="1" dirty="0">
                <a:solidFill>
                  <a:srgbClr val="0077B6"/>
                </a:solidFill>
                <a:latin typeface="+mj-lt"/>
                <a:ea typeface="Calibri" pitchFamily="34" charset="-122"/>
                <a:cs typeface="Calibri" pitchFamily="34" charset="-120"/>
              </a:rPr>
              <a:t>Vessel Gap Analysis</a:t>
            </a:r>
            <a:endParaRPr lang="en-US" sz="1500" dirty="0">
              <a:latin typeface="+mj-lt"/>
            </a:endParaRPr>
          </a:p>
        </p:txBody>
      </p:sp>
      <p:graphicFrame>
        <p:nvGraphicFramePr>
          <p:cNvPr id="10" name="Table 0">
            <a:extLst>
              <a:ext uri="{FF2B5EF4-FFF2-40B4-BE49-F238E27FC236}">
                <a16:creationId xmlns:a16="http://schemas.microsoft.com/office/drawing/2014/main" id="{3220E64A-B1A0-7FA3-2F6C-5BD7E05C4F87}"/>
              </a:ext>
            </a:extLst>
          </p:cNvPr>
          <p:cNvGraphicFramePr>
            <a:graphicFrameLocks noGrp="1"/>
          </p:cNvGraphicFramePr>
          <p:nvPr>
            <p:extLst>
              <p:ext uri="{D42A27DB-BD31-4B8C-83A1-F6EECF244321}">
                <p14:modId xmlns:p14="http://schemas.microsoft.com/office/powerpoint/2010/main" val="656435215"/>
              </p:ext>
            </p:extLst>
          </p:nvPr>
        </p:nvGraphicFramePr>
        <p:xfrm>
          <a:off x="6858000" y="3383280"/>
          <a:ext cx="41148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42900">
                <a:tc>
                  <a:txBody>
                    <a:bodyPr/>
                    <a:lstStyle/>
                    <a:p>
                      <a:pPr marL="0" indent="0">
                        <a:buNone/>
                      </a:pPr>
                      <a:r>
                        <a:rPr lang="en-US" sz="1200" b="1" dirty="0">
                          <a:solidFill>
                            <a:srgbClr val="FFFFFF"/>
                          </a:solidFill>
                        </a:rPr>
                        <a:t>Model</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rPr>
                        <a:t>Large</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rPr>
                        <a:t>Comm.</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rPr>
                        <a:t>Δ</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42900">
                <a:tc>
                  <a:txBody>
                    <a:bodyPr/>
                    <a:lstStyle/>
                    <a:p>
                      <a:pPr marL="0" indent="0">
                        <a:buNone/>
                      </a:pPr>
                      <a:r>
                        <a:rPr lang="en-US" sz="1200" dirty="0">
                          <a:solidFill>
                            <a:srgbClr val="0077B6"/>
                          </a:solidFill>
                        </a:rPr>
                        <a:t>Dice+CE</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1E293B"/>
                          </a:solidFill>
                        </a:rPr>
                        <a:t>0.795</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1E293B"/>
                          </a:solidFill>
                        </a:rPr>
                        <a:t>0.433</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64748B"/>
                          </a:solidFill>
                        </a:rPr>
                        <a:t>0.363</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342900">
                <a:tc>
                  <a:txBody>
                    <a:bodyPr/>
                    <a:lstStyle/>
                    <a:p>
                      <a:pPr marL="0" indent="0">
                        <a:buNone/>
                      </a:pPr>
                      <a:r>
                        <a:rPr lang="en-US" sz="1200" dirty="0">
                          <a:solidFill>
                            <a:srgbClr val="D97706"/>
                          </a:solidFill>
                        </a:rPr>
                        <a:t>+ clDice</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1E293B"/>
                          </a:solidFill>
                        </a:rPr>
                        <a:t>0.797</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1E293B"/>
                          </a:solidFill>
                        </a:rPr>
                        <a:t>0.435</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64748B"/>
                          </a:solidFill>
                        </a:rPr>
                        <a:t>0.363</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42900">
                <a:tc>
                  <a:txBody>
                    <a:bodyPr/>
                    <a:lstStyle/>
                    <a:p>
                      <a:pPr marL="0" indent="0">
                        <a:buNone/>
                      </a:pPr>
                      <a:r>
                        <a:rPr lang="en-US" sz="1200" dirty="0">
                          <a:solidFill>
                            <a:srgbClr val="059669"/>
                          </a:solidFill>
                        </a:rPr>
                        <a:t>+ Skeleton</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dirty="0">
                          <a:solidFill>
                            <a:srgbClr val="1E293B"/>
                          </a:solidFill>
                        </a:rPr>
                        <a:t>0.798</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b="1" dirty="0">
                          <a:solidFill>
                            <a:srgbClr val="059669"/>
                          </a:solidFill>
                        </a:rPr>
                        <a:t>0.466</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tc>
                  <a:txBody>
                    <a:bodyPr/>
                    <a:lstStyle/>
                    <a:p>
                      <a:pPr marL="0" indent="0">
                        <a:buNone/>
                      </a:pPr>
                      <a:r>
                        <a:rPr lang="en-US" sz="1200" b="1" dirty="0">
                          <a:solidFill>
                            <a:srgbClr val="059669"/>
                          </a:solidFill>
                        </a:rPr>
                        <a:t>0.332</a:t>
                      </a: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bl>
          </a:graphicData>
        </a:graphic>
      </p:graphicFrame>
      <p:sp>
        <p:nvSpPr>
          <p:cNvPr id="11" name="Text 7">
            <a:extLst>
              <a:ext uri="{FF2B5EF4-FFF2-40B4-BE49-F238E27FC236}">
                <a16:creationId xmlns:a16="http://schemas.microsoft.com/office/drawing/2014/main" id="{4C5B4F5D-8723-B179-FDA8-801FE1896FC0}"/>
              </a:ext>
            </a:extLst>
          </p:cNvPr>
          <p:cNvSpPr/>
          <p:nvPr/>
        </p:nvSpPr>
        <p:spPr>
          <a:xfrm>
            <a:off x="6858000" y="5029200"/>
            <a:ext cx="4572000" cy="731520"/>
          </a:xfrm>
          <a:prstGeom prst="rect">
            <a:avLst/>
          </a:prstGeom>
          <a:noFill/>
          <a:ln/>
        </p:spPr>
        <p:txBody>
          <a:bodyPr wrap="square" lIns="0" tIns="0" rIns="0" bIns="0" rtlCol="0" anchor="ctr"/>
          <a:lstStyle/>
          <a:p>
            <a:pPr marL="0" indent="0">
              <a:buNone/>
            </a:pPr>
            <a:r>
              <a:rPr lang="en-US" sz="1300" i="1" dirty="0">
                <a:solidFill>
                  <a:srgbClr val="D97706"/>
                </a:solidFill>
                <a:latin typeface="+mj-lt"/>
                <a:ea typeface="Calibri" pitchFamily="34" charset="-122"/>
                <a:cs typeface="Calibri" pitchFamily="34" charset="-120"/>
              </a:rPr>
              <a:t>Hypothesis partially supported: modest but targeted improvement on communicating arteries</a:t>
            </a:r>
            <a:endParaRPr lang="en-US" sz="1300" dirty="0">
              <a:latin typeface="+mj-lt"/>
            </a:endParaRPr>
          </a:p>
        </p:txBody>
      </p:sp>
    </p:spTree>
    <p:extLst>
      <p:ext uri="{BB962C8B-B14F-4D97-AF65-F5344CB8AC3E}">
        <p14:creationId xmlns:p14="http://schemas.microsoft.com/office/powerpoint/2010/main" val="243495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3ADE0FB-1EF8-81C2-FED9-C8B4E7581FCB}"/>
              </a:ext>
            </a:extLst>
          </p:cNvPr>
          <p:cNvSpPr/>
          <p:nvPr/>
        </p:nvSpPr>
        <p:spPr>
          <a:xfrm>
            <a:off x="0" y="0"/>
            <a:ext cx="12188952" cy="54864"/>
          </a:xfrm>
          <a:prstGeom prst="rect">
            <a:avLst/>
          </a:prstGeom>
          <a:solidFill>
            <a:srgbClr val="059669"/>
          </a:solidFill>
          <a:ln/>
        </p:spPr>
        <p:txBody>
          <a:bodyPr/>
          <a:lstStyle/>
          <a:p>
            <a:endParaRPr lang="en-US">
              <a:latin typeface="+mj-lt"/>
            </a:endParaRPr>
          </a:p>
        </p:txBody>
      </p:sp>
      <p:sp>
        <p:nvSpPr>
          <p:cNvPr id="4" name="Text 2">
            <a:extLst>
              <a:ext uri="{FF2B5EF4-FFF2-40B4-BE49-F238E27FC236}">
                <a16:creationId xmlns:a16="http://schemas.microsoft.com/office/drawing/2014/main" id="{7C455750-38D5-9B5C-F9AE-6D52862BFFAC}"/>
              </a:ext>
            </a:extLst>
          </p:cNvPr>
          <p:cNvSpPr/>
          <p:nvPr/>
        </p:nvSpPr>
        <p:spPr>
          <a:xfrm>
            <a:off x="548640"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TopBrain Fine-Tuning — The Big Result</a:t>
            </a:r>
            <a:endParaRPr lang="en-US" sz="3000" dirty="0">
              <a:latin typeface="+mj-lt"/>
            </a:endParaRPr>
          </a:p>
        </p:txBody>
      </p:sp>
      <p:pic>
        <p:nvPicPr>
          <p:cNvPr id="5" name="Image 0" descr="/sessions/sweet-quirky-clarke/mnt/CTA Seg V2/report/figures_v3/topbrain_comparison.png">
            <a:extLst>
              <a:ext uri="{FF2B5EF4-FFF2-40B4-BE49-F238E27FC236}">
                <a16:creationId xmlns:a16="http://schemas.microsoft.com/office/drawing/2014/main" id="{D792C89E-82D3-B975-16C1-FA872ACB54E9}"/>
              </a:ext>
            </a:extLst>
          </p:cNvPr>
          <p:cNvPicPr>
            <a:picLocks noChangeAspect="1"/>
          </p:cNvPicPr>
          <p:nvPr/>
        </p:nvPicPr>
        <p:blipFill>
          <a:blip r:embed="rId2"/>
          <a:stretch>
            <a:fillRect/>
          </a:stretch>
        </p:blipFill>
        <p:spPr>
          <a:xfrm>
            <a:off x="182880" y="1097280"/>
            <a:ext cx="7772400" cy="4114800"/>
          </a:xfrm>
          <a:prstGeom prst="rect">
            <a:avLst/>
          </a:prstGeom>
        </p:spPr>
      </p:pic>
      <p:sp>
        <p:nvSpPr>
          <p:cNvPr id="6" name="Shape 3">
            <a:extLst>
              <a:ext uri="{FF2B5EF4-FFF2-40B4-BE49-F238E27FC236}">
                <a16:creationId xmlns:a16="http://schemas.microsoft.com/office/drawing/2014/main" id="{A06B7DD8-68D8-F657-1642-DCED3FDAB979}"/>
              </a:ext>
            </a:extLst>
          </p:cNvPr>
          <p:cNvSpPr/>
          <p:nvPr/>
        </p:nvSpPr>
        <p:spPr>
          <a:xfrm>
            <a:off x="8046720" y="1188720"/>
            <a:ext cx="3840480" cy="2286000"/>
          </a:xfrm>
          <a:prstGeom prst="rect">
            <a:avLst/>
          </a:prstGeom>
          <a:solidFill>
            <a:srgbClr val="FEF2F2"/>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7" name="Text 4">
            <a:extLst>
              <a:ext uri="{FF2B5EF4-FFF2-40B4-BE49-F238E27FC236}">
                <a16:creationId xmlns:a16="http://schemas.microsoft.com/office/drawing/2014/main" id="{0D675A91-B642-5EEB-F43B-148D7FB9EF04}"/>
              </a:ext>
            </a:extLst>
          </p:cNvPr>
          <p:cNvSpPr/>
          <p:nvPr/>
        </p:nvSpPr>
        <p:spPr>
          <a:xfrm>
            <a:off x="8229600" y="1234440"/>
            <a:ext cx="3474720" cy="320040"/>
          </a:xfrm>
          <a:prstGeom prst="rect">
            <a:avLst/>
          </a:prstGeom>
          <a:noFill/>
          <a:ln/>
        </p:spPr>
        <p:txBody>
          <a:bodyPr wrap="square" lIns="0" tIns="0" rIns="0" bIns="0" rtlCol="0" anchor="ctr"/>
          <a:lstStyle/>
          <a:p>
            <a:pPr marL="0" indent="0">
              <a:buNone/>
            </a:pPr>
            <a:r>
              <a:rPr lang="en-US" sz="1200" b="1" dirty="0">
                <a:solidFill>
                  <a:srgbClr val="DC2626"/>
                </a:solidFill>
                <a:latin typeface="+mj-lt"/>
                <a:ea typeface="Calibri" pitchFamily="34" charset="-122"/>
                <a:cs typeface="Calibri" pitchFamily="34" charset="-120"/>
              </a:rPr>
              <a:t>SMALL ARTERIES</a:t>
            </a:r>
            <a:endParaRPr lang="en-US" sz="1200" dirty="0">
              <a:latin typeface="+mj-lt"/>
            </a:endParaRPr>
          </a:p>
        </p:txBody>
      </p:sp>
      <p:sp>
        <p:nvSpPr>
          <p:cNvPr id="8" name="Text 5">
            <a:extLst>
              <a:ext uri="{FF2B5EF4-FFF2-40B4-BE49-F238E27FC236}">
                <a16:creationId xmlns:a16="http://schemas.microsoft.com/office/drawing/2014/main" id="{A81C6801-C257-BC3B-AF57-772D57102700}"/>
              </a:ext>
            </a:extLst>
          </p:cNvPr>
          <p:cNvSpPr/>
          <p:nvPr/>
        </p:nvSpPr>
        <p:spPr>
          <a:xfrm>
            <a:off x="8229600" y="1508760"/>
            <a:ext cx="3474720" cy="228600"/>
          </a:xfrm>
          <a:prstGeom prst="rect">
            <a:avLst/>
          </a:prstGeom>
          <a:noFill/>
          <a:ln/>
        </p:spPr>
        <p:txBody>
          <a:bodyPr wrap="square" lIns="0" tIns="0" rIns="0" bIns="0" rtlCol="0" anchor="ctr"/>
          <a:lstStyle/>
          <a:p>
            <a:pPr marL="0" indent="0">
              <a:buNone/>
            </a:pPr>
            <a:r>
              <a:rPr lang="en-US" sz="1000" dirty="0">
                <a:solidFill>
                  <a:srgbClr val="64748B"/>
                </a:solidFill>
                <a:latin typeface="+mj-lt"/>
                <a:ea typeface="Calibri" pitchFamily="34" charset="-122"/>
                <a:cs typeface="Calibri" pitchFamily="34" charset="-120"/>
              </a:rPr>
              <a:t>(Ophthalmic, Ant. Choroidal)</a:t>
            </a:r>
            <a:endParaRPr lang="en-US" sz="1000" dirty="0">
              <a:latin typeface="+mj-lt"/>
            </a:endParaRPr>
          </a:p>
        </p:txBody>
      </p:sp>
      <p:sp>
        <p:nvSpPr>
          <p:cNvPr id="9" name="Text 6">
            <a:extLst>
              <a:ext uri="{FF2B5EF4-FFF2-40B4-BE49-F238E27FC236}">
                <a16:creationId xmlns:a16="http://schemas.microsoft.com/office/drawing/2014/main" id="{3B24C7F4-3507-281F-0ED4-53F3AF808522}"/>
              </a:ext>
            </a:extLst>
          </p:cNvPr>
          <p:cNvSpPr/>
          <p:nvPr/>
        </p:nvSpPr>
        <p:spPr>
          <a:xfrm>
            <a:off x="8229600" y="1828800"/>
            <a:ext cx="3474720" cy="640080"/>
          </a:xfrm>
          <a:prstGeom prst="rect">
            <a:avLst/>
          </a:prstGeom>
          <a:noFill/>
          <a:ln/>
        </p:spPr>
        <p:txBody>
          <a:bodyPr wrap="square" lIns="0" tIns="0" rIns="0" bIns="0" rtlCol="0" anchor="ctr"/>
          <a:lstStyle/>
          <a:p>
            <a:pPr marL="0" indent="0">
              <a:buNone/>
            </a:pPr>
            <a:r>
              <a:rPr lang="en-US" sz="3600" b="1" dirty="0">
                <a:solidFill>
                  <a:srgbClr val="059669"/>
                </a:solidFill>
                <a:latin typeface="+mj-lt"/>
                <a:ea typeface="Calibri" pitchFamily="34" charset="-122"/>
                <a:cs typeface="Calibri" pitchFamily="34" charset="-120"/>
              </a:rPr>
              <a:t>0.589</a:t>
            </a:r>
            <a:endParaRPr lang="en-US" sz="3600" dirty="0">
              <a:latin typeface="+mj-lt"/>
            </a:endParaRPr>
          </a:p>
        </p:txBody>
      </p:sp>
      <p:sp>
        <p:nvSpPr>
          <p:cNvPr id="10" name="Text 7">
            <a:extLst>
              <a:ext uri="{FF2B5EF4-FFF2-40B4-BE49-F238E27FC236}">
                <a16:creationId xmlns:a16="http://schemas.microsoft.com/office/drawing/2014/main" id="{B18CD2C3-0834-B207-549C-2912174BE174}"/>
              </a:ext>
            </a:extLst>
          </p:cNvPr>
          <p:cNvSpPr/>
          <p:nvPr/>
        </p:nvSpPr>
        <p:spPr>
          <a:xfrm>
            <a:off x="8229600" y="2423160"/>
            <a:ext cx="3474720" cy="274320"/>
          </a:xfrm>
          <a:prstGeom prst="rect">
            <a:avLst/>
          </a:prstGeom>
          <a:noFill/>
          <a:ln/>
        </p:spPr>
        <p:txBody>
          <a:bodyPr wrap="square" lIns="0" tIns="0" rIns="0" bIns="0" rtlCol="0" anchor="ctr"/>
          <a:lstStyle/>
          <a:p>
            <a:pPr marL="0" indent="0">
              <a:buNone/>
            </a:pPr>
            <a:r>
              <a:rPr lang="en-US" sz="1200" dirty="0">
                <a:solidFill>
                  <a:srgbClr val="059669"/>
                </a:solidFill>
                <a:latin typeface="+mj-lt"/>
                <a:ea typeface="Calibri" pitchFamily="34" charset="-122"/>
                <a:cs typeface="Calibri" pitchFamily="34" charset="-120"/>
              </a:rPr>
              <a:t>Skeleton Recall</a:t>
            </a:r>
            <a:endParaRPr lang="en-US" sz="1200" dirty="0">
              <a:latin typeface="+mj-lt"/>
            </a:endParaRPr>
          </a:p>
        </p:txBody>
      </p:sp>
      <p:sp>
        <p:nvSpPr>
          <p:cNvPr id="11" name="Text 8">
            <a:extLst>
              <a:ext uri="{FF2B5EF4-FFF2-40B4-BE49-F238E27FC236}">
                <a16:creationId xmlns:a16="http://schemas.microsoft.com/office/drawing/2014/main" id="{39FDBB27-D27A-4A52-DB13-75B46C833ABC}"/>
              </a:ext>
            </a:extLst>
          </p:cNvPr>
          <p:cNvSpPr/>
          <p:nvPr/>
        </p:nvSpPr>
        <p:spPr>
          <a:xfrm>
            <a:off x="8229600" y="2743200"/>
            <a:ext cx="3474720" cy="548640"/>
          </a:xfrm>
          <a:prstGeom prst="rect">
            <a:avLst/>
          </a:prstGeom>
          <a:noFill/>
          <a:ln/>
        </p:spPr>
        <p:txBody>
          <a:bodyPr wrap="square" rtlCol="0" anchor="ctr"/>
          <a:lstStyle/>
          <a:p>
            <a:pPr marL="0" indent="0">
              <a:buNone/>
            </a:pPr>
            <a:r>
              <a:rPr lang="en-US" sz="1400" b="1" dirty="0">
                <a:solidFill>
                  <a:srgbClr val="DC2626"/>
                </a:solidFill>
                <a:latin typeface="+mj-lt"/>
                <a:ea typeface="Calibri" pitchFamily="34" charset="-122"/>
                <a:cs typeface="Calibri" pitchFamily="34" charset="-120"/>
              </a:rPr>
              <a:t>0.000  Dice+CE</a:t>
            </a:r>
            <a:endParaRPr lang="en-US" sz="1400" dirty="0">
              <a:latin typeface="+mj-lt"/>
            </a:endParaRPr>
          </a:p>
          <a:p>
            <a:pPr marL="0" indent="0">
              <a:buNone/>
            </a:pPr>
            <a:r>
              <a:rPr lang="en-US" sz="1400" b="1" dirty="0">
                <a:solidFill>
                  <a:srgbClr val="DC2626"/>
                </a:solidFill>
                <a:latin typeface="+mj-lt"/>
                <a:ea typeface="Calibri" pitchFamily="34" charset="-122"/>
                <a:cs typeface="Calibri" pitchFamily="34" charset="-120"/>
              </a:rPr>
              <a:t>0.000  clDice</a:t>
            </a:r>
            <a:endParaRPr lang="en-US" sz="1400" dirty="0">
              <a:latin typeface="+mj-lt"/>
            </a:endParaRPr>
          </a:p>
        </p:txBody>
      </p:sp>
      <p:sp>
        <p:nvSpPr>
          <p:cNvPr id="12" name="Shape 9">
            <a:extLst>
              <a:ext uri="{FF2B5EF4-FFF2-40B4-BE49-F238E27FC236}">
                <a16:creationId xmlns:a16="http://schemas.microsoft.com/office/drawing/2014/main" id="{D7CBC313-62AA-90A0-CD43-E88848F29B0D}"/>
              </a:ext>
            </a:extLst>
          </p:cNvPr>
          <p:cNvSpPr/>
          <p:nvPr/>
        </p:nvSpPr>
        <p:spPr>
          <a:xfrm>
            <a:off x="8046720" y="3657600"/>
            <a:ext cx="3840480" cy="256032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3" name="Text 10">
            <a:extLst>
              <a:ext uri="{FF2B5EF4-FFF2-40B4-BE49-F238E27FC236}">
                <a16:creationId xmlns:a16="http://schemas.microsoft.com/office/drawing/2014/main" id="{3483045C-C336-03FA-AF84-093774C0EE93}"/>
              </a:ext>
            </a:extLst>
          </p:cNvPr>
          <p:cNvSpPr/>
          <p:nvPr/>
        </p:nvSpPr>
        <p:spPr>
          <a:xfrm>
            <a:off x="8229600" y="3749040"/>
            <a:ext cx="3474720" cy="2286000"/>
          </a:xfrm>
          <a:prstGeom prst="rect">
            <a:avLst/>
          </a:prstGeom>
          <a:noFill/>
          <a:ln/>
        </p:spPr>
        <p:txBody>
          <a:bodyPr wrap="square" rtlCol="0" anchor="ctr"/>
          <a:lstStyle/>
          <a:p>
            <a:pPr marL="0" indent="0">
              <a:buNone/>
            </a:pPr>
            <a:r>
              <a:rPr lang="en-US" sz="1300" b="1" dirty="0">
                <a:solidFill>
                  <a:srgbClr val="1E293B"/>
                </a:solidFill>
                <a:latin typeface="+mj-lt"/>
                <a:ea typeface="Calibri" pitchFamily="34" charset="-122"/>
                <a:cs typeface="Calibri" pitchFamily="34" charset="-120"/>
              </a:rPr>
              <a:t>Posterior fossa: </a:t>
            </a:r>
            <a:endParaRPr lang="en-US" sz="1300" dirty="0">
              <a:latin typeface="+mj-lt"/>
            </a:endParaRPr>
          </a:p>
          <a:p>
            <a:pPr marL="0" indent="0">
              <a:buNone/>
            </a:pPr>
            <a:r>
              <a:rPr lang="en-US" sz="1300" dirty="0">
                <a:solidFill>
                  <a:srgbClr val="059669"/>
                </a:solidFill>
                <a:latin typeface="+mj-lt"/>
                <a:ea typeface="Calibri" pitchFamily="34" charset="-122"/>
                <a:cs typeface="Calibri" pitchFamily="34" charset="-120"/>
              </a:rPr>
              <a:t>0.626 vs 0.565 (Dice+CE)</a:t>
            </a:r>
            <a:endParaRPr lang="en-US" sz="1300" dirty="0">
              <a:latin typeface="+mj-lt"/>
            </a:endParaRPr>
          </a:p>
          <a:p>
            <a:pPr marL="0" indent="0">
              <a:buNone/>
            </a:pPr>
            <a:endParaRPr lang="en-US" sz="1300" dirty="0">
              <a:latin typeface="+mj-lt"/>
            </a:endParaRPr>
          </a:p>
          <a:p>
            <a:pPr marL="0" indent="0">
              <a:buNone/>
            </a:pPr>
            <a:r>
              <a:rPr lang="en-US" sz="1300" b="1" dirty="0">
                <a:solidFill>
                  <a:srgbClr val="1E293B"/>
                </a:solidFill>
                <a:latin typeface="+mj-lt"/>
                <a:ea typeface="Calibri" pitchFamily="34" charset="-122"/>
                <a:cs typeface="Calibri" pitchFamily="34" charset="-120"/>
              </a:rPr>
              <a:t>Venous sinuses: </a:t>
            </a:r>
            <a:endParaRPr lang="en-US" sz="1300" dirty="0">
              <a:latin typeface="+mj-lt"/>
            </a:endParaRPr>
          </a:p>
          <a:p>
            <a:pPr marL="0" indent="0">
              <a:buNone/>
            </a:pPr>
            <a:r>
              <a:rPr lang="en-US" sz="1300" dirty="0">
                <a:solidFill>
                  <a:srgbClr val="059669"/>
                </a:solidFill>
                <a:latin typeface="+mj-lt"/>
                <a:ea typeface="Calibri" pitchFamily="34" charset="-122"/>
                <a:cs typeface="Calibri" pitchFamily="34" charset="-120"/>
              </a:rPr>
              <a:t>0.613 vs 0.416 (Dice+CE)</a:t>
            </a:r>
            <a:endParaRPr lang="en-US" sz="1300" dirty="0">
              <a:latin typeface="+mj-lt"/>
            </a:endParaRPr>
          </a:p>
          <a:p>
            <a:pPr marL="0" indent="0">
              <a:buNone/>
            </a:pPr>
            <a:endParaRPr lang="en-US" sz="1300" dirty="0">
              <a:latin typeface="+mj-lt"/>
            </a:endParaRPr>
          </a:p>
          <a:p>
            <a:pPr marL="0" indent="0">
              <a:buNone/>
            </a:pPr>
            <a:r>
              <a:rPr lang="en-US" sz="1300" b="1" dirty="0">
                <a:solidFill>
                  <a:srgbClr val="1E293B"/>
                </a:solidFill>
                <a:latin typeface="+mj-lt"/>
                <a:ea typeface="Calibri" pitchFamily="34" charset="-122"/>
                <a:cs typeface="Calibri" pitchFamily="34" charset="-120"/>
              </a:rPr>
              <a:t>Distal branches: </a:t>
            </a:r>
            <a:endParaRPr lang="en-US" sz="1300" dirty="0">
              <a:latin typeface="+mj-lt"/>
            </a:endParaRPr>
          </a:p>
          <a:p>
            <a:pPr marL="0" indent="0">
              <a:buNone/>
            </a:pPr>
            <a:r>
              <a:rPr lang="en-US" sz="1300" dirty="0">
                <a:solidFill>
                  <a:srgbClr val="059669"/>
                </a:solidFill>
                <a:latin typeface="+mj-lt"/>
                <a:ea typeface="Calibri" pitchFamily="34" charset="-122"/>
                <a:cs typeface="Calibri" pitchFamily="34" charset="-120"/>
              </a:rPr>
              <a:t>0.752 vs 0.687 (Dice+CE)</a:t>
            </a:r>
            <a:endParaRPr lang="en-US" sz="1300" dirty="0">
              <a:latin typeface="+mj-lt"/>
            </a:endParaRPr>
          </a:p>
          <a:p>
            <a:pPr marL="0" indent="0">
              <a:buNone/>
            </a:pPr>
            <a:endParaRPr lang="en-US" sz="1300" dirty="0">
              <a:latin typeface="+mj-lt"/>
            </a:endParaRPr>
          </a:p>
          <a:p>
            <a:pPr marL="0" indent="0">
              <a:buNone/>
            </a:pPr>
            <a:r>
              <a:rPr lang="en-US" sz="1300" b="1" dirty="0">
                <a:solidFill>
                  <a:srgbClr val="1E293B"/>
                </a:solidFill>
                <a:latin typeface="+mj-lt"/>
                <a:ea typeface="Calibri" pitchFamily="34" charset="-122"/>
                <a:cs typeface="Calibri" pitchFamily="34" charset="-120"/>
              </a:rPr>
              <a:t>Large CoW: </a:t>
            </a:r>
            <a:endParaRPr lang="en-US" sz="1300" dirty="0">
              <a:latin typeface="+mj-lt"/>
            </a:endParaRPr>
          </a:p>
          <a:p>
            <a:pPr marL="0" indent="0">
              <a:buNone/>
            </a:pPr>
            <a:r>
              <a:rPr lang="en-US" sz="1300" dirty="0">
                <a:solidFill>
                  <a:srgbClr val="64748B"/>
                </a:solidFill>
                <a:latin typeface="+mj-lt"/>
                <a:ea typeface="Calibri" pitchFamily="34" charset="-122"/>
                <a:cs typeface="Calibri" pitchFamily="34" charset="-120"/>
              </a:rPr>
              <a:t>all ~0.82 (comparable)</a:t>
            </a:r>
            <a:endParaRPr lang="en-US" sz="1300" dirty="0">
              <a:latin typeface="+mj-lt"/>
            </a:endParaRPr>
          </a:p>
        </p:txBody>
      </p:sp>
      <p:sp>
        <p:nvSpPr>
          <p:cNvPr id="14" name="Shape 11">
            <a:extLst>
              <a:ext uri="{FF2B5EF4-FFF2-40B4-BE49-F238E27FC236}">
                <a16:creationId xmlns:a16="http://schemas.microsoft.com/office/drawing/2014/main" id="{D272BB2F-EC60-6B0A-CB0B-9FDBF58C9953}"/>
              </a:ext>
            </a:extLst>
          </p:cNvPr>
          <p:cNvSpPr/>
          <p:nvPr/>
        </p:nvSpPr>
        <p:spPr>
          <a:xfrm>
            <a:off x="548640" y="5486400"/>
            <a:ext cx="7315200" cy="640080"/>
          </a:xfrm>
          <a:prstGeom prst="rect">
            <a:avLst/>
          </a:prstGeom>
          <a:solidFill>
            <a:srgbClr val="ECFDF5"/>
          </a:solidFill>
          <a:ln/>
        </p:spPr>
        <p:txBody>
          <a:bodyPr/>
          <a:lstStyle/>
          <a:p>
            <a:endParaRPr lang="en-US">
              <a:latin typeface="+mj-lt"/>
            </a:endParaRPr>
          </a:p>
        </p:txBody>
      </p:sp>
      <p:sp>
        <p:nvSpPr>
          <p:cNvPr id="15" name="Text 12">
            <a:extLst>
              <a:ext uri="{FF2B5EF4-FFF2-40B4-BE49-F238E27FC236}">
                <a16:creationId xmlns:a16="http://schemas.microsoft.com/office/drawing/2014/main" id="{DAC20C53-4D52-10E5-2304-E2FC6D443085}"/>
              </a:ext>
            </a:extLst>
          </p:cNvPr>
          <p:cNvSpPr/>
          <p:nvPr/>
        </p:nvSpPr>
        <p:spPr>
          <a:xfrm>
            <a:off x="731520" y="5532120"/>
            <a:ext cx="6949440" cy="548640"/>
          </a:xfrm>
          <a:prstGeom prst="rect">
            <a:avLst/>
          </a:prstGeom>
          <a:noFill/>
          <a:ln/>
        </p:spPr>
        <p:txBody>
          <a:bodyPr wrap="square" rtlCol="0" anchor="ctr"/>
          <a:lstStyle/>
          <a:p>
            <a:pPr marL="0" indent="0">
              <a:buNone/>
            </a:pPr>
            <a:r>
              <a:rPr lang="en-US" sz="1400" b="1" dirty="0">
                <a:solidFill>
                  <a:srgbClr val="059669"/>
                </a:solidFill>
                <a:latin typeface="+mj-lt"/>
                <a:ea typeface="Calibri" pitchFamily="34" charset="-122"/>
                <a:cs typeface="Calibri" pitchFamily="34" charset="-120"/>
              </a:rPr>
              <a:t>Skeleton Recall finds vessels the others cannot — a qualitative, not merely quantitative, difference</a:t>
            </a:r>
            <a:endParaRPr lang="en-US" sz="1400" dirty="0">
              <a:latin typeface="+mj-lt"/>
            </a:endParaRPr>
          </a:p>
        </p:txBody>
      </p:sp>
    </p:spTree>
    <p:extLst>
      <p:ext uri="{BB962C8B-B14F-4D97-AF65-F5344CB8AC3E}">
        <p14:creationId xmlns:p14="http://schemas.microsoft.com/office/powerpoint/2010/main" val="707678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E8FAA18-E538-D3FA-41FE-722CB8535862}"/>
              </a:ext>
            </a:extLst>
          </p:cNvPr>
          <p:cNvSpPr/>
          <p:nvPr/>
        </p:nvSpPr>
        <p:spPr>
          <a:xfrm>
            <a:off x="0" y="0"/>
            <a:ext cx="12188952" cy="54864"/>
          </a:xfrm>
          <a:prstGeom prst="rect">
            <a:avLst/>
          </a:prstGeom>
          <a:solidFill>
            <a:srgbClr val="0077B6"/>
          </a:solidFill>
          <a:ln/>
        </p:spPr>
        <p:txBody>
          <a:bodyPr/>
          <a:lstStyle/>
          <a:p>
            <a:endParaRPr lang="en-US"/>
          </a:p>
        </p:txBody>
      </p:sp>
      <p:sp>
        <p:nvSpPr>
          <p:cNvPr id="4" name="Text 2">
            <a:extLst>
              <a:ext uri="{FF2B5EF4-FFF2-40B4-BE49-F238E27FC236}">
                <a16:creationId xmlns:a16="http://schemas.microsoft.com/office/drawing/2014/main" id="{925A277F-94A5-157E-2F97-B692CB73A162}"/>
              </a:ext>
            </a:extLst>
          </p:cNvPr>
          <p:cNvSpPr/>
          <p:nvPr/>
        </p:nvSpPr>
        <p:spPr>
          <a:xfrm>
            <a:off x="548640"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Qualitative Comparison — 3D Renderings</a:t>
            </a:r>
            <a:endParaRPr lang="en-US" sz="3000" dirty="0"/>
          </a:p>
        </p:txBody>
      </p:sp>
      <p:sp>
        <p:nvSpPr>
          <p:cNvPr id="5" name="Shape 3">
            <a:extLst>
              <a:ext uri="{FF2B5EF4-FFF2-40B4-BE49-F238E27FC236}">
                <a16:creationId xmlns:a16="http://schemas.microsoft.com/office/drawing/2014/main" id="{0E67D467-6F57-DD3D-BA8B-F5219D556C77}"/>
              </a:ext>
            </a:extLst>
          </p:cNvPr>
          <p:cNvSpPr/>
          <p:nvPr/>
        </p:nvSpPr>
        <p:spPr>
          <a:xfrm>
            <a:off x="457200" y="1280160"/>
            <a:ext cx="5486400" cy="41148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p>
        </p:txBody>
      </p:sp>
      <p:sp>
        <p:nvSpPr>
          <p:cNvPr id="6" name="Text 4">
            <a:extLst>
              <a:ext uri="{FF2B5EF4-FFF2-40B4-BE49-F238E27FC236}">
                <a16:creationId xmlns:a16="http://schemas.microsoft.com/office/drawing/2014/main" id="{FBCD1194-C777-4476-8FDA-113898A372C8}"/>
              </a:ext>
            </a:extLst>
          </p:cNvPr>
          <p:cNvSpPr/>
          <p:nvPr/>
        </p:nvSpPr>
        <p:spPr>
          <a:xfrm>
            <a:off x="457200" y="2926080"/>
            <a:ext cx="5486400" cy="91440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[SurgicalAR Screenshot]</a:t>
            </a:r>
            <a:endParaRPr lang="en-US" sz="1800" dirty="0"/>
          </a:p>
        </p:txBody>
      </p:sp>
      <p:sp>
        <p:nvSpPr>
          <p:cNvPr id="7" name="Text 5">
            <a:extLst>
              <a:ext uri="{FF2B5EF4-FFF2-40B4-BE49-F238E27FC236}">
                <a16:creationId xmlns:a16="http://schemas.microsoft.com/office/drawing/2014/main" id="{39A2E620-433D-472E-07F0-1F62F4812977}"/>
              </a:ext>
            </a:extLst>
          </p:cNvPr>
          <p:cNvSpPr/>
          <p:nvPr/>
        </p:nvSpPr>
        <p:spPr>
          <a:xfrm>
            <a:off x="457200" y="5486400"/>
            <a:ext cx="5486400" cy="457200"/>
          </a:xfrm>
          <a:prstGeom prst="rect">
            <a:avLst/>
          </a:prstGeom>
          <a:noFill/>
          <a:ln/>
        </p:spPr>
        <p:txBody>
          <a:bodyPr wrap="square" rtlCol="0" anchor="ctr"/>
          <a:lstStyle/>
          <a:p>
            <a:pPr marL="0" indent="0" algn="ctr">
              <a:buNone/>
            </a:pPr>
            <a:r>
              <a:rPr lang="en-US" sz="1700" b="1" dirty="0">
                <a:solidFill>
                  <a:srgbClr val="0077B6"/>
                </a:solidFill>
                <a:latin typeface="Calibri" pitchFamily="34" charset="0"/>
                <a:ea typeface="Calibri" pitchFamily="34" charset="-122"/>
                <a:cs typeface="Calibri" pitchFamily="34" charset="-120"/>
              </a:rPr>
              <a:t>Dice+CE + TopBrain</a:t>
            </a:r>
            <a:endParaRPr lang="en-US" sz="1700" dirty="0"/>
          </a:p>
        </p:txBody>
      </p:sp>
      <p:sp>
        <p:nvSpPr>
          <p:cNvPr id="8" name="Shape 6">
            <a:extLst>
              <a:ext uri="{FF2B5EF4-FFF2-40B4-BE49-F238E27FC236}">
                <a16:creationId xmlns:a16="http://schemas.microsoft.com/office/drawing/2014/main" id="{19667A5B-5557-091B-7FAD-32DA1AD053D1}"/>
              </a:ext>
            </a:extLst>
          </p:cNvPr>
          <p:cNvSpPr/>
          <p:nvPr/>
        </p:nvSpPr>
        <p:spPr>
          <a:xfrm>
            <a:off x="6309360" y="1280160"/>
            <a:ext cx="5486400" cy="41148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p>
        </p:txBody>
      </p:sp>
      <p:sp>
        <p:nvSpPr>
          <p:cNvPr id="9" name="Text 7">
            <a:extLst>
              <a:ext uri="{FF2B5EF4-FFF2-40B4-BE49-F238E27FC236}">
                <a16:creationId xmlns:a16="http://schemas.microsoft.com/office/drawing/2014/main" id="{ACD22728-0C84-E9F7-7488-62FDF6F7192B}"/>
              </a:ext>
            </a:extLst>
          </p:cNvPr>
          <p:cNvSpPr/>
          <p:nvPr/>
        </p:nvSpPr>
        <p:spPr>
          <a:xfrm>
            <a:off x="6309360" y="2926080"/>
            <a:ext cx="5486400" cy="91440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[SurgicalAR Screenshot]</a:t>
            </a:r>
            <a:endParaRPr lang="en-US" sz="1800" dirty="0"/>
          </a:p>
        </p:txBody>
      </p:sp>
      <p:sp>
        <p:nvSpPr>
          <p:cNvPr id="10" name="Text 8">
            <a:extLst>
              <a:ext uri="{FF2B5EF4-FFF2-40B4-BE49-F238E27FC236}">
                <a16:creationId xmlns:a16="http://schemas.microsoft.com/office/drawing/2014/main" id="{895AF20E-EBE7-748C-43AC-E96AEE4F2986}"/>
              </a:ext>
            </a:extLst>
          </p:cNvPr>
          <p:cNvSpPr/>
          <p:nvPr/>
        </p:nvSpPr>
        <p:spPr>
          <a:xfrm>
            <a:off x="6309360" y="5486400"/>
            <a:ext cx="5486400" cy="457200"/>
          </a:xfrm>
          <a:prstGeom prst="rect">
            <a:avLst/>
          </a:prstGeom>
          <a:noFill/>
          <a:ln/>
        </p:spPr>
        <p:txBody>
          <a:bodyPr wrap="square" rtlCol="0" anchor="ctr"/>
          <a:lstStyle/>
          <a:p>
            <a:pPr marL="0" indent="0" algn="ctr">
              <a:buNone/>
            </a:pPr>
            <a:r>
              <a:rPr lang="en-US" sz="1700" b="1" dirty="0">
                <a:solidFill>
                  <a:srgbClr val="059669"/>
                </a:solidFill>
                <a:latin typeface="Calibri" pitchFamily="34" charset="0"/>
                <a:ea typeface="Calibri" pitchFamily="34" charset="-122"/>
                <a:cs typeface="Calibri" pitchFamily="34" charset="-120"/>
              </a:rPr>
              <a:t>Skeleton Recall + TopBrain</a:t>
            </a:r>
            <a:endParaRPr lang="en-US" sz="1700" dirty="0"/>
          </a:p>
        </p:txBody>
      </p:sp>
      <p:sp>
        <p:nvSpPr>
          <p:cNvPr id="11" name="Text 9">
            <a:extLst>
              <a:ext uri="{FF2B5EF4-FFF2-40B4-BE49-F238E27FC236}">
                <a16:creationId xmlns:a16="http://schemas.microsoft.com/office/drawing/2014/main" id="{BA53C960-780C-AE13-B222-A834023A596C}"/>
              </a:ext>
            </a:extLst>
          </p:cNvPr>
          <p:cNvSpPr/>
          <p:nvPr/>
        </p:nvSpPr>
        <p:spPr>
          <a:xfrm>
            <a:off x="457200" y="6126480"/>
            <a:ext cx="11247120" cy="45720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Same patient  |  Same viewing angle  |  Same fine-tuning protocol  |  Different loss during pretraining</a:t>
            </a:r>
            <a:endParaRPr lang="en-US" sz="1300" dirty="0"/>
          </a:p>
        </p:txBody>
      </p:sp>
    </p:spTree>
    <p:extLst>
      <p:ext uri="{BB962C8B-B14F-4D97-AF65-F5344CB8AC3E}">
        <p14:creationId xmlns:p14="http://schemas.microsoft.com/office/powerpoint/2010/main" val="370433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D0CC910-E852-2870-AB55-385442A2444F}"/>
              </a:ext>
            </a:extLst>
          </p:cNvPr>
          <p:cNvSpPr/>
          <p:nvPr/>
        </p:nvSpPr>
        <p:spPr>
          <a:xfrm>
            <a:off x="0" y="0"/>
            <a:ext cx="12188952" cy="54864"/>
          </a:xfrm>
          <a:prstGeom prst="rect">
            <a:avLst/>
          </a:prstGeom>
          <a:solidFill>
            <a:srgbClr val="0077B6"/>
          </a:solidFill>
          <a:ln/>
        </p:spPr>
        <p:txBody>
          <a:bodyPr/>
          <a:lstStyle/>
          <a:p>
            <a:endParaRPr lang="en-US">
              <a:latin typeface="+mj-lt"/>
            </a:endParaRPr>
          </a:p>
        </p:txBody>
      </p:sp>
      <p:sp>
        <p:nvSpPr>
          <p:cNvPr id="4" name="Text 2">
            <a:extLst>
              <a:ext uri="{FF2B5EF4-FFF2-40B4-BE49-F238E27FC236}">
                <a16:creationId xmlns:a16="http://schemas.microsoft.com/office/drawing/2014/main" id="{07C10D83-0CE4-4E56-5066-AC046A71592C}"/>
              </a:ext>
            </a:extLst>
          </p:cNvPr>
          <p:cNvSpPr/>
          <p:nvPr/>
        </p:nvSpPr>
        <p:spPr>
          <a:xfrm>
            <a:off x="548640"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Discussion — What We Learned</a:t>
            </a:r>
            <a:endParaRPr lang="en-US" sz="3000" dirty="0">
              <a:latin typeface="+mj-lt"/>
            </a:endParaRPr>
          </a:p>
        </p:txBody>
      </p:sp>
      <p:sp>
        <p:nvSpPr>
          <p:cNvPr id="5" name="Shape 3">
            <a:extLst>
              <a:ext uri="{FF2B5EF4-FFF2-40B4-BE49-F238E27FC236}">
                <a16:creationId xmlns:a16="http://schemas.microsoft.com/office/drawing/2014/main" id="{35C8A3A8-904A-8527-8934-79DDAEDE728B}"/>
              </a:ext>
            </a:extLst>
          </p:cNvPr>
          <p:cNvSpPr/>
          <p:nvPr/>
        </p:nvSpPr>
        <p:spPr>
          <a:xfrm>
            <a:off x="548640" y="1280160"/>
            <a:ext cx="5486400" cy="27432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6" name="Text 4">
            <a:extLst>
              <a:ext uri="{FF2B5EF4-FFF2-40B4-BE49-F238E27FC236}">
                <a16:creationId xmlns:a16="http://schemas.microsoft.com/office/drawing/2014/main" id="{F6CC9E5B-4F20-0128-290C-6BC69FC6CC60}"/>
              </a:ext>
            </a:extLst>
          </p:cNvPr>
          <p:cNvSpPr/>
          <p:nvPr/>
        </p:nvSpPr>
        <p:spPr>
          <a:xfrm>
            <a:off x="822960" y="1371600"/>
            <a:ext cx="4937760" cy="411480"/>
          </a:xfrm>
          <a:prstGeom prst="rect">
            <a:avLst/>
          </a:prstGeom>
          <a:noFill/>
          <a:ln/>
        </p:spPr>
        <p:txBody>
          <a:bodyPr wrap="square" lIns="0" tIns="0" rIns="0" bIns="0" rtlCol="0" anchor="ctr"/>
          <a:lstStyle/>
          <a:p>
            <a:pPr marL="0" indent="0">
              <a:buNone/>
            </a:pPr>
            <a:r>
              <a:rPr lang="en-US" sz="2000" b="1" dirty="0">
                <a:solidFill>
                  <a:srgbClr val="D97706"/>
                </a:solidFill>
                <a:latin typeface="+mj-lt"/>
                <a:ea typeface="Calibri" pitchFamily="34" charset="-122"/>
                <a:cs typeface="Calibri" pitchFamily="34" charset="-120"/>
              </a:rPr>
              <a:t>clDice</a:t>
            </a:r>
            <a:endParaRPr lang="en-US" sz="2000" dirty="0">
              <a:latin typeface="+mj-lt"/>
            </a:endParaRPr>
          </a:p>
        </p:txBody>
      </p:sp>
      <p:sp>
        <p:nvSpPr>
          <p:cNvPr id="7" name="Text 5">
            <a:extLst>
              <a:ext uri="{FF2B5EF4-FFF2-40B4-BE49-F238E27FC236}">
                <a16:creationId xmlns:a16="http://schemas.microsoft.com/office/drawing/2014/main" id="{BD631853-B574-942C-DBA4-4348E6474463}"/>
              </a:ext>
            </a:extLst>
          </p:cNvPr>
          <p:cNvSpPr/>
          <p:nvPr/>
        </p:nvSpPr>
        <p:spPr>
          <a:xfrm>
            <a:off x="822960" y="1783080"/>
            <a:ext cx="4937760" cy="274320"/>
          </a:xfrm>
          <a:prstGeom prst="rect">
            <a:avLst/>
          </a:prstGeom>
          <a:noFill/>
          <a:ln/>
        </p:spPr>
        <p:txBody>
          <a:bodyPr wrap="square" lIns="0" tIns="0" rIns="0" bIns="0" rtlCol="0" anchor="ctr"/>
          <a:lstStyle/>
          <a:p>
            <a:pPr marL="0" indent="0">
              <a:buNone/>
            </a:pPr>
            <a:r>
              <a:rPr lang="en-US" sz="1200" dirty="0">
                <a:solidFill>
                  <a:srgbClr val="64748B"/>
                </a:solidFill>
                <a:latin typeface="+mj-lt"/>
                <a:ea typeface="Calibri" pitchFamily="34" charset="-122"/>
                <a:cs typeface="Calibri" pitchFamily="34" charset="-120"/>
              </a:rPr>
              <a:t>Best Aggregate Model</a:t>
            </a:r>
            <a:endParaRPr lang="en-US" sz="1200" dirty="0">
              <a:latin typeface="+mj-lt"/>
            </a:endParaRPr>
          </a:p>
        </p:txBody>
      </p:sp>
      <p:sp>
        <p:nvSpPr>
          <p:cNvPr id="8" name="Text 6">
            <a:extLst>
              <a:ext uri="{FF2B5EF4-FFF2-40B4-BE49-F238E27FC236}">
                <a16:creationId xmlns:a16="http://schemas.microsoft.com/office/drawing/2014/main" id="{74C348A7-4298-DCF5-A0E8-E3F93895857A}"/>
              </a:ext>
            </a:extLst>
          </p:cNvPr>
          <p:cNvSpPr/>
          <p:nvPr/>
        </p:nvSpPr>
        <p:spPr>
          <a:xfrm>
            <a:off x="822960" y="219456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DSC 0.864 | Betti-0 error 3.72</a:t>
            </a:r>
            <a:endParaRPr lang="en-US" sz="1400" dirty="0">
              <a:latin typeface="+mj-lt"/>
            </a:endParaRPr>
          </a:p>
        </p:txBody>
      </p:sp>
      <p:sp>
        <p:nvSpPr>
          <p:cNvPr id="9" name="Text 7">
            <a:extLst>
              <a:ext uri="{FF2B5EF4-FFF2-40B4-BE49-F238E27FC236}">
                <a16:creationId xmlns:a16="http://schemas.microsoft.com/office/drawing/2014/main" id="{824E6A68-8A56-5583-2676-8BF7466892FB}"/>
              </a:ext>
            </a:extLst>
          </p:cNvPr>
          <p:cNvSpPr/>
          <p:nvPr/>
        </p:nvSpPr>
        <p:spPr>
          <a:xfrm>
            <a:off x="822960" y="260604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Improves topological precision</a:t>
            </a:r>
            <a:endParaRPr lang="en-US" sz="1400" dirty="0">
              <a:latin typeface="+mj-lt"/>
            </a:endParaRPr>
          </a:p>
        </p:txBody>
      </p:sp>
      <p:sp>
        <p:nvSpPr>
          <p:cNvPr id="10" name="Text 8">
            <a:extLst>
              <a:ext uri="{FF2B5EF4-FFF2-40B4-BE49-F238E27FC236}">
                <a16:creationId xmlns:a16="http://schemas.microsoft.com/office/drawing/2014/main" id="{933C2833-4FCD-6E66-EC3E-9C12E211FE30}"/>
              </a:ext>
            </a:extLst>
          </p:cNvPr>
          <p:cNvSpPr/>
          <p:nvPr/>
        </p:nvSpPr>
        <p:spPr>
          <a:xfrm>
            <a:off x="822960" y="301752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Fewer disconnected fragments</a:t>
            </a:r>
            <a:endParaRPr lang="en-US" sz="1400" dirty="0">
              <a:latin typeface="+mj-lt"/>
            </a:endParaRPr>
          </a:p>
        </p:txBody>
      </p:sp>
      <p:sp>
        <p:nvSpPr>
          <p:cNvPr id="11" name="Text 9">
            <a:extLst>
              <a:ext uri="{FF2B5EF4-FFF2-40B4-BE49-F238E27FC236}">
                <a16:creationId xmlns:a16="http://schemas.microsoft.com/office/drawing/2014/main" id="{DA0166CC-6753-C215-8E13-30BED80F743F}"/>
              </a:ext>
            </a:extLst>
          </p:cNvPr>
          <p:cNvSpPr/>
          <p:nvPr/>
        </p:nvSpPr>
        <p:spPr>
          <a:xfrm>
            <a:off x="822960" y="342900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Best for: overall segmentation quality</a:t>
            </a:r>
            <a:endParaRPr lang="en-US" sz="1400" dirty="0">
              <a:latin typeface="+mj-lt"/>
            </a:endParaRPr>
          </a:p>
        </p:txBody>
      </p:sp>
      <p:sp>
        <p:nvSpPr>
          <p:cNvPr id="12" name="Shape 10">
            <a:extLst>
              <a:ext uri="{FF2B5EF4-FFF2-40B4-BE49-F238E27FC236}">
                <a16:creationId xmlns:a16="http://schemas.microsoft.com/office/drawing/2014/main" id="{05C38DD5-E4BB-40CB-3A2A-CC76CA4F8C77}"/>
              </a:ext>
            </a:extLst>
          </p:cNvPr>
          <p:cNvSpPr/>
          <p:nvPr/>
        </p:nvSpPr>
        <p:spPr>
          <a:xfrm>
            <a:off x="6400800" y="1280160"/>
            <a:ext cx="5486400" cy="2743200"/>
          </a:xfrm>
          <a:prstGeom prst="rect">
            <a:avLst/>
          </a:prstGeom>
          <a:solidFill>
            <a:srgbClr val="EDF2F7"/>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13" name="Text 11">
            <a:extLst>
              <a:ext uri="{FF2B5EF4-FFF2-40B4-BE49-F238E27FC236}">
                <a16:creationId xmlns:a16="http://schemas.microsoft.com/office/drawing/2014/main" id="{C76AEABD-23BA-159D-8CBF-9DA1B328EB38}"/>
              </a:ext>
            </a:extLst>
          </p:cNvPr>
          <p:cNvSpPr/>
          <p:nvPr/>
        </p:nvSpPr>
        <p:spPr>
          <a:xfrm>
            <a:off x="6675120" y="1371600"/>
            <a:ext cx="4937760" cy="411480"/>
          </a:xfrm>
          <a:prstGeom prst="rect">
            <a:avLst/>
          </a:prstGeom>
          <a:noFill/>
          <a:ln/>
        </p:spPr>
        <p:txBody>
          <a:bodyPr wrap="square" lIns="0" tIns="0" rIns="0" bIns="0" rtlCol="0" anchor="ctr"/>
          <a:lstStyle/>
          <a:p>
            <a:pPr marL="0" indent="0">
              <a:buNone/>
            </a:pPr>
            <a:r>
              <a:rPr lang="en-US" sz="2000" b="1" dirty="0">
                <a:solidFill>
                  <a:srgbClr val="059669"/>
                </a:solidFill>
                <a:latin typeface="+mj-lt"/>
                <a:ea typeface="Calibri" pitchFamily="34" charset="-122"/>
                <a:cs typeface="Calibri" pitchFamily="34" charset="-120"/>
              </a:rPr>
              <a:t>Skeleton Recall</a:t>
            </a:r>
            <a:endParaRPr lang="en-US" sz="2000" dirty="0">
              <a:latin typeface="+mj-lt"/>
            </a:endParaRPr>
          </a:p>
        </p:txBody>
      </p:sp>
      <p:sp>
        <p:nvSpPr>
          <p:cNvPr id="14" name="Text 12">
            <a:extLst>
              <a:ext uri="{FF2B5EF4-FFF2-40B4-BE49-F238E27FC236}">
                <a16:creationId xmlns:a16="http://schemas.microsoft.com/office/drawing/2014/main" id="{7893DE01-86E8-1D94-E310-C4C70217C958}"/>
              </a:ext>
            </a:extLst>
          </p:cNvPr>
          <p:cNvSpPr/>
          <p:nvPr/>
        </p:nvSpPr>
        <p:spPr>
          <a:xfrm>
            <a:off x="6675120" y="1783080"/>
            <a:ext cx="4937760" cy="274320"/>
          </a:xfrm>
          <a:prstGeom prst="rect">
            <a:avLst/>
          </a:prstGeom>
          <a:noFill/>
          <a:ln/>
        </p:spPr>
        <p:txBody>
          <a:bodyPr wrap="square" lIns="0" tIns="0" rIns="0" bIns="0" rtlCol="0" anchor="ctr"/>
          <a:lstStyle/>
          <a:p>
            <a:pPr marL="0" indent="0">
              <a:buNone/>
            </a:pPr>
            <a:r>
              <a:rPr lang="en-US" sz="1200" dirty="0">
                <a:solidFill>
                  <a:srgbClr val="64748B"/>
                </a:solidFill>
                <a:latin typeface="+mj-lt"/>
                <a:ea typeface="Calibri" pitchFamily="34" charset="-122"/>
                <a:cs typeface="Calibri" pitchFamily="34" charset="-120"/>
              </a:rPr>
              <a:t>Best Thin-Vessel Transfer</a:t>
            </a:r>
            <a:endParaRPr lang="en-US" sz="1200" dirty="0">
              <a:latin typeface="+mj-lt"/>
            </a:endParaRPr>
          </a:p>
        </p:txBody>
      </p:sp>
      <p:sp>
        <p:nvSpPr>
          <p:cNvPr id="15" name="Text 13">
            <a:extLst>
              <a:ext uri="{FF2B5EF4-FFF2-40B4-BE49-F238E27FC236}">
                <a16:creationId xmlns:a16="http://schemas.microsoft.com/office/drawing/2014/main" id="{E727D68F-F34E-A77E-C8B3-9462701D2F42}"/>
              </a:ext>
            </a:extLst>
          </p:cNvPr>
          <p:cNvSpPr/>
          <p:nvPr/>
        </p:nvSpPr>
        <p:spPr>
          <a:xfrm>
            <a:off x="6675120" y="219456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Pcom: +5–7 pts | Small arteries: 0.589</a:t>
            </a:r>
            <a:endParaRPr lang="en-US" sz="1400" dirty="0">
              <a:latin typeface="+mj-lt"/>
            </a:endParaRPr>
          </a:p>
        </p:txBody>
      </p:sp>
      <p:sp>
        <p:nvSpPr>
          <p:cNvPr id="16" name="Text 14">
            <a:extLst>
              <a:ext uri="{FF2B5EF4-FFF2-40B4-BE49-F238E27FC236}">
                <a16:creationId xmlns:a16="http://schemas.microsoft.com/office/drawing/2014/main" id="{6800C4C7-2DF2-C650-20A1-34F7765AEB60}"/>
              </a:ext>
            </a:extLst>
          </p:cNvPr>
          <p:cNvSpPr/>
          <p:nvPr/>
        </p:nvSpPr>
        <p:spPr>
          <a:xfrm>
            <a:off x="6675120" y="260604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Improves topological recall</a:t>
            </a:r>
            <a:endParaRPr lang="en-US" sz="1400" dirty="0">
              <a:latin typeface="+mj-lt"/>
            </a:endParaRPr>
          </a:p>
        </p:txBody>
      </p:sp>
      <p:sp>
        <p:nvSpPr>
          <p:cNvPr id="17" name="Text 15">
            <a:extLst>
              <a:ext uri="{FF2B5EF4-FFF2-40B4-BE49-F238E27FC236}">
                <a16:creationId xmlns:a16="http://schemas.microsoft.com/office/drawing/2014/main" id="{43D1C1A5-5C7E-2EBE-D94C-C0CD5D9D92E6}"/>
              </a:ext>
            </a:extLst>
          </p:cNvPr>
          <p:cNvSpPr/>
          <p:nvPr/>
        </p:nvSpPr>
        <p:spPr>
          <a:xfrm>
            <a:off x="6675120" y="301752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Over-segments (B0 error 26.84)</a:t>
            </a:r>
            <a:endParaRPr lang="en-US" sz="1400" dirty="0">
              <a:latin typeface="+mj-lt"/>
            </a:endParaRPr>
          </a:p>
        </p:txBody>
      </p:sp>
      <p:sp>
        <p:nvSpPr>
          <p:cNvPr id="18" name="Text 16">
            <a:extLst>
              <a:ext uri="{FF2B5EF4-FFF2-40B4-BE49-F238E27FC236}">
                <a16:creationId xmlns:a16="http://schemas.microsoft.com/office/drawing/2014/main" id="{A078D35B-AA28-A2CA-56C5-67EEE20219E9}"/>
              </a:ext>
            </a:extLst>
          </p:cNvPr>
          <p:cNvSpPr/>
          <p:nvPr/>
        </p:nvSpPr>
        <p:spPr>
          <a:xfrm>
            <a:off x="6675120" y="3429000"/>
            <a:ext cx="4937760" cy="365760"/>
          </a:xfrm>
          <a:prstGeom prst="rect">
            <a:avLst/>
          </a:prstGeom>
          <a:noFill/>
          <a:ln/>
        </p:spPr>
        <p:txBody>
          <a:bodyPr wrap="square" lIns="0" tIns="0" rIns="0" bIns="0" rtlCol="0" anchor="ctr"/>
          <a:lstStyle/>
          <a:p>
            <a:pPr marL="0" indent="0">
              <a:buNone/>
            </a:pPr>
            <a:r>
              <a:rPr lang="en-US" sz="1400" dirty="0">
                <a:solidFill>
                  <a:srgbClr val="1E293B"/>
                </a:solidFill>
                <a:latin typeface="+mj-lt"/>
                <a:ea typeface="Calibri" pitchFamily="34" charset="-122"/>
                <a:cs typeface="Calibri" pitchFamily="34" charset="-120"/>
              </a:rPr>
              <a:t>Best for: finding every vessel</a:t>
            </a:r>
            <a:endParaRPr lang="en-US" sz="1400" dirty="0">
              <a:latin typeface="+mj-lt"/>
            </a:endParaRPr>
          </a:p>
        </p:txBody>
      </p:sp>
      <p:sp>
        <p:nvSpPr>
          <p:cNvPr id="19" name="Shape 17">
            <a:extLst>
              <a:ext uri="{FF2B5EF4-FFF2-40B4-BE49-F238E27FC236}">
                <a16:creationId xmlns:a16="http://schemas.microsoft.com/office/drawing/2014/main" id="{568650AB-4122-FC64-90D1-C15635BF0102}"/>
              </a:ext>
            </a:extLst>
          </p:cNvPr>
          <p:cNvSpPr/>
          <p:nvPr/>
        </p:nvSpPr>
        <p:spPr>
          <a:xfrm>
            <a:off x="548640" y="4297680"/>
            <a:ext cx="10972800" cy="2103120"/>
          </a:xfrm>
          <a:prstGeom prst="rect">
            <a:avLst/>
          </a:prstGeom>
          <a:solidFill>
            <a:srgbClr val="1E3A5F"/>
          </a:solidFill>
          <a:ln/>
          <a:effectLst>
            <a:outerShdw blurRad="50800" dist="25400" dir="8100000" algn="bl" rotWithShape="0">
              <a:srgbClr val="000000">
                <a:alpha val="8000"/>
              </a:srgbClr>
            </a:outerShdw>
          </a:effectLst>
        </p:spPr>
        <p:txBody>
          <a:bodyPr/>
          <a:lstStyle/>
          <a:p>
            <a:endParaRPr lang="en-US">
              <a:latin typeface="+mj-lt"/>
            </a:endParaRPr>
          </a:p>
        </p:txBody>
      </p:sp>
      <p:sp>
        <p:nvSpPr>
          <p:cNvPr id="20" name="Text 18">
            <a:extLst>
              <a:ext uri="{FF2B5EF4-FFF2-40B4-BE49-F238E27FC236}">
                <a16:creationId xmlns:a16="http://schemas.microsoft.com/office/drawing/2014/main" id="{DC119900-C3F9-85FD-2CAC-99A63CC20AA1}"/>
              </a:ext>
            </a:extLst>
          </p:cNvPr>
          <p:cNvSpPr/>
          <p:nvPr/>
        </p:nvSpPr>
        <p:spPr>
          <a:xfrm>
            <a:off x="822960" y="4389120"/>
            <a:ext cx="4572000" cy="320040"/>
          </a:xfrm>
          <a:prstGeom prst="rect">
            <a:avLst/>
          </a:prstGeom>
          <a:noFill/>
          <a:ln/>
        </p:spPr>
        <p:txBody>
          <a:bodyPr wrap="square" lIns="0" tIns="0" rIns="0" bIns="0" rtlCol="0" anchor="ctr"/>
          <a:lstStyle/>
          <a:p>
            <a:pPr marL="0" indent="0">
              <a:buNone/>
            </a:pPr>
            <a:r>
              <a:rPr lang="en-US" sz="1200" b="1" dirty="0">
                <a:solidFill>
                  <a:srgbClr val="B8860B"/>
                </a:solidFill>
                <a:latin typeface="+mj-lt"/>
                <a:ea typeface="Calibri" pitchFamily="34" charset="-122"/>
                <a:cs typeface="Calibri" pitchFamily="34" charset="-120"/>
              </a:rPr>
              <a:t>KEY INSIGHT</a:t>
            </a:r>
            <a:endParaRPr lang="en-US" sz="1200" dirty="0">
              <a:latin typeface="+mj-lt"/>
            </a:endParaRPr>
          </a:p>
        </p:txBody>
      </p:sp>
      <p:sp>
        <p:nvSpPr>
          <p:cNvPr id="21" name="Text 19">
            <a:extLst>
              <a:ext uri="{FF2B5EF4-FFF2-40B4-BE49-F238E27FC236}">
                <a16:creationId xmlns:a16="http://schemas.microsoft.com/office/drawing/2014/main" id="{5AC82010-EA6B-BEE7-7E41-45FA2479250C}"/>
              </a:ext>
            </a:extLst>
          </p:cNvPr>
          <p:cNvSpPr/>
          <p:nvPr/>
        </p:nvSpPr>
        <p:spPr>
          <a:xfrm>
            <a:off x="822960" y="4754880"/>
            <a:ext cx="10424160" cy="1463040"/>
          </a:xfrm>
          <a:prstGeom prst="rect">
            <a:avLst/>
          </a:prstGeom>
          <a:noFill/>
          <a:ln/>
        </p:spPr>
        <p:txBody>
          <a:bodyPr wrap="square" rtlCol="0" anchor="ctr"/>
          <a:lstStyle/>
          <a:p>
            <a:pPr marL="0" indent="0">
              <a:buNone/>
            </a:pPr>
            <a:r>
              <a:rPr lang="en-US" sz="1600" b="1" dirty="0">
                <a:solidFill>
                  <a:srgbClr val="FFFFFF"/>
                </a:solidFill>
                <a:latin typeface="+mj-lt"/>
                <a:ea typeface="Calibri" pitchFamily="34" charset="-122"/>
                <a:cs typeface="Calibri" pitchFamily="34" charset="-120"/>
              </a:rPr>
              <a:t>TopBrain fine-tuning drives comprehensive vessel coverage for all models.</a:t>
            </a:r>
            <a:endParaRPr lang="en-US" sz="1600" dirty="0">
              <a:latin typeface="+mj-lt"/>
            </a:endParaRPr>
          </a:p>
          <a:p>
            <a:pPr marL="0" indent="0">
              <a:buNone/>
            </a:pPr>
            <a:endParaRPr lang="en-US" sz="1600" dirty="0">
              <a:latin typeface="+mj-lt"/>
            </a:endParaRPr>
          </a:p>
          <a:p>
            <a:pPr marL="0" indent="0">
              <a:buNone/>
            </a:pPr>
            <a:r>
              <a:rPr lang="en-US" sz="1400" dirty="0">
                <a:solidFill>
                  <a:srgbClr val="CBD5E1"/>
                </a:solidFill>
                <a:latin typeface="+mj-lt"/>
                <a:ea typeface="Calibri" pitchFamily="34" charset="-122"/>
                <a:cs typeface="Calibri" pitchFamily="34" charset="-120"/>
              </a:rPr>
              <a:t>The loss function used during pretraining shapes the quality of that transfer to the thinnest structures. Skeleton Recall's centerline-focused gradient signal creates feature representations that encode thin tubular geometry — a representational advantage that transfers when exposed to richer annotations.</a:t>
            </a:r>
            <a:endParaRPr lang="en-US" sz="1600" dirty="0">
              <a:latin typeface="+mj-lt"/>
            </a:endParaRPr>
          </a:p>
        </p:txBody>
      </p:sp>
    </p:spTree>
    <p:extLst>
      <p:ext uri="{BB962C8B-B14F-4D97-AF65-F5344CB8AC3E}">
        <p14:creationId xmlns:p14="http://schemas.microsoft.com/office/powerpoint/2010/main" val="1565146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BB1660-E958-5DA8-AFCB-2BC63B9C76CB}"/>
              </a:ext>
            </a:extLst>
          </p:cNvPr>
          <p:cNvSpPr/>
          <p:nvPr/>
        </p:nvSpPr>
        <p:spPr>
          <a:xfrm>
            <a:off x="3048" y="-27432"/>
            <a:ext cx="12188952" cy="54864"/>
          </a:xfrm>
          <a:prstGeom prst="rect">
            <a:avLst/>
          </a:prstGeom>
          <a:solidFill>
            <a:srgbClr val="0077B6"/>
          </a:solidFill>
          <a:ln/>
        </p:spPr>
        <p:txBody>
          <a:bodyPr/>
          <a:lstStyle/>
          <a:p>
            <a:endParaRPr lang="en-US" sz="2400">
              <a:latin typeface="+mj-lt"/>
            </a:endParaRPr>
          </a:p>
        </p:txBody>
      </p:sp>
      <p:sp>
        <p:nvSpPr>
          <p:cNvPr id="4" name="Text 2">
            <a:extLst>
              <a:ext uri="{FF2B5EF4-FFF2-40B4-BE49-F238E27FC236}">
                <a16:creationId xmlns:a16="http://schemas.microsoft.com/office/drawing/2014/main" id="{6575AAAA-13B0-BD48-E162-F0E5D2A49048}"/>
              </a:ext>
            </a:extLst>
          </p:cNvPr>
          <p:cNvSpPr/>
          <p:nvPr/>
        </p:nvSpPr>
        <p:spPr>
          <a:xfrm>
            <a:off x="551688" y="521208"/>
            <a:ext cx="10058400" cy="640080"/>
          </a:xfrm>
          <a:prstGeom prst="rect">
            <a:avLst/>
          </a:prstGeom>
          <a:noFill/>
          <a:ln/>
        </p:spPr>
        <p:txBody>
          <a:bodyPr wrap="square" lIns="0" tIns="0" rIns="0" bIns="0" rtlCol="0" anchor="ctr"/>
          <a:lstStyle/>
          <a:p>
            <a:pPr marL="0" indent="0">
              <a:buNone/>
            </a:pPr>
            <a:r>
              <a:rPr lang="en-US" sz="3600" b="1" dirty="0">
                <a:solidFill>
                  <a:srgbClr val="1E293B"/>
                </a:solidFill>
                <a:latin typeface="+mj-lt"/>
                <a:ea typeface="Calibri" pitchFamily="34" charset="-122"/>
                <a:cs typeface="Calibri" pitchFamily="34" charset="-120"/>
              </a:rPr>
              <a:t>Limitations &amp; Future Work</a:t>
            </a:r>
            <a:endParaRPr lang="en-US" sz="3600" dirty="0">
              <a:latin typeface="+mj-lt"/>
            </a:endParaRPr>
          </a:p>
        </p:txBody>
      </p:sp>
      <p:sp>
        <p:nvSpPr>
          <p:cNvPr id="5" name="Text 3">
            <a:extLst>
              <a:ext uri="{FF2B5EF4-FFF2-40B4-BE49-F238E27FC236}">
                <a16:creationId xmlns:a16="http://schemas.microsoft.com/office/drawing/2014/main" id="{4F02AA5E-F261-4256-1298-5328962A866F}"/>
              </a:ext>
            </a:extLst>
          </p:cNvPr>
          <p:cNvSpPr/>
          <p:nvPr/>
        </p:nvSpPr>
        <p:spPr>
          <a:xfrm>
            <a:off x="551688" y="1344168"/>
            <a:ext cx="4572000" cy="365760"/>
          </a:xfrm>
          <a:prstGeom prst="rect">
            <a:avLst/>
          </a:prstGeom>
          <a:noFill/>
          <a:ln/>
        </p:spPr>
        <p:txBody>
          <a:bodyPr wrap="square" lIns="0" tIns="0" rIns="0" bIns="0" rtlCol="0" anchor="ctr"/>
          <a:lstStyle/>
          <a:p>
            <a:pPr marL="0" indent="0">
              <a:buNone/>
            </a:pPr>
            <a:r>
              <a:rPr lang="en-US" sz="2400" b="1" dirty="0">
                <a:solidFill>
                  <a:srgbClr val="DC2626"/>
                </a:solidFill>
                <a:latin typeface="+mj-lt"/>
                <a:ea typeface="Calibri" pitchFamily="34" charset="-122"/>
                <a:cs typeface="Calibri" pitchFamily="34" charset="-120"/>
              </a:rPr>
              <a:t>Limitations</a:t>
            </a:r>
            <a:endParaRPr lang="en-US" sz="2400" dirty="0">
              <a:latin typeface="+mj-lt"/>
            </a:endParaRPr>
          </a:p>
        </p:txBody>
      </p:sp>
      <p:sp>
        <p:nvSpPr>
          <p:cNvPr id="6" name="Shape 4">
            <a:extLst>
              <a:ext uri="{FF2B5EF4-FFF2-40B4-BE49-F238E27FC236}">
                <a16:creationId xmlns:a16="http://schemas.microsoft.com/office/drawing/2014/main" id="{74364EDD-9AA3-4345-ABC5-C34F88AE4438}"/>
              </a:ext>
            </a:extLst>
          </p:cNvPr>
          <p:cNvSpPr/>
          <p:nvPr/>
        </p:nvSpPr>
        <p:spPr>
          <a:xfrm>
            <a:off x="734568" y="1828800"/>
            <a:ext cx="54864" cy="320040"/>
          </a:xfrm>
          <a:prstGeom prst="rect">
            <a:avLst/>
          </a:prstGeom>
          <a:solidFill>
            <a:srgbClr val="DC2626"/>
          </a:solidFill>
          <a:ln/>
        </p:spPr>
        <p:txBody>
          <a:bodyPr/>
          <a:lstStyle/>
          <a:p>
            <a:endParaRPr lang="en-US" sz="2400">
              <a:latin typeface="+mj-lt"/>
            </a:endParaRPr>
          </a:p>
        </p:txBody>
      </p:sp>
      <p:sp>
        <p:nvSpPr>
          <p:cNvPr id="7" name="Text 5">
            <a:extLst>
              <a:ext uri="{FF2B5EF4-FFF2-40B4-BE49-F238E27FC236}">
                <a16:creationId xmlns:a16="http://schemas.microsoft.com/office/drawing/2014/main" id="{4E41894D-5BBC-169A-5F9B-818CD76658FE}"/>
              </a:ext>
            </a:extLst>
          </p:cNvPr>
          <p:cNvSpPr/>
          <p:nvPr/>
        </p:nvSpPr>
        <p:spPr>
          <a:xfrm>
            <a:off x="1008888" y="1801368"/>
            <a:ext cx="41148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Large-small vessel gap persists</a:t>
            </a:r>
            <a:endParaRPr lang="en-US" dirty="0">
              <a:latin typeface="+mj-lt"/>
            </a:endParaRPr>
          </a:p>
        </p:txBody>
      </p:sp>
      <p:sp>
        <p:nvSpPr>
          <p:cNvPr id="8" name="Text 6">
            <a:extLst>
              <a:ext uri="{FF2B5EF4-FFF2-40B4-BE49-F238E27FC236}">
                <a16:creationId xmlns:a16="http://schemas.microsoft.com/office/drawing/2014/main" id="{97F3D329-7945-6A7D-C0E2-ED0E511110A2}"/>
              </a:ext>
            </a:extLst>
          </p:cNvPr>
          <p:cNvSpPr/>
          <p:nvPr/>
        </p:nvSpPr>
        <p:spPr>
          <a:xfrm>
            <a:off x="1008888" y="2075688"/>
            <a:ext cx="45720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&gt;0.33 DSC across all models</a:t>
            </a:r>
            <a:endParaRPr lang="en-US" sz="1600" dirty="0">
              <a:latin typeface="+mj-lt"/>
            </a:endParaRPr>
          </a:p>
        </p:txBody>
      </p:sp>
      <p:sp>
        <p:nvSpPr>
          <p:cNvPr id="9" name="Shape 7">
            <a:extLst>
              <a:ext uri="{FF2B5EF4-FFF2-40B4-BE49-F238E27FC236}">
                <a16:creationId xmlns:a16="http://schemas.microsoft.com/office/drawing/2014/main" id="{ED42F256-352E-65FD-4B3B-7B1A605D4B90}"/>
              </a:ext>
            </a:extLst>
          </p:cNvPr>
          <p:cNvSpPr/>
          <p:nvPr/>
        </p:nvSpPr>
        <p:spPr>
          <a:xfrm>
            <a:off x="734568" y="2468880"/>
            <a:ext cx="54864" cy="320040"/>
          </a:xfrm>
          <a:prstGeom prst="rect">
            <a:avLst/>
          </a:prstGeom>
          <a:solidFill>
            <a:srgbClr val="DC2626"/>
          </a:solidFill>
          <a:ln/>
        </p:spPr>
        <p:txBody>
          <a:bodyPr/>
          <a:lstStyle/>
          <a:p>
            <a:endParaRPr lang="en-US" sz="2400">
              <a:latin typeface="+mj-lt"/>
            </a:endParaRPr>
          </a:p>
        </p:txBody>
      </p:sp>
      <p:sp>
        <p:nvSpPr>
          <p:cNvPr id="10" name="Text 8">
            <a:extLst>
              <a:ext uri="{FF2B5EF4-FFF2-40B4-BE49-F238E27FC236}">
                <a16:creationId xmlns:a16="http://schemas.microsoft.com/office/drawing/2014/main" id="{766FD9DE-3BC4-657A-D2D1-33634DF56C04}"/>
              </a:ext>
            </a:extLst>
          </p:cNvPr>
          <p:cNvSpPr/>
          <p:nvPr/>
        </p:nvSpPr>
        <p:spPr>
          <a:xfrm>
            <a:off x="1008888" y="2441448"/>
            <a:ext cx="41148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Skeleton Recall over-fragments</a:t>
            </a:r>
            <a:endParaRPr lang="en-US" dirty="0">
              <a:latin typeface="+mj-lt"/>
            </a:endParaRPr>
          </a:p>
        </p:txBody>
      </p:sp>
      <p:sp>
        <p:nvSpPr>
          <p:cNvPr id="11" name="Text 9">
            <a:extLst>
              <a:ext uri="{FF2B5EF4-FFF2-40B4-BE49-F238E27FC236}">
                <a16:creationId xmlns:a16="http://schemas.microsoft.com/office/drawing/2014/main" id="{C6F86084-6969-AE67-E735-47702F98F37C}"/>
              </a:ext>
            </a:extLst>
          </p:cNvPr>
          <p:cNvSpPr/>
          <p:nvPr/>
        </p:nvSpPr>
        <p:spPr>
          <a:xfrm>
            <a:off x="1008888" y="2715768"/>
            <a:ext cx="45720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Betti-0 error 26.84 needs post-processing</a:t>
            </a:r>
            <a:endParaRPr lang="en-US" sz="1600" dirty="0">
              <a:latin typeface="+mj-lt"/>
            </a:endParaRPr>
          </a:p>
        </p:txBody>
      </p:sp>
      <p:sp>
        <p:nvSpPr>
          <p:cNvPr id="12" name="Shape 10">
            <a:extLst>
              <a:ext uri="{FF2B5EF4-FFF2-40B4-BE49-F238E27FC236}">
                <a16:creationId xmlns:a16="http://schemas.microsoft.com/office/drawing/2014/main" id="{739C4C02-B0E3-7D0C-46B6-E129D320423B}"/>
              </a:ext>
            </a:extLst>
          </p:cNvPr>
          <p:cNvSpPr/>
          <p:nvPr/>
        </p:nvSpPr>
        <p:spPr>
          <a:xfrm>
            <a:off x="734568" y="3108960"/>
            <a:ext cx="54864" cy="320040"/>
          </a:xfrm>
          <a:prstGeom prst="rect">
            <a:avLst/>
          </a:prstGeom>
          <a:solidFill>
            <a:srgbClr val="DC2626"/>
          </a:solidFill>
          <a:ln/>
        </p:spPr>
        <p:txBody>
          <a:bodyPr/>
          <a:lstStyle/>
          <a:p>
            <a:endParaRPr lang="en-US" sz="2400">
              <a:latin typeface="+mj-lt"/>
            </a:endParaRPr>
          </a:p>
        </p:txBody>
      </p:sp>
      <p:sp>
        <p:nvSpPr>
          <p:cNvPr id="13" name="Text 11">
            <a:extLst>
              <a:ext uri="{FF2B5EF4-FFF2-40B4-BE49-F238E27FC236}">
                <a16:creationId xmlns:a16="http://schemas.microsoft.com/office/drawing/2014/main" id="{439A0783-8279-DCF9-900F-14B956024000}"/>
              </a:ext>
            </a:extLst>
          </p:cNvPr>
          <p:cNvSpPr/>
          <p:nvPr/>
        </p:nvSpPr>
        <p:spPr>
          <a:xfrm>
            <a:off x="1008888" y="3081528"/>
            <a:ext cx="41148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HU window [0, 600]</a:t>
            </a:r>
            <a:endParaRPr lang="en-US" dirty="0">
              <a:latin typeface="+mj-lt"/>
            </a:endParaRPr>
          </a:p>
        </p:txBody>
      </p:sp>
      <p:sp>
        <p:nvSpPr>
          <p:cNvPr id="14" name="Text 12">
            <a:extLst>
              <a:ext uri="{FF2B5EF4-FFF2-40B4-BE49-F238E27FC236}">
                <a16:creationId xmlns:a16="http://schemas.microsoft.com/office/drawing/2014/main" id="{8D0C7CF4-2987-27E3-B8AE-55E7F9CDEA9B}"/>
              </a:ext>
            </a:extLst>
          </p:cNvPr>
          <p:cNvSpPr/>
          <p:nvPr/>
        </p:nvSpPr>
        <p:spPr>
          <a:xfrm>
            <a:off x="1008888" y="3355848"/>
            <a:ext cx="45720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Clips bone to same range as vessels → false positives</a:t>
            </a:r>
            <a:endParaRPr lang="en-US" sz="1600" dirty="0">
              <a:latin typeface="+mj-lt"/>
            </a:endParaRPr>
          </a:p>
        </p:txBody>
      </p:sp>
      <p:sp>
        <p:nvSpPr>
          <p:cNvPr id="15" name="Text 13">
            <a:extLst>
              <a:ext uri="{FF2B5EF4-FFF2-40B4-BE49-F238E27FC236}">
                <a16:creationId xmlns:a16="http://schemas.microsoft.com/office/drawing/2014/main" id="{48F88A3A-DD83-9A08-6653-DDFA0E7BFA17}"/>
              </a:ext>
            </a:extLst>
          </p:cNvPr>
          <p:cNvSpPr/>
          <p:nvPr/>
        </p:nvSpPr>
        <p:spPr>
          <a:xfrm>
            <a:off x="6220968" y="1344168"/>
            <a:ext cx="4572000" cy="365760"/>
          </a:xfrm>
          <a:prstGeom prst="rect">
            <a:avLst/>
          </a:prstGeom>
          <a:noFill/>
          <a:ln/>
        </p:spPr>
        <p:txBody>
          <a:bodyPr wrap="square" lIns="0" tIns="0" rIns="0" bIns="0" rtlCol="0" anchor="ctr"/>
          <a:lstStyle/>
          <a:p>
            <a:pPr marL="0" indent="0">
              <a:buNone/>
            </a:pPr>
            <a:r>
              <a:rPr lang="en-US" sz="2400" b="1" dirty="0">
                <a:solidFill>
                  <a:srgbClr val="059669"/>
                </a:solidFill>
                <a:latin typeface="+mj-lt"/>
                <a:ea typeface="Calibri" pitchFamily="34" charset="-122"/>
                <a:cs typeface="Calibri" pitchFamily="34" charset="-120"/>
              </a:rPr>
              <a:t>Future Work</a:t>
            </a:r>
            <a:endParaRPr lang="en-US" sz="2400" dirty="0">
              <a:latin typeface="+mj-lt"/>
            </a:endParaRPr>
          </a:p>
        </p:txBody>
      </p:sp>
      <p:sp>
        <p:nvSpPr>
          <p:cNvPr id="16" name="Shape 14">
            <a:extLst>
              <a:ext uri="{FF2B5EF4-FFF2-40B4-BE49-F238E27FC236}">
                <a16:creationId xmlns:a16="http://schemas.microsoft.com/office/drawing/2014/main" id="{AFA59D41-9894-9A5C-50DA-7BEB0003EB84}"/>
              </a:ext>
            </a:extLst>
          </p:cNvPr>
          <p:cNvSpPr/>
          <p:nvPr/>
        </p:nvSpPr>
        <p:spPr>
          <a:xfrm>
            <a:off x="6403848" y="1828800"/>
            <a:ext cx="54864" cy="320040"/>
          </a:xfrm>
          <a:prstGeom prst="rect">
            <a:avLst/>
          </a:prstGeom>
          <a:solidFill>
            <a:srgbClr val="059669"/>
          </a:solidFill>
          <a:ln/>
        </p:spPr>
        <p:txBody>
          <a:bodyPr/>
          <a:lstStyle/>
          <a:p>
            <a:endParaRPr lang="en-US" sz="2400">
              <a:latin typeface="+mj-lt"/>
            </a:endParaRPr>
          </a:p>
        </p:txBody>
      </p:sp>
      <p:sp>
        <p:nvSpPr>
          <p:cNvPr id="17" name="Text 15">
            <a:extLst>
              <a:ext uri="{FF2B5EF4-FFF2-40B4-BE49-F238E27FC236}">
                <a16:creationId xmlns:a16="http://schemas.microsoft.com/office/drawing/2014/main" id="{AFEC1039-CF6C-74D8-DC3F-6237F0FC4EAA}"/>
              </a:ext>
            </a:extLst>
          </p:cNvPr>
          <p:cNvSpPr/>
          <p:nvPr/>
        </p:nvSpPr>
        <p:spPr>
          <a:xfrm>
            <a:off x="6678168" y="1801368"/>
            <a:ext cx="45720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Wider HU window [0, 1500]</a:t>
            </a:r>
            <a:endParaRPr lang="en-US" dirty="0">
              <a:latin typeface="+mj-lt"/>
            </a:endParaRPr>
          </a:p>
        </p:txBody>
      </p:sp>
      <p:sp>
        <p:nvSpPr>
          <p:cNvPr id="18" name="Text 16">
            <a:extLst>
              <a:ext uri="{FF2B5EF4-FFF2-40B4-BE49-F238E27FC236}">
                <a16:creationId xmlns:a16="http://schemas.microsoft.com/office/drawing/2014/main" id="{7CA67500-9B7D-538C-181D-488C5543E4E8}"/>
              </a:ext>
            </a:extLst>
          </p:cNvPr>
          <p:cNvSpPr/>
          <p:nvPr/>
        </p:nvSpPr>
        <p:spPr>
          <a:xfrm>
            <a:off x="6678168" y="2075688"/>
            <a:ext cx="50292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Separate bone from vessels — highest-impact fix</a:t>
            </a:r>
            <a:endParaRPr lang="en-US" sz="1600" dirty="0">
              <a:latin typeface="+mj-lt"/>
            </a:endParaRPr>
          </a:p>
        </p:txBody>
      </p:sp>
      <p:sp>
        <p:nvSpPr>
          <p:cNvPr id="19" name="Shape 17">
            <a:extLst>
              <a:ext uri="{FF2B5EF4-FFF2-40B4-BE49-F238E27FC236}">
                <a16:creationId xmlns:a16="http://schemas.microsoft.com/office/drawing/2014/main" id="{67A2F16F-8EDF-EEA0-A29F-F7B0702E93FF}"/>
              </a:ext>
            </a:extLst>
          </p:cNvPr>
          <p:cNvSpPr/>
          <p:nvPr/>
        </p:nvSpPr>
        <p:spPr>
          <a:xfrm>
            <a:off x="6403848" y="2468880"/>
            <a:ext cx="54864" cy="320040"/>
          </a:xfrm>
          <a:prstGeom prst="rect">
            <a:avLst/>
          </a:prstGeom>
          <a:solidFill>
            <a:srgbClr val="059669"/>
          </a:solidFill>
          <a:ln/>
        </p:spPr>
        <p:txBody>
          <a:bodyPr/>
          <a:lstStyle/>
          <a:p>
            <a:endParaRPr lang="en-US" sz="2400">
              <a:latin typeface="+mj-lt"/>
            </a:endParaRPr>
          </a:p>
        </p:txBody>
      </p:sp>
      <p:sp>
        <p:nvSpPr>
          <p:cNvPr id="20" name="Text 18">
            <a:extLst>
              <a:ext uri="{FF2B5EF4-FFF2-40B4-BE49-F238E27FC236}">
                <a16:creationId xmlns:a16="http://schemas.microsoft.com/office/drawing/2014/main" id="{4ABD7A4B-2F3F-0C09-489B-59F399109233}"/>
              </a:ext>
            </a:extLst>
          </p:cNvPr>
          <p:cNvSpPr/>
          <p:nvPr/>
        </p:nvSpPr>
        <p:spPr>
          <a:xfrm>
            <a:off x="6678168" y="2441448"/>
            <a:ext cx="45720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Class-balanced sampling</a:t>
            </a:r>
            <a:endParaRPr lang="en-US" dirty="0">
              <a:latin typeface="+mj-lt"/>
            </a:endParaRPr>
          </a:p>
        </p:txBody>
      </p:sp>
      <p:sp>
        <p:nvSpPr>
          <p:cNvPr id="21" name="Text 19">
            <a:extLst>
              <a:ext uri="{FF2B5EF4-FFF2-40B4-BE49-F238E27FC236}">
                <a16:creationId xmlns:a16="http://schemas.microsoft.com/office/drawing/2014/main" id="{2C0FE040-15B1-FAD8-A80A-B21D29AD6AF9}"/>
              </a:ext>
            </a:extLst>
          </p:cNvPr>
          <p:cNvSpPr/>
          <p:nvPr/>
        </p:nvSpPr>
        <p:spPr>
          <a:xfrm>
            <a:off x="6678168" y="2715768"/>
            <a:ext cx="50292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Focus on under-represented thin vessels</a:t>
            </a:r>
            <a:endParaRPr lang="en-US" sz="1600" dirty="0">
              <a:latin typeface="+mj-lt"/>
            </a:endParaRPr>
          </a:p>
        </p:txBody>
      </p:sp>
      <p:sp>
        <p:nvSpPr>
          <p:cNvPr id="22" name="Shape 20">
            <a:extLst>
              <a:ext uri="{FF2B5EF4-FFF2-40B4-BE49-F238E27FC236}">
                <a16:creationId xmlns:a16="http://schemas.microsoft.com/office/drawing/2014/main" id="{F7004B1C-B90E-8076-2CE0-C7D780B16AB1}"/>
              </a:ext>
            </a:extLst>
          </p:cNvPr>
          <p:cNvSpPr/>
          <p:nvPr/>
        </p:nvSpPr>
        <p:spPr>
          <a:xfrm>
            <a:off x="6403848" y="3108960"/>
            <a:ext cx="54864" cy="320040"/>
          </a:xfrm>
          <a:prstGeom prst="rect">
            <a:avLst/>
          </a:prstGeom>
          <a:solidFill>
            <a:srgbClr val="059669"/>
          </a:solidFill>
          <a:ln/>
        </p:spPr>
        <p:txBody>
          <a:bodyPr/>
          <a:lstStyle/>
          <a:p>
            <a:endParaRPr lang="en-US" sz="2400">
              <a:latin typeface="+mj-lt"/>
            </a:endParaRPr>
          </a:p>
        </p:txBody>
      </p:sp>
      <p:sp>
        <p:nvSpPr>
          <p:cNvPr id="23" name="Text 21">
            <a:extLst>
              <a:ext uri="{FF2B5EF4-FFF2-40B4-BE49-F238E27FC236}">
                <a16:creationId xmlns:a16="http://schemas.microsoft.com/office/drawing/2014/main" id="{A929A9CD-3DD1-B64E-D284-775068DB6FB2}"/>
              </a:ext>
            </a:extLst>
          </p:cNvPr>
          <p:cNvSpPr/>
          <p:nvPr/>
        </p:nvSpPr>
        <p:spPr>
          <a:xfrm>
            <a:off x="6678168" y="3081528"/>
            <a:ext cx="45720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Connected component filtering</a:t>
            </a:r>
            <a:endParaRPr lang="en-US" dirty="0">
              <a:latin typeface="+mj-lt"/>
            </a:endParaRPr>
          </a:p>
        </p:txBody>
      </p:sp>
      <p:sp>
        <p:nvSpPr>
          <p:cNvPr id="24" name="Text 22">
            <a:extLst>
              <a:ext uri="{FF2B5EF4-FFF2-40B4-BE49-F238E27FC236}">
                <a16:creationId xmlns:a16="http://schemas.microsoft.com/office/drawing/2014/main" id="{697B3029-F541-8B11-ACC9-22F1CF8EBA17}"/>
              </a:ext>
            </a:extLst>
          </p:cNvPr>
          <p:cNvSpPr/>
          <p:nvPr/>
        </p:nvSpPr>
        <p:spPr>
          <a:xfrm>
            <a:off x="6678168" y="3355848"/>
            <a:ext cx="50292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Remove small disconnected false positives</a:t>
            </a:r>
            <a:endParaRPr lang="en-US" sz="1600" dirty="0">
              <a:latin typeface="+mj-lt"/>
            </a:endParaRPr>
          </a:p>
        </p:txBody>
      </p:sp>
      <p:sp>
        <p:nvSpPr>
          <p:cNvPr id="25" name="Shape 23">
            <a:extLst>
              <a:ext uri="{FF2B5EF4-FFF2-40B4-BE49-F238E27FC236}">
                <a16:creationId xmlns:a16="http://schemas.microsoft.com/office/drawing/2014/main" id="{385A43DD-E972-E0F0-9C45-A036944F52C9}"/>
              </a:ext>
            </a:extLst>
          </p:cNvPr>
          <p:cNvSpPr/>
          <p:nvPr/>
        </p:nvSpPr>
        <p:spPr>
          <a:xfrm>
            <a:off x="6403848" y="3749040"/>
            <a:ext cx="54864" cy="320040"/>
          </a:xfrm>
          <a:prstGeom prst="rect">
            <a:avLst/>
          </a:prstGeom>
          <a:solidFill>
            <a:srgbClr val="059669"/>
          </a:solidFill>
          <a:ln/>
        </p:spPr>
        <p:txBody>
          <a:bodyPr/>
          <a:lstStyle/>
          <a:p>
            <a:endParaRPr lang="en-US" sz="2400">
              <a:latin typeface="+mj-lt"/>
            </a:endParaRPr>
          </a:p>
        </p:txBody>
      </p:sp>
      <p:sp>
        <p:nvSpPr>
          <p:cNvPr id="26" name="Text 24">
            <a:extLst>
              <a:ext uri="{FF2B5EF4-FFF2-40B4-BE49-F238E27FC236}">
                <a16:creationId xmlns:a16="http://schemas.microsoft.com/office/drawing/2014/main" id="{164C7913-2016-C369-4A48-C0C07192F635}"/>
              </a:ext>
            </a:extLst>
          </p:cNvPr>
          <p:cNvSpPr/>
          <p:nvPr/>
        </p:nvSpPr>
        <p:spPr>
          <a:xfrm>
            <a:off x="6678168" y="3721608"/>
            <a:ext cx="4572000" cy="274320"/>
          </a:xfrm>
          <a:prstGeom prst="rect">
            <a:avLst/>
          </a:prstGeom>
          <a:noFill/>
          <a:ln/>
        </p:spPr>
        <p:txBody>
          <a:bodyPr wrap="square" lIns="0" tIns="0" rIns="0" bIns="0" rtlCol="0" anchor="ctr"/>
          <a:lstStyle/>
          <a:p>
            <a:pPr marL="0" indent="0">
              <a:buNone/>
            </a:pPr>
            <a:r>
              <a:rPr lang="en-US" b="1" dirty="0">
                <a:solidFill>
                  <a:srgbClr val="1E293B"/>
                </a:solidFill>
                <a:latin typeface="+mj-lt"/>
                <a:ea typeface="Calibri" pitchFamily="34" charset="-122"/>
                <a:cs typeface="Calibri" pitchFamily="34" charset="-120"/>
              </a:rPr>
              <a:t>Retrain on corrected labels</a:t>
            </a:r>
            <a:endParaRPr lang="en-US" dirty="0">
              <a:latin typeface="+mj-lt"/>
            </a:endParaRPr>
          </a:p>
        </p:txBody>
      </p:sp>
      <p:sp>
        <p:nvSpPr>
          <p:cNvPr id="27" name="Text 25">
            <a:extLst>
              <a:ext uri="{FF2B5EF4-FFF2-40B4-BE49-F238E27FC236}">
                <a16:creationId xmlns:a16="http://schemas.microsoft.com/office/drawing/2014/main" id="{428F827E-3B87-CEA1-BE75-5F6184340600}"/>
              </a:ext>
            </a:extLst>
          </p:cNvPr>
          <p:cNvSpPr/>
          <p:nvPr/>
        </p:nvSpPr>
        <p:spPr>
          <a:xfrm>
            <a:off x="6678168" y="3995928"/>
            <a:ext cx="5029200" cy="274320"/>
          </a:xfrm>
          <a:prstGeom prst="rect">
            <a:avLst/>
          </a:prstGeom>
          <a:noFill/>
          <a:ln/>
        </p:spPr>
        <p:txBody>
          <a:bodyPr wrap="square" lIns="0" tIns="0" rIns="0" bIns="0" rtlCol="0" anchor="ctr"/>
          <a:lstStyle/>
          <a:p>
            <a:pPr marL="0" indent="0">
              <a:buNone/>
            </a:pPr>
            <a:r>
              <a:rPr lang="en-US" sz="1600" dirty="0">
                <a:solidFill>
                  <a:srgbClr val="64748B"/>
                </a:solidFill>
                <a:latin typeface="+mj-lt"/>
                <a:ea typeface="Calibri" pitchFamily="34" charset="-122"/>
                <a:cs typeface="Calibri" pitchFamily="34" charset="-120"/>
              </a:rPr>
              <a:t>50 model-assisted labeled CTAs on RedBrick AI</a:t>
            </a:r>
            <a:endParaRPr lang="en-US" sz="1600" dirty="0">
              <a:latin typeface="+mj-lt"/>
            </a:endParaRPr>
          </a:p>
        </p:txBody>
      </p:sp>
    </p:spTree>
    <p:extLst>
      <p:ext uri="{BB962C8B-B14F-4D97-AF65-F5344CB8AC3E}">
        <p14:creationId xmlns:p14="http://schemas.microsoft.com/office/powerpoint/2010/main" val="3374720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424DCCC-F45A-B416-897F-6826329ED993}"/>
              </a:ext>
            </a:extLst>
          </p:cNvPr>
          <p:cNvSpPr/>
          <p:nvPr/>
        </p:nvSpPr>
        <p:spPr>
          <a:xfrm>
            <a:off x="0" y="0"/>
            <a:ext cx="12188952" cy="54864"/>
          </a:xfrm>
          <a:prstGeom prst="rect">
            <a:avLst/>
          </a:prstGeom>
          <a:solidFill>
            <a:srgbClr val="0077B6"/>
          </a:solidFill>
          <a:ln/>
        </p:spPr>
        <p:txBody>
          <a:bodyPr/>
          <a:lstStyle/>
          <a:p>
            <a:endParaRPr lang="en-US">
              <a:latin typeface="+mj-lt"/>
            </a:endParaRPr>
          </a:p>
        </p:txBody>
      </p:sp>
      <p:sp>
        <p:nvSpPr>
          <p:cNvPr id="4" name="Text 2">
            <a:extLst>
              <a:ext uri="{FF2B5EF4-FFF2-40B4-BE49-F238E27FC236}">
                <a16:creationId xmlns:a16="http://schemas.microsoft.com/office/drawing/2014/main" id="{F7CE40D1-6317-5928-9401-1D300064A9C2}"/>
              </a:ext>
            </a:extLst>
          </p:cNvPr>
          <p:cNvSpPr/>
          <p:nvPr/>
        </p:nvSpPr>
        <p:spPr>
          <a:xfrm>
            <a:off x="548640" y="548640"/>
            <a:ext cx="10058400" cy="640080"/>
          </a:xfrm>
          <a:prstGeom prst="rect">
            <a:avLst/>
          </a:prstGeom>
          <a:noFill/>
          <a:ln/>
        </p:spPr>
        <p:txBody>
          <a:bodyPr wrap="square" lIns="0" tIns="0" rIns="0" bIns="0" rtlCol="0" anchor="ctr"/>
          <a:lstStyle/>
          <a:p>
            <a:pPr marL="0" indent="0">
              <a:buNone/>
            </a:pPr>
            <a:r>
              <a:rPr lang="en-US" sz="3000" b="1" dirty="0">
                <a:solidFill>
                  <a:srgbClr val="1E293B"/>
                </a:solidFill>
                <a:latin typeface="+mj-lt"/>
                <a:ea typeface="Calibri" pitchFamily="34" charset="-122"/>
                <a:cs typeface="Calibri" pitchFamily="34" charset="-120"/>
              </a:rPr>
              <a:t>Conclusion</a:t>
            </a:r>
            <a:endParaRPr lang="en-US" sz="3000" dirty="0">
              <a:latin typeface="+mj-lt"/>
            </a:endParaRPr>
          </a:p>
        </p:txBody>
      </p:sp>
      <p:sp>
        <p:nvSpPr>
          <p:cNvPr id="5" name="Shape 3">
            <a:extLst>
              <a:ext uri="{FF2B5EF4-FFF2-40B4-BE49-F238E27FC236}">
                <a16:creationId xmlns:a16="http://schemas.microsoft.com/office/drawing/2014/main" id="{4E92166B-5CF8-6827-EA96-A5D5D3BAFA0D}"/>
              </a:ext>
            </a:extLst>
          </p:cNvPr>
          <p:cNvSpPr/>
          <p:nvPr/>
        </p:nvSpPr>
        <p:spPr>
          <a:xfrm>
            <a:off x="731520" y="1417320"/>
            <a:ext cx="54864" cy="365760"/>
          </a:xfrm>
          <a:prstGeom prst="rect">
            <a:avLst/>
          </a:prstGeom>
          <a:solidFill>
            <a:srgbClr val="0077B6"/>
          </a:solidFill>
          <a:ln/>
        </p:spPr>
        <p:txBody>
          <a:bodyPr/>
          <a:lstStyle/>
          <a:p>
            <a:endParaRPr lang="en-US">
              <a:latin typeface="+mj-lt"/>
            </a:endParaRPr>
          </a:p>
        </p:txBody>
      </p:sp>
      <p:sp>
        <p:nvSpPr>
          <p:cNvPr id="6" name="Text 4">
            <a:extLst>
              <a:ext uri="{FF2B5EF4-FFF2-40B4-BE49-F238E27FC236}">
                <a16:creationId xmlns:a16="http://schemas.microsoft.com/office/drawing/2014/main" id="{0D91E939-1B96-4D23-B8EC-DC72CE81B866}"/>
              </a:ext>
            </a:extLst>
          </p:cNvPr>
          <p:cNvSpPr/>
          <p:nvPr/>
        </p:nvSpPr>
        <p:spPr>
          <a:xfrm>
            <a:off x="1005840" y="1371600"/>
            <a:ext cx="10515600" cy="411480"/>
          </a:xfrm>
          <a:prstGeom prst="rect">
            <a:avLst/>
          </a:prstGeom>
          <a:noFill/>
          <a:ln/>
        </p:spPr>
        <p:txBody>
          <a:bodyPr wrap="square" lIns="0" tIns="0" rIns="0" bIns="0" rtlCol="0" anchor="ctr"/>
          <a:lstStyle/>
          <a:p>
            <a:pPr marL="0" indent="0">
              <a:buNone/>
            </a:pPr>
            <a:r>
              <a:rPr lang="en-US" sz="1800" b="1" dirty="0">
                <a:solidFill>
                  <a:srgbClr val="1E293B"/>
                </a:solidFill>
                <a:latin typeface="+mj-lt"/>
                <a:ea typeface="Calibri" pitchFamily="34" charset="-122"/>
                <a:cs typeface="Calibri" pitchFamily="34" charset="-120"/>
              </a:rPr>
              <a:t>Controlled ablation on identical hardware</a:t>
            </a:r>
            <a:endParaRPr lang="en-US" sz="1800" dirty="0">
              <a:latin typeface="+mj-lt"/>
            </a:endParaRPr>
          </a:p>
        </p:txBody>
      </p:sp>
      <p:sp>
        <p:nvSpPr>
          <p:cNvPr id="7" name="Text 5">
            <a:extLst>
              <a:ext uri="{FF2B5EF4-FFF2-40B4-BE49-F238E27FC236}">
                <a16:creationId xmlns:a16="http://schemas.microsoft.com/office/drawing/2014/main" id="{5ED7A0A1-605D-1B7F-1621-7A9D35FFC754}"/>
              </a:ext>
            </a:extLst>
          </p:cNvPr>
          <p:cNvSpPr/>
          <p:nvPr/>
        </p:nvSpPr>
        <p:spPr>
          <a:xfrm>
            <a:off x="1280160" y="1783080"/>
            <a:ext cx="10241280" cy="365760"/>
          </a:xfrm>
          <a:prstGeom prst="rect">
            <a:avLst/>
          </a:prstGeom>
          <a:noFill/>
          <a:ln/>
        </p:spPr>
        <p:txBody>
          <a:bodyPr wrap="square" lIns="0" tIns="0" rIns="0" bIns="0" rtlCol="0" anchor="ctr"/>
          <a:lstStyle/>
          <a:p>
            <a:pPr marL="0" indent="0">
              <a:buNone/>
            </a:pPr>
            <a:r>
              <a:rPr lang="en-US" sz="1300" dirty="0">
                <a:solidFill>
                  <a:srgbClr val="64748B"/>
                </a:solidFill>
                <a:latin typeface="+mj-lt"/>
                <a:ea typeface="Calibri" pitchFamily="34" charset="-122"/>
                <a:cs typeface="Calibri" pitchFamily="34" charset="-120"/>
              </a:rPr>
              <a:t>3 loss functions, same 3D U-Net, same 8× A100 configuration</a:t>
            </a:r>
            <a:endParaRPr lang="en-US" sz="1300" dirty="0">
              <a:latin typeface="+mj-lt"/>
            </a:endParaRPr>
          </a:p>
        </p:txBody>
      </p:sp>
      <p:sp>
        <p:nvSpPr>
          <p:cNvPr id="8" name="Shape 6">
            <a:extLst>
              <a:ext uri="{FF2B5EF4-FFF2-40B4-BE49-F238E27FC236}">
                <a16:creationId xmlns:a16="http://schemas.microsoft.com/office/drawing/2014/main" id="{8BE5FA97-821B-1159-A092-B6DDE67744B5}"/>
              </a:ext>
            </a:extLst>
          </p:cNvPr>
          <p:cNvSpPr/>
          <p:nvPr/>
        </p:nvSpPr>
        <p:spPr>
          <a:xfrm>
            <a:off x="731520" y="2377440"/>
            <a:ext cx="54864" cy="365760"/>
          </a:xfrm>
          <a:prstGeom prst="rect">
            <a:avLst/>
          </a:prstGeom>
          <a:solidFill>
            <a:srgbClr val="D97706"/>
          </a:solidFill>
          <a:ln/>
        </p:spPr>
        <p:txBody>
          <a:bodyPr/>
          <a:lstStyle/>
          <a:p>
            <a:endParaRPr lang="en-US">
              <a:latin typeface="+mj-lt"/>
            </a:endParaRPr>
          </a:p>
        </p:txBody>
      </p:sp>
      <p:sp>
        <p:nvSpPr>
          <p:cNvPr id="9" name="Text 7">
            <a:extLst>
              <a:ext uri="{FF2B5EF4-FFF2-40B4-BE49-F238E27FC236}">
                <a16:creationId xmlns:a16="http://schemas.microsoft.com/office/drawing/2014/main" id="{0DC4C1AC-7A83-9AFD-CFB7-041C64FC5665}"/>
              </a:ext>
            </a:extLst>
          </p:cNvPr>
          <p:cNvSpPr/>
          <p:nvPr/>
        </p:nvSpPr>
        <p:spPr>
          <a:xfrm>
            <a:off x="1005840" y="2331720"/>
            <a:ext cx="10515600" cy="411480"/>
          </a:xfrm>
          <a:prstGeom prst="rect">
            <a:avLst/>
          </a:prstGeom>
          <a:noFill/>
          <a:ln/>
        </p:spPr>
        <p:txBody>
          <a:bodyPr wrap="square" lIns="0" tIns="0" rIns="0" bIns="0" rtlCol="0" anchor="ctr"/>
          <a:lstStyle/>
          <a:p>
            <a:pPr marL="0" indent="0">
              <a:buNone/>
            </a:pPr>
            <a:r>
              <a:rPr lang="en-US" sz="1800" b="1" dirty="0">
                <a:solidFill>
                  <a:srgbClr val="1E293B"/>
                </a:solidFill>
                <a:latin typeface="+mj-lt"/>
                <a:ea typeface="Calibri" pitchFamily="34" charset="-122"/>
                <a:cs typeface="Calibri" pitchFamily="34" charset="-120"/>
              </a:rPr>
              <a:t>clDice = best aggregate model</a:t>
            </a:r>
            <a:endParaRPr lang="en-US" sz="1800" dirty="0">
              <a:latin typeface="+mj-lt"/>
            </a:endParaRPr>
          </a:p>
        </p:txBody>
      </p:sp>
      <p:sp>
        <p:nvSpPr>
          <p:cNvPr id="10" name="Text 8">
            <a:extLst>
              <a:ext uri="{FF2B5EF4-FFF2-40B4-BE49-F238E27FC236}">
                <a16:creationId xmlns:a16="http://schemas.microsoft.com/office/drawing/2014/main" id="{E678A5F7-5509-2BFB-A0FF-342E5B6F402A}"/>
              </a:ext>
            </a:extLst>
          </p:cNvPr>
          <p:cNvSpPr/>
          <p:nvPr/>
        </p:nvSpPr>
        <p:spPr>
          <a:xfrm>
            <a:off x="1280160" y="2743200"/>
            <a:ext cx="10241280" cy="365760"/>
          </a:xfrm>
          <a:prstGeom prst="rect">
            <a:avLst/>
          </a:prstGeom>
          <a:noFill/>
          <a:ln/>
        </p:spPr>
        <p:txBody>
          <a:bodyPr wrap="square" lIns="0" tIns="0" rIns="0" bIns="0" rtlCol="0" anchor="ctr"/>
          <a:lstStyle/>
          <a:p>
            <a:pPr marL="0" indent="0">
              <a:buNone/>
            </a:pPr>
            <a:r>
              <a:rPr lang="en-US" sz="1300" dirty="0">
                <a:solidFill>
                  <a:srgbClr val="64748B"/>
                </a:solidFill>
                <a:latin typeface="+mj-lt"/>
                <a:ea typeface="Calibri" pitchFamily="34" charset="-122"/>
                <a:cs typeface="Calibri" pitchFamily="34" charset="-120"/>
              </a:rPr>
              <a:t>DSC 0.864, lowest Betti-0 error 3.72, best topological precision</a:t>
            </a:r>
            <a:endParaRPr lang="en-US" sz="1300" dirty="0">
              <a:latin typeface="+mj-lt"/>
            </a:endParaRPr>
          </a:p>
        </p:txBody>
      </p:sp>
      <p:sp>
        <p:nvSpPr>
          <p:cNvPr id="11" name="Shape 9">
            <a:extLst>
              <a:ext uri="{FF2B5EF4-FFF2-40B4-BE49-F238E27FC236}">
                <a16:creationId xmlns:a16="http://schemas.microsoft.com/office/drawing/2014/main" id="{05453418-5BF2-ACB4-EC3D-7545A41658FC}"/>
              </a:ext>
            </a:extLst>
          </p:cNvPr>
          <p:cNvSpPr/>
          <p:nvPr/>
        </p:nvSpPr>
        <p:spPr>
          <a:xfrm>
            <a:off x="731520" y="3337560"/>
            <a:ext cx="54864" cy="365760"/>
          </a:xfrm>
          <a:prstGeom prst="rect">
            <a:avLst/>
          </a:prstGeom>
          <a:solidFill>
            <a:srgbClr val="059669"/>
          </a:solidFill>
          <a:ln/>
        </p:spPr>
        <p:txBody>
          <a:bodyPr/>
          <a:lstStyle/>
          <a:p>
            <a:endParaRPr lang="en-US">
              <a:latin typeface="+mj-lt"/>
            </a:endParaRPr>
          </a:p>
        </p:txBody>
      </p:sp>
      <p:sp>
        <p:nvSpPr>
          <p:cNvPr id="12" name="Text 10">
            <a:extLst>
              <a:ext uri="{FF2B5EF4-FFF2-40B4-BE49-F238E27FC236}">
                <a16:creationId xmlns:a16="http://schemas.microsoft.com/office/drawing/2014/main" id="{187AE5E1-0408-4BD0-E732-134B9893DCE2}"/>
              </a:ext>
            </a:extLst>
          </p:cNvPr>
          <p:cNvSpPr/>
          <p:nvPr/>
        </p:nvSpPr>
        <p:spPr>
          <a:xfrm>
            <a:off x="1005840" y="3291840"/>
            <a:ext cx="10515600" cy="411480"/>
          </a:xfrm>
          <a:prstGeom prst="rect">
            <a:avLst/>
          </a:prstGeom>
          <a:noFill/>
          <a:ln/>
        </p:spPr>
        <p:txBody>
          <a:bodyPr wrap="square" lIns="0" tIns="0" rIns="0" bIns="0" rtlCol="0" anchor="ctr"/>
          <a:lstStyle/>
          <a:p>
            <a:pPr marL="0" indent="0">
              <a:buNone/>
            </a:pPr>
            <a:r>
              <a:rPr lang="en-US" sz="1800" b="1" dirty="0">
                <a:solidFill>
                  <a:srgbClr val="1E293B"/>
                </a:solidFill>
                <a:latin typeface="+mj-lt"/>
                <a:ea typeface="Calibri" pitchFamily="34" charset="-122"/>
                <a:cs typeface="Calibri" pitchFamily="34" charset="-120"/>
              </a:rPr>
              <a:t>Skeleton Recall = best thin-vessel transfer</a:t>
            </a:r>
            <a:endParaRPr lang="en-US" sz="1800" dirty="0">
              <a:latin typeface="+mj-lt"/>
            </a:endParaRPr>
          </a:p>
        </p:txBody>
      </p:sp>
      <p:sp>
        <p:nvSpPr>
          <p:cNvPr id="13" name="Text 11">
            <a:extLst>
              <a:ext uri="{FF2B5EF4-FFF2-40B4-BE49-F238E27FC236}">
                <a16:creationId xmlns:a16="http://schemas.microsoft.com/office/drawing/2014/main" id="{12FE78E4-78FC-87CC-A891-A8C44D1FB34A}"/>
              </a:ext>
            </a:extLst>
          </p:cNvPr>
          <p:cNvSpPr/>
          <p:nvPr/>
        </p:nvSpPr>
        <p:spPr>
          <a:xfrm>
            <a:off x="1280160" y="3703320"/>
            <a:ext cx="10241280" cy="365760"/>
          </a:xfrm>
          <a:prstGeom prst="rect">
            <a:avLst/>
          </a:prstGeom>
          <a:noFill/>
          <a:ln/>
        </p:spPr>
        <p:txBody>
          <a:bodyPr wrap="square" lIns="0" tIns="0" rIns="0" bIns="0" rtlCol="0" anchor="ctr"/>
          <a:lstStyle/>
          <a:p>
            <a:pPr marL="0" indent="0">
              <a:buNone/>
            </a:pPr>
            <a:r>
              <a:rPr lang="en-US" sz="1300" dirty="0">
                <a:solidFill>
                  <a:srgbClr val="64748B"/>
                </a:solidFill>
                <a:latin typeface="+mj-lt"/>
                <a:ea typeface="Calibri" pitchFamily="34" charset="-122"/>
                <a:cs typeface="Calibri" pitchFamily="34" charset="-120"/>
              </a:rPr>
              <a:t>+5–7 pts on Pcom, 0.589 on small arteries vs zero for alternatives</a:t>
            </a:r>
            <a:endParaRPr lang="en-US" sz="1300" dirty="0">
              <a:latin typeface="+mj-lt"/>
            </a:endParaRPr>
          </a:p>
        </p:txBody>
      </p:sp>
      <p:sp>
        <p:nvSpPr>
          <p:cNvPr id="14" name="Shape 12">
            <a:extLst>
              <a:ext uri="{FF2B5EF4-FFF2-40B4-BE49-F238E27FC236}">
                <a16:creationId xmlns:a16="http://schemas.microsoft.com/office/drawing/2014/main" id="{347C5529-371E-4971-7DA0-ABE790804DD5}"/>
              </a:ext>
            </a:extLst>
          </p:cNvPr>
          <p:cNvSpPr/>
          <p:nvPr/>
        </p:nvSpPr>
        <p:spPr>
          <a:xfrm>
            <a:off x="731520" y="4297680"/>
            <a:ext cx="54864" cy="365760"/>
          </a:xfrm>
          <a:prstGeom prst="rect">
            <a:avLst/>
          </a:prstGeom>
          <a:solidFill>
            <a:srgbClr val="0077B6"/>
          </a:solidFill>
          <a:ln/>
        </p:spPr>
        <p:txBody>
          <a:bodyPr/>
          <a:lstStyle/>
          <a:p>
            <a:endParaRPr lang="en-US">
              <a:latin typeface="+mj-lt"/>
            </a:endParaRPr>
          </a:p>
        </p:txBody>
      </p:sp>
      <p:sp>
        <p:nvSpPr>
          <p:cNvPr id="15" name="Text 13">
            <a:extLst>
              <a:ext uri="{FF2B5EF4-FFF2-40B4-BE49-F238E27FC236}">
                <a16:creationId xmlns:a16="http://schemas.microsoft.com/office/drawing/2014/main" id="{F2C998D4-9E5E-AC1F-FD79-2983C036272D}"/>
              </a:ext>
            </a:extLst>
          </p:cNvPr>
          <p:cNvSpPr/>
          <p:nvPr/>
        </p:nvSpPr>
        <p:spPr>
          <a:xfrm>
            <a:off x="1005840" y="4251960"/>
            <a:ext cx="10515600" cy="411480"/>
          </a:xfrm>
          <a:prstGeom prst="rect">
            <a:avLst/>
          </a:prstGeom>
          <a:noFill/>
          <a:ln/>
        </p:spPr>
        <p:txBody>
          <a:bodyPr wrap="square" lIns="0" tIns="0" rIns="0" bIns="0" rtlCol="0" anchor="ctr"/>
          <a:lstStyle/>
          <a:p>
            <a:pPr marL="0" indent="0">
              <a:buNone/>
            </a:pPr>
            <a:r>
              <a:rPr lang="en-US" sz="1800" b="1" dirty="0">
                <a:solidFill>
                  <a:srgbClr val="1E293B"/>
                </a:solidFill>
                <a:latin typeface="+mj-lt"/>
                <a:ea typeface="Calibri" pitchFamily="34" charset="-122"/>
                <a:cs typeface="Calibri" pitchFamily="34" charset="-120"/>
              </a:rPr>
              <a:t>Topology-aware pretraining creates better representations</a:t>
            </a:r>
            <a:endParaRPr lang="en-US" sz="1800" dirty="0">
              <a:latin typeface="+mj-lt"/>
            </a:endParaRPr>
          </a:p>
        </p:txBody>
      </p:sp>
      <p:sp>
        <p:nvSpPr>
          <p:cNvPr id="16" name="Text 14">
            <a:extLst>
              <a:ext uri="{FF2B5EF4-FFF2-40B4-BE49-F238E27FC236}">
                <a16:creationId xmlns:a16="http://schemas.microsoft.com/office/drawing/2014/main" id="{F9E586DE-3E82-0EAA-A028-599A315FED1B}"/>
              </a:ext>
            </a:extLst>
          </p:cNvPr>
          <p:cNvSpPr/>
          <p:nvPr/>
        </p:nvSpPr>
        <p:spPr>
          <a:xfrm>
            <a:off x="1280160" y="4663440"/>
            <a:ext cx="10241280" cy="365760"/>
          </a:xfrm>
          <a:prstGeom prst="rect">
            <a:avLst/>
          </a:prstGeom>
          <a:noFill/>
          <a:ln/>
        </p:spPr>
        <p:txBody>
          <a:bodyPr wrap="square" lIns="0" tIns="0" rIns="0" bIns="0" rtlCol="0" anchor="ctr"/>
          <a:lstStyle/>
          <a:p>
            <a:pPr marL="0" indent="0">
              <a:buNone/>
            </a:pPr>
            <a:r>
              <a:rPr lang="en-US" sz="1300" dirty="0">
                <a:solidFill>
                  <a:srgbClr val="64748B"/>
                </a:solidFill>
                <a:latin typeface="+mj-lt"/>
                <a:ea typeface="Calibri" pitchFamily="34" charset="-122"/>
                <a:cs typeface="Calibri" pitchFamily="34" charset="-120"/>
              </a:rPr>
              <a:t>Loss function during pretraining shapes how well coverage transfers to thinnest structures</a:t>
            </a:r>
            <a:endParaRPr lang="en-US" sz="1300" dirty="0">
              <a:latin typeface="+mj-lt"/>
            </a:endParaRPr>
          </a:p>
        </p:txBody>
      </p:sp>
      <p:sp>
        <p:nvSpPr>
          <p:cNvPr id="17" name="Shape 15">
            <a:extLst>
              <a:ext uri="{FF2B5EF4-FFF2-40B4-BE49-F238E27FC236}">
                <a16:creationId xmlns:a16="http://schemas.microsoft.com/office/drawing/2014/main" id="{BDE9ED5B-9D05-0D64-EF8C-93D3B3875ED4}"/>
              </a:ext>
            </a:extLst>
          </p:cNvPr>
          <p:cNvSpPr/>
          <p:nvPr/>
        </p:nvSpPr>
        <p:spPr>
          <a:xfrm>
            <a:off x="731520" y="5257800"/>
            <a:ext cx="54864" cy="365760"/>
          </a:xfrm>
          <a:prstGeom prst="rect">
            <a:avLst/>
          </a:prstGeom>
          <a:solidFill>
            <a:srgbClr val="B8860B"/>
          </a:solidFill>
          <a:ln/>
        </p:spPr>
        <p:txBody>
          <a:bodyPr/>
          <a:lstStyle/>
          <a:p>
            <a:endParaRPr lang="en-US">
              <a:latin typeface="+mj-lt"/>
            </a:endParaRPr>
          </a:p>
        </p:txBody>
      </p:sp>
      <p:sp>
        <p:nvSpPr>
          <p:cNvPr id="18" name="Text 16">
            <a:extLst>
              <a:ext uri="{FF2B5EF4-FFF2-40B4-BE49-F238E27FC236}">
                <a16:creationId xmlns:a16="http://schemas.microsoft.com/office/drawing/2014/main" id="{019F9813-3451-D700-A822-551801F29C37}"/>
              </a:ext>
            </a:extLst>
          </p:cNvPr>
          <p:cNvSpPr/>
          <p:nvPr/>
        </p:nvSpPr>
        <p:spPr>
          <a:xfrm>
            <a:off x="1005840" y="5212080"/>
            <a:ext cx="10515600" cy="411480"/>
          </a:xfrm>
          <a:prstGeom prst="rect">
            <a:avLst/>
          </a:prstGeom>
          <a:noFill/>
          <a:ln/>
        </p:spPr>
        <p:txBody>
          <a:bodyPr wrap="square" lIns="0" tIns="0" rIns="0" bIns="0" rtlCol="0" anchor="ctr"/>
          <a:lstStyle/>
          <a:p>
            <a:pPr marL="0" indent="0">
              <a:buNone/>
            </a:pPr>
            <a:r>
              <a:rPr lang="en-US" sz="1800" b="1" dirty="0">
                <a:solidFill>
                  <a:srgbClr val="1E293B"/>
                </a:solidFill>
                <a:latin typeface="+mj-lt"/>
                <a:ea typeface="Calibri" pitchFamily="34" charset="-122"/>
                <a:cs typeface="Calibri" pitchFamily="34" charset="-120"/>
              </a:rPr>
              <a:t>Hypothesis partially supported</a:t>
            </a:r>
            <a:endParaRPr lang="en-US" sz="1800" dirty="0">
              <a:latin typeface="+mj-lt"/>
            </a:endParaRPr>
          </a:p>
        </p:txBody>
      </p:sp>
      <p:sp>
        <p:nvSpPr>
          <p:cNvPr id="19" name="Text 17">
            <a:extLst>
              <a:ext uri="{FF2B5EF4-FFF2-40B4-BE49-F238E27FC236}">
                <a16:creationId xmlns:a16="http://schemas.microsoft.com/office/drawing/2014/main" id="{8593B662-10B9-CF42-131A-E7990322F1A3}"/>
              </a:ext>
            </a:extLst>
          </p:cNvPr>
          <p:cNvSpPr/>
          <p:nvPr/>
        </p:nvSpPr>
        <p:spPr>
          <a:xfrm>
            <a:off x="1280160" y="5623560"/>
            <a:ext cx="10241280" cy="365760"/>
          </a:xfrm>
          <a:prstGeom prst="rect">
            <a:avLst/>
          </a:prstGeom>
          <a:noFill/>
          <a:ln/>
        </p:spPr>
        <p:txBody>
          <a:bodyPr wrap="square" lIns="0" tIns="0" rIns="0" bIns="0" rtlCol="0" anchor="ctr"/>
          <a:lstStyle/>
          <a:p>
            <a:pPr marL="0" indent="0">
              <a:buNone/>
            </a:pPr>
            <a:r>
              <a:rPr lang="en-US" sz="1300" dirty="0">
                <a:solidFill>
                  <a:srgbClr val="64748B"/>
                </a:solidFill>
                <a:latin typeface="+mj-lt"/>
                <a:ea typeface="Calibri" pitchFamily="34" charset="-122"/>
                <a:cs typeface="Calibri" pitchFamily="34" charset="-120"/>
              </a:rPr>
              <a:t>Modest CoW improvement; dramatic effect on truly small vessels after transfer</a:t>
            </a:r>
            <a:endParaRPr lang="en-US" sz="1300" dirty="0">
              <a:latin typeface="+mj-lt"/>
            </a:endParaRPr>
          </a:p>
        </p:txBody>
      </p:sp>
      <p:sp>
        <p:nvSpPr>
          <p:cNvPr id="20" name="Shape 18">
            <a:extLst>
              <a:ext uri="{FF2B5EF4-FFF2-40B4-BE49-F238E27FC236}">
                <a16:creationId xmlns:a16="http://schemas.microsoft.com/office/drawing/2014/main" id="{49681B88-2108-67CB-7480-821E2C78B7EB}"/>
              </a:ext>
            </a:extLst>
          </p:cNvPr>
          <p:cNvSpPr/>
          <p:nvPr/>
        </p:nvSpPr>
        <p:spPr>
          <a:xfrm>
            <a:off x="548640" y="6217920"/>
            <a:ext cx="10972800" cy="457200"/>
          </a:xfrm>
          <a:prstGeom prst="rect">
            <a:avLst/>
          </a:prstGeom>
          <a:solidFill>
            <a:srgbClr val="FFFBEB"/>
          </a:solidFill>
          <a:ln/>
        </p:spPr>
        <p:txBody>
          <a:bodyPr/>
          <a:lstStyle/>
          <a:p>
            <a:endParaRPr lang="en-US">
              <a:latin typeface="+mj-lt"/>
            </a:endParaRPr>
          </a:p>
        </p:txBody>
      </p:sp>
      <p:sp>
        <p:nvSpPr>
          <p:cNvPr id="21" name="Text 19">
            <a:extLst>
              <a:ext uri="{FF2B5EF4-FFF2-40B4-BE49-F238E27FC236}">
                <a16:creationId xmlns:a16="http://schemas.microsoft.com/office/drawing/2014/main" id="{1CAE3E0F-063A-4072-E4DF-9070540C630B}"/>
              </a:ext>
            </a:extLst>
          </p:cNvPr>
          <p:cNvSpPr/>
          <p:nvPr/>
        </p:nvSpPr>
        <p:spPr>
          <a:xfrm>
            <a:off x="731520" y="6236208"/>
            <a:ext cx="10607040" cy="411480"/>
          </a:xfrm>
          <a:prstGeom prst="rect">
            <a:avLst/>
          </a:prstGeom>
          <a:noFill/>
          <a:ln/>
        </p:spPr>
        <p:txBody>
          <a:bodyPr wrap="square" rtlCol="0" anchor="ctr"/>
          <a:lstStyle/>
          <a:p>
            <a:pPr marL="0" indent="0" algn="ctr">
              <a:buNone/>
            </a:pPr>
            <a:r>
              <a:rPr lang="en-US" sz="1400" i="1" dirty="0">
                <a:solidFill>
                  <a:srgbClr val="D97706"/>
                </a:solidFill>
                <a:latin typeface="+mj-lt"/>
                <a:ea typeface="Calibri" pitchFamily="34" charset="-122"/>
                <a:cs typeface="Calibri" pitchFamily="34" charset="-120"/>
              </a:rPr>
              <a:t>The large-vs-small vessel gap remains the central challenge — the arteries that matter most clinically are the hardest to find.</a:t>
            </a:r>
            <a:endParaRPr lang="en-US" sz="1400" dirty="0">
              <a:latin typeface="+mj-lt"/>
            </a:endParaRPr>
          </a:p>
        </p:txBody>
      </p:sp>
    </p:spTree>
    <p:extLst>
      <p:ext uri="{BB962C8B-B14F-4D97-AF65-F5344CB8AC3E}">
        <p14:creationId xmlns:p14="http://schemas.microsoft.com/office/powerpoint/2010/main" val="2704943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B6C4E11-CFEC-F3B7-ED48-A4AE2B9C4ED1}"/>
              </a:ext>
            </a:extLst>
          </p:cNvPr>
          <p:cNvSpPr/>
          <p:nvPr/>
        </p:nvSpPr>
        <p:spPr>
          <a:xfrm>
            <a:off x="0" y="0"/>
            <a:ext cx="12188952" cy="73152"/>
          </a:xfrm>
          <a:prstGeom prst="rect">
            <a:avLst/>
          </a:prstGeom>
          <a:solidFill>
            <a:srgbClr val="0077B6"/>
          </a:solidFill>
          <a:ln/>
        </p:spPr>
        <p:txBody>
          <a:bodyPr/>
          <a:lstStyle/>
          <a:p>
            <a:endParaRPr lang="en-US"/>
          </a:p>
        </p:txBody>
      </p:sp>
      <p:sp>
        <p:nvSpPr>
          <p:cNvPr id="3" name="Shape 1">
            <a:extLst>
              <a:ext uri="{FF2B5EF4-FFF2-40B4-BE49-F238E27FC236}">
                <a16:creationId xmlns:a16="http://schemas.microsoft.com/office/drawing/2014/main" id="{B6727268-FE92-9283-0415-7FB39A5995D7}"/>
              </a:ext>
            </a:extLst>
          </p:cNvPr>
          <p:cNvSpPr/>
          <p:nvPr/>
        </p:nvSpPr>
        <p:spPr>
          <a:xfrm>
            <a:off x="0" y="6784848"/>
            <a:ext cx="12188952" cy="73152"/>
          </a:xfrm>
          <a:prstGeom prst="rect">
            <a:avLst/>
          </a:prstGeom>
          <a:solidFill>
            <a:srgbClr val="0077B6"/>
          </a:solidFill>
          <a:ln/>
        </p:spPr>
        <p:txBody>
          <a:bodyPr/>
          <a:lstStyle/>
          <a:p>
            <a:endParaRPr lang="en-US"/>
          </a:p>
        </p:txBody>
      </p:sp>
      <p:sp>
        <p:nvSpPr>
          <p:cNvPr id="4" name="Text 2">
            <a:extLst>
              <a:ext uri="{FF2B5EF4-FFF2-40B4-BE49-F238E27FC236}">
                <a16:creationId xmlns:a16="http://schemas.microsoft.com/office/drawing/2014/main" id="{031DCA4E-5DB0-E57B-DF92-DAEBCAF21EB1}"/>
              </a:ext>
            </a:extLst>
          </p:cNvPr>
          <p:cNvSpPr/>
          <p:nvPr/>
        </p:nvSpPr>
        <p:spPr>
          <a:xfrm>
            <a:off x="914400" y="2103120"/>
            <a:ext cx="10360152" cy="1097280"/>
          </a:xfrm>
          <a:prstGeom prst="rect">
            <a:avLst/>
          </a:prstGeom>
          <a:noFill/>
          <a:ln/>
        </p:spPr>
        <p:txBody>
          <a:bodyPr wrap="square" rtlCol="0" anchor="ctr"/>
          <a:lstStyle/>
          <a:p>
            <a:pPr marL="0" indent="0" algn="ctr">
              <a:buNone/>
            </a:pPr>
            <a:r>
              <a:rPr lang="en-US" sz="4800" b="1" dirty="0">
                <a:solidFill>
                  <a:srgbClr val="1E293B"/>
                </a:solidFill>
                <a:latin typeface="Calibri" pitchFamily="34" charset="0"/>
                <a:ea typeface="Calibri" pitchFamily="34" charset="-122"/>
                <a:cs typeface="Calibri" pitchFamily="34" charset="-120"/>
              </a:rPr>
              <a:t>Thank You</a:t>
            </a:r>
            <a:endParaRPr lang="en-US" sz="4800" dirty="0"/>
          </a:p>
        </p:txBody>
      </p:sp>
      <p:sp>
        <p:nvSpPr>
          <p:cNvPr id="5" name="Text 3">
            <a:extLst>
              <a:ext uri="{FF2B5EF4-FFF2-40B4-BE49-F238E27FC236}">
                <a16:creationId xmlns:a16="http://schemas.microsoft.com/office/drawing/2014/main" id="{CF42D079-E727-D433-93F0-AC9FA953BF45}"/>
              </a:ext>
            </a:extLst>
          </p:cNvPr>
          <p:cNvSpPr/>
          <p:nvPr/>
        </p:nvSpPr>
        <p:spPr>
          <a:xfrm>
            <a:off x="914400" y="3474720"/>
            <a:ext cx="10360152" cy="731520"/>
          </a:xfrm>
          <a:prstGeom prst="rect">
            <a:avLst/>
          </a:prstGeom>
          <a:noFill/>
          <a:ln/>
        </p:spPr>
        <p:txBody>
          <a:bodyPr wrap="square" rtlCol="0" anchor="ctr"/>
          <a:lstStyle/>
          <a:p>
            <a:pPr marL="0" indent="0" algn="ctr">
              <a:buNone/>
            </a:pPr>
            <a:r>
              <a:rPr lang="en-US" sz="2800" dirty="0">
                <a:solidFill>
                  <a:srgbClr val="0077B6"/>
                </a:solidFill>
                <a:latin typeface="Calibri" pitchFamily="34" charset="0"/>
                <a:ea typeface="Calibri" pitchFamily="34" charset="-122"/>
                <a:cs typeface="Calibri" pitchFamily="34" charset="-120"/>
              </a:rPr>
              <a:t>Questions?</a:t>
            </a:r>
            <a:endParaRPr lang="en-US" sz="2800" dirty="0"/>
          </a:p>
        </p:txBody>
      </p:sp>
      <p:sp>
        <p:nvSpPr>
          <p:cNvPr id="6" name="Text 4">
            <a:extLst>
              <a:ext uri="{FF2B5EF4-FFF2-40B4-BE49-F238E27FC236}">
                <a16:creationId xmlns:a16="http://schemas.microsoft.com/office/drawing/2014/main" id="{95607F48-5202-08D6-B418-6DE3A0A34F74}"/>
              </a:ext>
            </a:extLst>
          </p:cNvPr>
          <p:cNvSpPr/>
          <p:nvPr/>
        </p:nvSpPr>
        <p:spPr>
          <a:xfrm>
            <a:off x="914400" y="4754880"/>
            <a:ext cx="10360152" cy="914400"/>
          </a:xfrm>
          <a:prstGeom prst="rect">
            <a:avLst/>
          </a:prstGeom>
          <a:noFill/>
          <a:ln/>
        </p:spPr>
        <p:txBody>
          <a:bodyPr wrap="square" rtlCol="0" anchor="ctr"/>
          <a:lstStyle/>
          <a:p>
            <a:pPr marL="0" indent="0" algn="ctr">
              <a:buNone/>
            </a:pPr>
            <a:r>
              <a:rPr lang="en-US" sz="1500" b="1" dirty="0">
                <a:solidFill>
                  <a:srgbClr val="64748B"/>
                </a:solidFill>
                <a:latin typeface="Calibri" pitchFamily="34" charset="0"/>
                <a:ea typeface="Calibri" pitchFamily="34" charset="-122"/>
                <a:cs typeface="Calibri" pitchFamily="34" charset="-120"/>
              </a:rPr>
              <a:t>Samih Tharwat Amer</a:t>
            </a:r>
            <a:endParaRPr lang="en-US" sz="1500" dirty="0"/>
          </a:p>
          <a:p>
            <a:pPr marL="0" indent="0" algn="ctr">
              <a:buNone/>
            </a:pPr>
            <a:r>
              <a:rPr lang="en-US" sz="1500" dirty="0">
                <a:solidFill>
                  <a:srgbClr val="64748B"/>
                </a:solidFill>
                <a:latin typeface="Calibri" pitchFamily="34" charset="0"/>
                <a:ea typeface="Calibri" pitchFamily="34" charset="-122"/>
                <a:cs typeface="Calibri" pitchFamily="34" charset="-120"/>
              </a:rPr>
              <a:t>Whiting School of Engineering  |  Johns Hopkins University</a:t>
            </a:r>
            <a:endParaRPr lang="en-US" sz="1500" dirty="0"/>
          </a:p>
        </p:txBody>
      </p:sp>
    </p:spTree>
    <p:extLst>
      <p:ext uri="{BB962C8B-B14F-4D97-AF65-F5344CB8AC3E}">
        <p14:creationId xmlns:p14="http://schemas.microsoft.com/office/powerpoint/2010/main" val="3417234939"/>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TotalTime>
  <Words>2956</Words>
  <Application>Microsoft Office PowerPoint</Application>
  <PresentationFormat>Widescreen</PresentationFormat>
  <Paragraphs>348</Paragraphs>
  <Slides>22</Slides>
  <Notes>11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 Math</vt:lpstr>
      <vt:lpstr>Consolas</vt:lpstr>
      <vt:lpstr>Grandview Display</vt:lpstr>
      <vt:lpstr>DashVTI</vt:lpstr>
      <vt:lpstr>Deep Learning for Vessel Segmentation in Cerebral CTA</vt:lpstr>
      <vt:lpstr>PowerPoint Presentation</vt:lpstr>
      <vt:lpstr>Clinical Motivation </vt:lpstr>
      <vt:lpstr>The Problem – Topological Failures</vt:lpstr>
      <vt:lpstr>The TopCoW Challenge </vt:lpstr>
      <vt:lpstr>PowerPoint Presentation</vt:lpstr>
      <vt:lpstr>PowerPoint Presentation</vt:lpstr>
      <vt:lpstr>Datasets </vt:lpstr>
      <vt:lpstr>Architecture: 3D U-Net</vt:lpstr>
      <vt:lpstr>Loss Functions: Dice + Cross-Entropy (Baseline)</vt:lpstr>
      <vt:lpstr>PowerPoint Presentation</vt:lpstr>
      <vt:lpstr>PowerPoint Presentation</vt:lpstr>
      <vt:lpstr>Training Setup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Vessel Segmentation in Cerebral CTA</dc:title>
  <dc:creator>Samih Amer</dc:creator>
  <cp:lastModifiedBy>Samih Amer</cp:lastModifiedBy>
  <cp:revision>2</cp:revision>
  <dcterms:created xsi:type="dcterms:W3CDTF">2026-04-09T18:15:37Z</dcterms:created>
  <dcterms:modified xsi:type="dcterms:W3CDTF">2026-04-10T00:52:36Z</dcterms:modified>
</cp:coreProperties>
</file>